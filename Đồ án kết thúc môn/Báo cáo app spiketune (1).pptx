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7" r:id="rId9"/>
    <p:sldId id="277" r:id="rId10"/>
    <p:sldId id="282" r:id="rId11"/>
    <p:sldId id="283" r:id="rId12"/>
    <p:sldId id="268" r:id="rId13"/>
    <p:sldId id="269" r:id="rId14"/>
    <p:sldId id="278" r:id="rId15"/>
    <p:sldId id="271" r:id="rId16"/>
    <p:sldId id="279" r:id="rId17"/>
    <p:sldId id="270" r:id="rId18"/>
    <p:sldId id="272" r:id="rId19"/>
    <p:sldId id="280" r:id="rId20"/>
    <p:sldId id="273" r:id="rId21"/>
    <p:sldId id="281" r:id="rId22"/>
    <p:sldId id="274" r:id="rId23"/>
    <p:sldId id="275" r:id="rId24"/>
    <p:sldId id="276" r:id="rId25"/>
    <p:sldId id="263" r:id="rId26"/>
    <p:sldId id="264" r:id="rId27"/>
    <p:sldId id="265" r:id="rId28"/>
    <p:sldId id="266"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1"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DE31BCE6-50A4-4116-877F-95078A11D9C3}" type="datetimeFigureOut">
              <a:rPr lang="en-US" smtClean="0"/>
              <a:t>6/20/2025</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50FBEB41-99CA-4401-9DF0-EB0F6393FFC6}" type="slidenum">
              <a:rPr lang="en-US" smtClean="0"/>
              <a:t>‹#›</a:t>
            </a:fld>
            <a:endParaRPr lang="en-US"/>
          </a:p>
        </p:txBody>
      </p:sp>
    </p:spTree>
    <p:extLst>
      <p:ext uri="{BB962C8B-B14F-4D97-AF65-F5344CB8AC3E}">
        <p14:creationId xmlns:p14="http://schemas.microsoft.com/office/powerpoint/2010/main" val="220165238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31BCE6-50A4-4116-877F-95078A11D9C3}" type="datetimeFigureOut">
              <a:rPr lang="en-US" smtClean="0"/>
              <a:t>6/20/2025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FBEB41-99CA-4401-9DF0-EB0F6393FFC6}" type="slidenum">
              <a:rPr lang="en-US" smtClean="0"/>
              <a:t>‹#›</a:t>
            </a:fld>
            <a:endParaRPr lang="en-US"/>
          </a:p>
        </p:txBody>
      </p:sp>
    </p:spTree>
    <p:extLst>
      <p:ext uri="{BB962C8B-B14F-4D97-AF65-F5344CB8AC3E}">
        <p14:creationId xmlns:p14="http://schemas.microsoft.com/office/powerpoint/2010/main" val="2080222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31BCE6-50A4-4116-877F-95078A11D9C3}" type="datetimeFigureOut">
              <a:rPr lang="en-US" smtClean="0"/>
              <a:t>6/20/2025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FBEB41-99CA-4401-9DF0-EB0F6393FFC6}" type="slidenum">
              <a:rPr lang="en-US" smtClean="0"/>
              <a:t>‹#›</a:t>
            </a:fld>
            <a:endParaRPr lang="en-US"/>
          </a:p>
        </p:txBody>
      </p:sp>
    </p:spTree>
    <p:extLst>
      <p:ext uri="{BB962C8B-B14F-4D97-AF65-F5344CB8AC3E}">
        <p14:creationId xmlns:p14="http://schemas.microsoft.com/office/powerpoint/2010/main" val="1616691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31BCE6-50A4-4116-877F-95078A11D9C3}" type="datetimeFigureOut">
              <a:rPr lang="en-US" smtClean="0"/>
              <a:t>6/20/2025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FBEB41-99CA-4401-9DF0-EB0F6393FFC6}" type="slidenum">
              <a:rPr lang="en-US" smtClean="0"/>
              <a:t>‹#›</a:t>
            </a:fld>
            <a:endParaRPr lang="en-US"/>
          </a:p>
        </p:txBody>
      </p:sp>
    </p:spTree>
    <p:extLst>
      <p:ext uri="{BB962C8B-B14F-4D97-AF65-F5344CB8AC3E}">
        <p14:creationId xmlns:p14="http://schemas.microsoft.com/office/powerpoint/2010/main" val="575768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31BCE6-50A4-4116-877F-95078A11D9C3}" type="datetimeFigureOut">
              <a:rPr lang="en-US" smtClean="0"/>
              <a:t>6/20/2025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FBEB41-99CA-4401-9DF0-EB0F6393FFC6}" type="slidenum">
              <a:rPr lang="en-US" smtClean="0"/>
              <a:t>‹#›</a:t>
            </a:fld>
            <a:endParaRPr lang="en-US"/>
          </a:p>
        </p:txBody>
      </p:sp>
    </p:spTree>
    <p:extLst>
      <p:ext uri="{BB962C8B-B14F-4D97-AF65-F5344CB8AC3E}">
        <p14:creationId xmlns:p14="http://schemas.microsoft.com/office/powerpoint/2010/main" val="1412965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E31BCE6-50A4-4116-877F-95078A11D9C3}" type="datetimeFigureOut">
              <a:rPr lang="en-US" smtClean="0"/>
              <a:t>6/20/2025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FBEB41-99CA-4401-9DF0-EB0F6393FFC6}" type="slidenum">
              <a:rPr lang="en-US" smtClean="0"/>
              <a:t>‹#›</a:t>
            </a:fld>
            <a:endParaRPr lang="en-US"/>
          </a:p>
        </p:txBody>
      </p:sp>
    </p:spTree>
    <p:extLst>
      <p:ext uri="{BB962C8B-B14F-4D97-AF65-F5344CB8AC3E}">
        <p14:creationId xmlns:p14="http://schemas.microsoft.com/office/powerpoint/2010/main" val="400784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DE31BCE6-50A4-4116-877F-95078A11D9C3}" type="datetimeFigureOut">
              <a:rPr lang="en-US" smtClean="0"/>
              <a:t>6/20/2025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FBEB41-99CA-4401-9DF0-EB0F6393FFC6}" type="slidenum">
              <a:rPr lang="en-US" smtClean="0"/>
              <a:t>‹#›</a:t>
            </a:fld>
            <a:endParaRPr lang="en-US"/>
          </a:p>
        </p:txBody>
      </p:sp>
    </p:spTree>
    <p:extLst>
      <p:ext uri="{BB962C8B-B14F-4D97-AF65-F5344CB8AC3E}">
        <p14:creationId xmlns:p14="http://schemas.microsoft.com/office/powerpoint/2010/main" val="3752985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31BCE6-50A4-4116-877F-95078A11D9C3}" type="datetimeFigureOut">
              <a:rPr lang="en-US" smtClean="0"/>
              <a:t>6/20/2025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FBEB41-99CA-4401-9DF0-EB0F6393FFC6}" type="slidenum">
              <a:rPr lang="en-US" smtClean="0"/>
              <a:t>‹#›</a:t>
            </a:fld>
            <a:endParaRPr lang="en-US"/>
          </a:p>
        </p:txBody>
      </p:sp>
    </p:spTree>
    <p:extLst>
      <p:ext uri="{BB962C8B-B14F-4D97-AF65-F5344CB8AC3E}">
        <p14:creationId xmlns:p14="http://schemas.microsoft.com/office/powerpoint/2010/main" val="394204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31BCE6-50A4-4116-877F-95078A11D9C3}" type="datetimeFigureOut">
              <a:rPr lang="en-US" smtClean="0"/>
              <a:t>6/20/2025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FBEB41-99CA-4401-9DF0-EB0F6393FFC6}" type="slidenum">
              <a:rPr lang="en-US" smtClean="0"/>
              <a:t>‹#›</a:t>
            </a:fld>
            <a:endParaRPr lang="en-US"/>
          </a:p>
        </p:txBody>
      </p:sp>
    </p:spTree>
    <p:extLst>
      <p:ext uri="{BB962C8B-B14F-4D97-AF65-F5344CB8AC3E}">
        <p14:creationId xmlns:p14="http://schemas.microsoft.com/office/powerpoint/2010/main" val="2032184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31BCE6-50A4-4116-877F-95078A11D9C3}" type="datetimeFigureOut">
              <a:rPr lang="en-US" smtClean="0"/>
              <a:t>6/20/2025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FBEB41-99CA-4401-9DF0-EB0F6393FFC6}" type="slidenum">
              <a:rPr lang="en-US" smtClean="0"/>
              <a:t>‹#›</a:t>
            </a:fld>
            <a:endParaRPr lang="en-US"/>
          </a:p>
        </p:txBody>
      </p:sp>
    </p:spTree>
    <p:extLst>
      <p:ext uri="{BB962C8B-B14F-4D97-AF65-F5344CB8AC3E}">
        <p14:creationId xmlns:p14="http://schemas.microsoft.com/office/powerpoint/2010/main" val="3030815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31BCE6-50A4-4116-877F-95078A11D9C3}" type="datetimeFigureOut">
              <a:rPr lang="en-US" smtClean="0"/>
              <a:t>6/20/2025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FBEB41-99CA-4401-9DF0-EB0F6393FFC6}" type="slidenum">
              <a:rPr lang="en-US" smtClean="0"/>
              <a:t>‹#›</a:t>
            </a:fld>
            <a:endParaRPr lang="en-US"/>
          </a:p>
        </p:txBody>
      </p:sp>
    </p:spTree>
    <p:extLst>
      <p:ext uri="{BB962C8B-B14F-4D97-AF65-F5344CB8AC3E}">
        <p14:creationId xmlns:p14="http://schemas.microsoft.com/office/powerpoint/2010/main" val="4198385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31BCE6-50A4-4116-877F-95078A11D9C3}" type="datetimeFigureOut">
              <a:rPr lang="en-US" smtClean="0"/>
              <a:t>6/20/2025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FBEB41-99CA-4401-9DF0-EB0F6393FFC6}" type="slidenum">
              <a:rPr lang="en-US" smtClean="0"/>
              <a:t>‹#›</a:t>
            </a:fld>
            <a:endParaRPr lang="en-US"/>
          </a:p>
        </p:txBody>
      </p:sp>
    </p:spTree>
    <p:extLst>
      <p:ext uri="{BB962C8B-B14F-4D97-AF65-F5344CB8AC3E}">
        <p14:creationId xmlns:p14="http://schemas.microsoft.com/office/powerpoint/2010/main" val="35313722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31BCE6-50A4-4116-877F-95078A11D9C3}" type="datetimeFigureOut">
              <a:rPr lang="en-US" smtClean="0"/>
              <a:t>6/20/2025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FBEB41-99CA-4401-9DF0-EB0F6393FFC6}" type="slidenum">
              <a:rPr lang="en-US" smtClean="0"/>
              <a:t>‹#›</a:t>
            </a:fld>
            <a:endParaRPr lang="en-US"/>
          </a:p>
        </p:txBody>
      </p:sp>
    </p:spTree>
    <p:extLst>
      <p:ext uri="{BB962C8B-B14F-4D97-AF65-F5344CB8AC3E}">
        <p14:creationId xmlns:p14="http://schemas.microsoft.com/office/powerpoint/2010/main" val="272314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31BCE6-50A4-4116-877F-95078A11D9C3}" type="datetimeFigureOut">
              <a:rPr lang="en-US" smtClean="0"/>
              <a:t>6/20/2025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FBEB41-99CA-4401-9DF0-EB0F6393FFC6}" type="slidenum">
              <a:rPr lang="en-US" smtClean="0"/>
              <a:t>‹#›</a:t>
            </a:fld>
            <a:endParaRPr lang="en-US"/>
          </a:p>
        </p:txBody>
      </p:sp>
    </p:spTree>
    <p:extLst>
      <p:ext uri="{BB962C8B-B14F-4D97-AF65-F5344CB8AC3E}">
        <p14:creationId xmlns:p14="http://schemas.microsoft.com/office/powerpoint/2010/main" val="5558671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31BCE6-50A4-4116-877F-95078A11D9C3}" type="datetimeFigureOut">
              <a:rPr lang="en-US" smtClean="0"/>
              <a:t>6/20/2025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FBEB41-99CA-4401-9DF0-EB0F6393FFC6}" type="slidenum">
              <a:rPr lang="en-US" smtClean="0"/>
              <a:t>‹#›</a:t>
            </a:fld>
            <a:endParaRPr lang="en-US"/>
          </a:p>
        </p:txBody>
      </p:sp>
    </p:spTree>
    <p:extLst>
      <p:ext uri="{BB962C8B-B14F-4D97-AF65-F5344CB8AC3E}">
        <p14:creationId xmlns:p14="http://schemas.microsoft.com/office/powerpoint/2010/main" val="17799377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31BCE6-50A4-4116-877F-95078A11D9C3}" type="datetimeFigureOut">
              <a:rPr lang="en-US" smtClean="0"/>
              <a:t>6/20/2025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FBEB41-99CA-4401-9DF0-EB0F6393FFC6}"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7106454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31BCE6-50A4-4116-877F-95078A11D9C3}" type="datetimeFigureOut">
              <a:rPr lang="en-US" smtClean="0"/>
              <a:t>6/20/2025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FBEB41-99CA-4401-9DF0-EB0F6393FFC6}" type="slidenum">
              <a:rPr lang="en-US" smtClean="0"/>
              <a:t>‹#›</a:t>
            </a:fld>
            <a:endParaRPr lang="en-US"/>
          </a:p>
        </p:txBody>
      </p:sp>
    </p:spTree>
    <p:extLst>
      <p:ext uri="{BB962C8B-B14F-4D97-AF65-F5344CB8AC3E}">
        <p14:creationId xmlns:p14="http://schemas.microsoft.com/office/powerpoint/2010/main" val="3979606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E31BCE6-50A4-4116-877F-95078A11D9C3}" type="datetimeFigureOut">
              <a:rPr lang="en-US" smtClean="0"/>
              <a:t>6/20/2025</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0FBEB41-99CA-4401-9DF0-EB0F6393FFC6}" type="slidenum">
              <a:rPr lang="en-US" smtClean="0"/>
              <a:t>‹#›</a:t>
            </a:fld>
            <a:endParaRPr lang="en-US"/>
          </a:p>
        </p:txBody>
      </p:sp>
    </p:spTree>
    <p:extLst>
      <p:ext uri="{BB962C8B-B14F-4D97-AF65-F5344CB8AC3E}">
        <p14:creationId xmlns:p14="http://schemas.microsoft.com/office/powerpoint/2010/main" val="9745007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hyperlink" Target="https://www.google.com/search?q=https://www.droidcon.com/2023/03/01/clean-architecture-on-android-with-kotlin/" TargetMode="External"/><Relationship Id="rId3" Type="http://schemas.openxmlformats.org/officeDocument/2006/relationships/hyperlink" Target="https://kotlinlang.org/docs/home.html" TargetMode="External"/><Relationship Id="rId7" Type="http://schemas.openxmlformats.org/officeDocument/2006/relationships/hyperlink" Target="https://www.google.com/search?q=https://medium.com/haulmont/what-is-object-oriented-programming-basic-oop-concepts-in-java-5a7a726857ea" TargetMode="External"/><Relationship Id="rId2" Type="http://schemas.openxmlformats.org/officeDocument/2006/relationships/hyperlink" Target="https://developer.android.com/guide" TargetMode="External"/><Relationship Id="rId1" Type="http://schemas.openxmlformats.org/officeDocument/2006/relationships/slideLayout" Target="../slideLayouts/slideLayout2.xml"/><Relationship Id="rId6" Type="http://schemas.openxmlformats.org/officeDocument/2006/relationships/hyperlink" Target="https://refactoring.guru/design-patterns/java" TargetMode="External"/><Relationship Id="rId5" Type="http://schemas.openxmlformats.org/officeDocument/2006/relationships/hyperlink" Target="https://learn.microsoft.com/en-us/dotnet/architecture/maui/mvvm" TargetMode="External"/><Relationship Id="rId10" Type="http://schemas.openxmlformats.org/officeDocument/2006/relationships/hyperlink" Target="https://gemini.google.com/" TargetMode="External"/><Relationship Id="rId4" Type="http://schemas.openxmlformats.org/officeDocument/2006/relationships/hyperlink" Target="https://developer.android.com/jetpack/compose" TargetMode="External"/><Relationship Id="rId9" Type="http://schemas.openxmlformats.org/officeDocument/2006/relationships/hyperlink" Target="https://openai.com/chatgpt"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6A23C-6641-1682-6DDC-8E25420FAE62}"/>
              </a:ext>
            </a:extLst>
          </p:cNvPr>
          <p:cNvSpPr>
            <a:spLocks noGrp="1"/>
          </p:cNvSpPr>
          <p:nvPr>
            <p:ph type="ctrTitle"/>
          </p:nvPr>
        </p:nvSpPr>
        <p:spPr>
          <a:xfrm>
            <a:off x="2067612" y="701076"/>
            <a:ext cx="7197726" cy="2421464"/>
          </a:xfrm>
        </p:spPr>
        <p:txBody>
          <a:bodyPr>
            <a:normAutofit fontScale="90000"/>
          </a:bodyPr>
          <a:lstStyle/>
          <a:p>
            <a:pPr algn="ctr"/>
            <a:r>
              <a:rPr lang="en-US" dirty="0" err="1">
                <a:latin typeface="Times New Roman" panose="02020603050405020304" pitchFamily="18" charset="0"/>
                <a:cs typeface="Times New Roman" panose="02020603050405020304" pitchFamily="18" charset="0"/>
              </a:rPr>
              <a:t>Chào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mừng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thầy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đồ</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nhóm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mình</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77139FA-D4AF-0DA8-7210-9962C0D019F3}"/>
              </a:ext>
            </a:extLst>
          </p:cNvPr>
          <p:cNvSpPr>
            <a:spLocks noGrp="1"/>
          </p:cNvSpPr>
          <p:nvPr>
            <p:ph type="subTitle" idx="1"/>
          </p:nvPr>
        </p:nvSpPr>
        <p:spPr>
          <a:xfrm>
            <a:off x="2388122" y="3429000"/>
            <a:ext cx="7197726" cy="1405467"/>
          </a:xfrm>
        </p:spPr>
        <p:txBody>
          <a:bodyPr/>
          <a:lstStyle/>
          <a:p>
            <a:pPr algn="ctr"/>
            <a:r>
              <a:rPr lang="en-US" dirty="0" err="1">
                <a:latin typeface="Times New Roman" panose="02020603050405020304" pitchFamily="18" charset="0"/>
                <a:cs typeface="Times New Roman" panose="02020603050405020304" pitchFamily="18" charset="0"/>
              </a:rPr>
              <a:t>Nhóm</a:t>
            </a:r>
            <a:r>
              <a:rPr lang="en-US" dirty="0">
                <a:latin typeface="Times New Roman" panose="02020603050405020304" pitchFamily="18" charset="0"/>
                <a:cs typeface="Times New Roman" panose="02020603050405020304" pitchFamily="18" charset="0"/>
              </a:rPr>
              <a:t> 18: </a:t>
            </a:r>
            <a:r>
              <a:rPr lang="en-US" dirty="0" err="1">
                <a:latin typeface="Times New Roman" panose="02020603050405020304" pitchFamily="18" charset="0"/>
                <a:cs typeface="Times New Roman" panose="02020603050405020304" pitchFamily="18" charset="0"/>
              </a:rPr>
              <a:t>nhóm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thổ</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chuyển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sinh</a:t>
            </a:r>
            <a:r>
              <a:rPr lang="en-US" dirty="0">
                <a:latin typeface="Times New Roman" panose="02020603050405020304" pitchFamily="18" charset="0"/>
                <a:cs typeface="Times New Roman" panose="02020603050405020304" pitchFamily="18" charset="0"/>
              </a:rPr>
              <a:t> </a:t>
            </a:r>
          </a:p>
          <a:p>
            <a:pPr algn="ctr"/>
            <a:r>
              <a:rPr lang="en-US" dirty="0">
                <a:latin typeface="Times New Roman" panose="02020603050405020304" pitchFamily="18" charset="0"/>
                <a:cs typeface="Times New Roman" panose="02020603050405020304" pitchFamily="18" charset="0"/>
              </a:rPr>
              <a:t>DỰ </a:t>
            </a:r>
            <a:r>
              <a:rPr lang="en-US" dirty="0" err="1">
                <a:latin typeface="Times New Roman" panose="02020603050405020304" pitchFamily="18" charset="0"/>
                <a:cs typeface="Times New Roman" panose="02020603050405020304" pitchFamily="18" charset="0"/>
              </a:rPr>
              <a:t>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spiketune</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Các </a:t>
            </a:r>
            <a:r>
              <a:rPr lang="en-US" dirty="0" err="1">
                <a:latin typeface="Times New Roman" panose="02020603050405020304" pitchFamily="18" charset="0"/>
                <a:cs typeface="Times New Roman" panose="02020603050405020304" pitchFamily="18" charset="0"/>
              </a:rPr>
              <a:t>thành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viên</a:t>
            </a:r>
            <a:r>
              <a:rPr lang="en-US" dirty="0">
                <a:latin typeface="Times New Roman" panose="02020603050405020304" pitchFamily="18" charset="0"/>
                <a:cs typeface="Times New Roman" panose="02020603050405020304" pitchFamily="18" charset="0"/>
              </a:rPr>
              <a:t>:</a:t>
            </a:r>
          </a:p>
          <a:p>
            <a:endParaRPr lang="en-US" dirty="0"/>
          </a:p>
        </p:txBody>
      </p:sp>
      <p:sp>
        <p:nvSpPr>
          <p:cNvPr id="5" name="TextBox 4">
            <a:extLst>
              <a:ext uri="{FF2B5EF4-FFF2-40B4-BE49-F238E27FC236}">
                <a16:creationId xmlns:a16="http://schemas.microsoft.com/office/drawing/2014/main" id="{3F4F5D61-E20B-C3A0-CF1D-FC20A616B766}"/>
              </a:ext>
            </a:extLst>
          </p:cNvPr>
          <p:cNvSpPr txBox="1"/>
          <p:nvPr/>
        </p:nvSpPr>
        <p:spPr>
          <a:xfrm>
            <a:off x="1555423" y="4940519"/>
            <a:ext cx="2875175" cy="923330"/>
          </a:xfrm>
          <a:prstGeom prst="rect">
            <a:avLst/>
          </a:prstGeom>
          <a:noFill/>
        </p:spPr>
        <p:txBody>
          <a:bodyPr wrap="square" rtlCol="0">
            <a:spAutoFit/>
          </a:bodyPr>
          <a:lstStyle/>
          <a:p>
            <a:pPr algn="ctr"/>
            <a:r>
              <a:rPr lang="en-US" dirty="0" err="1">
                <a:latin typeface="Times New Roman" panose="02020603050405020304" pitchFamily="18" charset="0"/>
                <a:cs typeface="Times New Roman" panose="02020603050405020304" pitchFamily="18" charset="0"/>
              </a:rPr>
              <a:t>Trần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Hảo</a:t>
            </a: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r>
              <a:rPr lang="en-US" dirty="0" err="1">
                <a:latin typeface="Times New Roman" panose="02020603050405020304" pitchFamily="18" charset="0"/>
                <a:cs typeface="Times New Roman" panose="02020603050405020304" pitchFamily="18" charset="0"/>
              </a:rPr>
              <a:t>Đỗ</a:t>
            </a:r>
            <a:r>
              <a:rPr lang="en-US" dirty="0">
                <a:latin typeface="Times New Roman" panose="02020603050405020304" pitchFamily="18" charset="0"/>
                <a:cs typeface="Times New Roman" panose="02020603050405020304" pitchFamily="18" charset="0"/>
              </a:rPr>
              <a:t> Văn Phúc</a:t>
            </a:r>
          </a:p>
        </p:txBody>
      </p:sp>
      <p:sp>
        <p:nvSpPr>
          <p:cNvPr id="6" name="TextBox 5">
            <a:extLst>
              <a:ext uri="{FF2B5EF4-FFF2-40B4-BE49-F238E27FC236}">
                <a16:creationId xmlns:a16="http://schemas.microsoft.com/office/drawing/2014/main" id="{ED4D7C51-3F67-0069-3430-A794C1431D0A}"/>
              </a:ext>
            </a:extLst>
          </p:cNvPr>
          <p:cNvSpPr txBox="1"/>
          <p:nvPr/>
        </p:nvSpPr>
        <p:spPr>
          <a:xfrm>
            <a:off x="8179684" y="4940519"/>
            <a:ext cx="2378697"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Mai Anh Quân</a:t>
            </a: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Bùi Mai Khánh Kiệt</a:t>
            </a:r>
          </a:p>
        </p:txBody>
      </p:sp>
    </p:spTree>
    <p:extLst>
      <p:ext uri="{BB962C8B-B14F-4D97-AF65-F5344CB8AC3E}">
        <p14:creationId xmlns:p14="http://schemas.microsoft.com/office/powerpoint/2010/main" val="2331158415"/>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75FB8-9CC3-FD5A-6594-FE3D6A1BEAAC}"/>
              </a:ext>
            </a:extLst>
          </p:cNvPr>
          <p:cNvSpPr>
            <a:spLocks noGrp="1"/>
          </p:cNvSpPr>
          <p:nvPr>
            <p:ph type="title"/>
          </p:nvPr>
        </p:nvSpPr>
        <p:spPr>
          <a:xfrm>
            <a:off x="685802" y="609600"/>
            <a:ext cx="6282266" cy="1456267"/>
          </a:xfrm>
        </p:spPr>
        <p:txBody>
          <a:bodyPr>
            <a:normAutofit/>
          </a:bodyPr>
          <a:lstStyle/>
          <a:p>
            <a:r>
              <a:rPr lang="en-US" dirty="0" err="1">
                <a:latin typeface="Times New Roman" panose="02020603050405020304" pitchFamily="18" charset="0"/>
                <a:cs typeface="Times New Roman" panose="02020603050405020304" pitchFamily="18" charset="0"/>
              </a:rPr>
              <a:t>Về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thành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nhóm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trò</a:t>
            </a:r>
            <a:r>
              <a:rPr lang="en-US"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57FDDBF7-A453-F9AD-1366-554A615D9F55}"/>
              </a:ext>
            </a:extLst>
          </p:cNvPr>
          <p:cNvSpPr>
            <a:spLocks noGrp="1"/>
          </p:cNvSpPr>
          <p:nvPr>
            <p:ph idx="1"/>
          </p:nvPr>
        </p:nvSpPr>
        <p:spPr>
          <a:xfrm>
            <a:off x="685802" y="2142067"/>
            <a:ext cx="6282266" cy="3649133"/>
          </a:xfrm>
        </p:spPr>
        <p:txBody>
          <a:bodyPr>
            <a:normAutofit/>
          </a:bodyPr>
          <a:lstStyle/>
          <a:p>
            <a:r>
              <a:rPr lang="en-US" dirty="0" err="1">
                <a:latin typeface="Times New Roman" panose="02020603050405020304" pitchFamily="18" charset="0"/>
                <a:cs typeface="Times New Roman" panose="02020603050405020304" pitchFamily="18" charset="0"/>
              </a:rPr>
              <a:t>Trần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chiếm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trò</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chốt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app,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trưởng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nhóm</a:t>
            </a:r>
            <a:r>
              <a:rPr lang="en-US" dirty="0">
                <a:latin typeface="Times New Roman" panose="02020603050405020304" pitchFamily="18" charset="0"/>
                <a:cs typeface="Times New Roman" panose="02020603050405020304" pitchFamily="18" charset="0"/>
              </a:rPr>
              <a:t>.</a:t>
            </a:r>
          </a:p>
          <a:p>
            <a:r>
              <a:rPr lang="en-US" dirty="0" err="1">
                <a:latin typeface="Times New Roman" panose="02020603050405020304" pitchFamily="18" charset="0"/>
                <a:cs typeface="Times New Roman" panose="02020603050405020304" pitchFamily="18" charset="0"/>
              </a:rPr>
              <a:t>Đỗ</a:t>
            </a:r>
            <a:r>
              <a:rPr lang="en-US" dirty="0">
                <a:latin typeface="Times New Roman" panose="02020603050405020304" pitchFamily="18" charset="0"/>
                <a:cs typeface="Times New Roman" panose="02020603050405020304" pitchFamily="18" charset="0"/>
              </a:rPr>
              <a:t> Văn Phúc: </a:t>
            </a:r>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ban </a:t>
            </a:r>
            <a:r>
              <a:rPr lang="en-US" dirty="0" err="1">
                <a:latin typeface="Times New Roman" panose="02020603050405020304" pitchFamily="18" charset="0"/>
                <a:cs typeface="Times New Roman" panose="02020603050405020304" pitchFamily="18" charset="0"/>
              </a:rPr>
              <a:t>đầu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Figma </a:t>
            </a:r>
            <a:r>
              <a:rPr lang="en-US" dirty="0" err="1">
                <a:latin typeface="Times New Roman" panose="02020603050405020304" pitchFamily="18" charset="0"/>
                <a:cs typeface="Times New Roman" panose="02020603050405020304" pitchFamily="18" charset="0"/>
              </a:rPr>
              <a:t>cũng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hợp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về</a:t>
            </a:r>
            <a:r>
              <a:rPr lang="en-US" dirty="0">
                <a:latin typeface="Times New Roman" panose="02020603050405020304" pitchFamily="18" charset="0"/>
                <a:cs typeface="Times New Roman" panose="02020603050405020304" pitchFamily="18" charset="0"/>
              </a:rPr>
              <a:t> app.</a:t>
            </a:r>
          </a:p>
          <a:p>
            <a:r>
              <a:rPr lang="en-US" dirty="0">
                <a:latin typeface="Times New Roman" panose="02020603050405020304" pitchFamily="18" charset="0"/>
                <a:cs typeface="Times New Roman" panose="02020603050405020304" pitchFamily="18" charset="0"/>
              </a:rPr>
              <a:t>Bùi Mai Khánh Kiệt: </a:t>
            </a:r>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app </a:t>
            </a:r>
            <a:r>
              <a:rPr lang="en-US" dirty="0" err="1">
                <a:latin typeface="Times New Roman" panose="02020603050405020304" pitchFamily="18" charset="0"/>
                <a:cs typeface="Times New Roman" panose="02020603050405020304" pitchFamily="18" charset="0"/>
              </a:rPr>
              <a:t>nếu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Mai Anh Quân: Test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chạy</a:t>
            </a:r>
            <a:r>
              <a:rPr lang="en-US" dirty="0">
                <a:latin typeface="Times New Roman" panose="02020603050405020304" pitchFamily="18" charset="0"/>
                <a:cs typeface="Times New Roman" panose="02020603050405020304" pitchFamily="18" charset="0"/>
              </a:rPr>
              <a:t> demo app, </a:t>
            </a:r>
            <a:r>
              <a:rPr lang="en-US" dirty="0" err="1">
                <a:latin typeface="Times New Roman" panose="02020603050405020304" pitchFamily="18" charset="0"/>
                <a:cs typeface="Times New Roman" panose="02020603050405020304" pitchFamily="18" charset="0"/>
              </a:rPr>
              <a:t>tìm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thành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đồng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làm</a:t>
            </a:r>
            <a:r>
              <a:rPr lang="en-US" dirty="0">
                <a:latin typeface="Times New Roman" panose="02020603050405020304" pitchFamily="18" charset="0"/>
                <a:cs typeface="Times New Roman" panose="02020603050405020304" pitchFamily="18" charset="0"/>
              </a:rPr>
              <a:t> file ppt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a:t>
            </a:r>
          </a:p>
        </p:txBody>
      </p:sp>
      <p:pic>
        <p:nvPicPr>
          <p:cNvPr id="1032" name="Picture 8" descr="Team icon group of people icon | Premium Vector">
            <a:extLst>
              <a:ext uri="{FF2B5EF4-FFF2-40B4-BE49-F238E27FC236}">
                <a16:creationId xmlns:a16="http://schemas.microsoft.com/office/drawing/2014/main" id="{4E14C7D6-794E-1351-8C47-755BBC5BE50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590936" y="2051378"/>
            <a:ext cx="3445714" cy="2679042"/>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8870278"/>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B2A8B43-E288-418B-8561-C979F7B9CC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82584CD3-40DA-4BB8-B4B7-D8D04BB31B4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340568"/>
            <a:ext cx="12188825" cy="6856214"/>
          </a:xfrm>
          <a:prstGeom prst="rect">
            <a:avLst/>
          </a:prstGeom>
        </p:spPr>
      </p:pic>
      <p:sp useBgFill="1">
        <p:nvSpPr>
          <p:cNvPr id="17" name="Freeform: Shape 16">
            <a:extLst>
              <a:ext uri="{FF2B5EF4-FFF2-40B4-BE49-F238E27FC236}">
                <a16:creationId xmlns:a16="http://schemas.microsoft.com/office/drawing/2014/main" id="{F40D237A-4D9F-42DC-BAEB-E07EDD74BE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0541643" cy="6858000"/>
          </a:xfrm>
          <a:custGeom>
            <a:avLst/>
            <a:gdLst>
              <a:gd name="connsiteX0" fmla="*/ 10541643 w 10541643"/>
              <a:gd name="connsiteY0" fmla="*/ 0 h 6858000"/>
              <a:gd name="connsiteX1" fmla="*/ 8414569 w 10541643"/>
              <a:gd name="connsiteY1" fmla="*/ 0 h 6858000"/>
              <a:gd name="connsiteX2" fmla="*/ 7787557 w 10541643"/>
              <a:gd name="connsiteY2" fmla="*/ 0 h 6858000"/>
              <a:gd name="connsiteX3" fmla="*/ 5640889 w 10541643"/>
              <a:gd name="connsiteY3" fmla="*/ 0 h 6858000"/>
              <a:gd name="connsiteX4" fmla="*/ 1682914 w 10541643"/>
              <a:gd name="connsiteY4" fmla="*/ 0 h 6858000"/>
              <a:gd name="connsiteX5" fmla="*/ 0 w 10541643"/>
              <a:gd name="connsiteY5" fmla="*/ 6858000 h 6858000"/>
              <a:gd name="connsiteX6" fmla="*/ 5640889 w 10541643"/>
              <a:gd name="connsiteY6" fmla="*/ 6858000 h 6858000"/>
              <a:gd name="connsiteX7" fmla="*/ 6731655 w 10541643"/>
              <a:gd name="connsiteY7" fmla="*/ 6858000 h 6858000"/>
              <a:gd name="connsiteX8" fmla="*/ 7787557 w 10541643"/>
              <a:gd name="connsiteY8" fmla="*/ 6858000 h 6858000"/>
              <a:gd name="connsiteX9" fmla="*/ 8414569 w 10541643"/>
              <a:gd name="connsiteY9" fmla="*/ 6858000 h 6858000"/>
              <a:gd name="connsiteX10" fmla="*/ 10541643 w 10541643"/>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41643" h="6858000">
                <a:moveTo>
                  <a:pt x="10541643" y="0"/>
                </a:moveTo>
                <a:lnTo>
                  <a:pt x="8414569" y="0"/>
                </a:lnTo>
                <a:lnTo>
                  <a:pt x="7787557" y="0"/>
                </a:lnTo>
                <a:lnTo>
                  <a:pt x="5640889" y="0"/>
                </a:lnTo>
                <a:lnTo>
                  <a:pt x="1682914" y="0"/>
                </a:lnTo>
                <a:lnTo>
                  <a:pt x="0" y="6858000"/>
                </a:lnTo>
                <a:lnTo>
                  <a:pt x="5640889" y="6858000"/>
                </a:lnTo>
                <a:lnTo>
                  <a:pt x="6731655" y="6858000"/>
                </a:lnTo>
                <a:lnTo>
                  <a:pt x="7787557" y="6858000"/>
                </a:lnTo>
                <a:lnTo>
                  <a:pt x="8414569" y="6858000"/>
                </a:lnTo>
                <a:lnTo>
                  <a:pt x="10541643"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A1AA77F-508C-FB98-FAE2-C33B761519EA}"/>
              </a:ext>
            </a:extLst>
          </p:cNvPr>
          <p:cNvSpPr>
            <a:spLocks noGrp="1"/>
          </p:cNvSpPr>
          <p:nvPr>
            <p:ph type="title"/>
          </p:nvPr>
        </p:nvSpPr>
        <p:spPr>
          <a:xfrm>
            <a:off x="309882" y="0"/>
            <a:ext cx="7739741" cy="922867"/>
          </a:xfrm>
        </p:spPr>
        <p:txBody>
          <a:bodyPr anchor="b">
            <a:normAutofit/>
          </a:bodyPr>
          <a:lstStyle/>
          <a:p>
            <a:r>
              <a:rPr lang="en-US" sz="3200" dirty="0" err="1">
                <a:latin typeface="Times New Roman" panose="02020603050405020304" pitchFamily="18" charset="0"/>
                <a:cs typeface="Times New Roman" panose="02020603050405020304" pitchFamily="18" charset="0"/>
              </a:rPr>
              <a:t>Về</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thiết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kế</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với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thực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tế</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của</a:t>
            </a:r>
            <a:r>
              <a:rPr lang="en-US" sz="3200" dirty="0">
                <a:latin typeface="Times New Roman" panose="02020603050405020304" pitchFamily="18" charset="0"/>
                <a:cs typeface="Times New Roman" panose="02020603050405020304" pitchFamily="18" charset="0"/>
              </a:rPr>
              <a:t> app:</a:t>
            </a:r>
          </a:p>
        </p:txBody>
      </p:sp>
      <p:sp>
        <p:nvSpPr>
          <p:cNvPr id="3" name="Content Placeholder 2">
            <a:extLst>
              <a:ext uri="{FF2B5EF4-FFF2-40B4-BE49-F238E27FC236}">
                <a16:creationId xmlns:a16="http://schemas.microsoft.com/office/drawing/2014/main" id="{B94C23BB-AF6F-B5D2-F345-9C9C8B57981B}"/>
              </a:ext>
            </a:extLst>
          </p:cNvPr>
          <p:cNvSpPr>
            <a:spLocks noGrp="1"/>
          </p:cNvSpPr>
          <p:nvPr>
            <p:ph idx="1"/>
          </p:nvPr>
        </p:nvSpPr>
        <p:spPr>
          <a:xfrm>
            <a:off x="238762" y="2076265"/>
            <a:ext cx="9138917" cy="3973777"/>
          </a:xfrm>
        </p:spPr>
        <p:txBody>
          <a:bodyPr>
            <a:noAutofit/>
          </a:bodyPr>
          <a:lstStyle/>
          <a:p>
            <a:pPr marL="0" indent="0">
              <a:lnSpc>
                <a:spcPct val="90000"/>
              </a:lnSpc>
              <a:buNone/>
            </a:pPr>
            <a:r>
              <a:rPr lang="en-US" sz="1600" b="1" dirty="0">
                <a:solidFill>
                  <a:schemeClr val="tx1">
                    <a:lumMod val="85000"/>
                    <a:lumOff val="15000"/>
                  </a:schemeClr>
                </a:solidFill>
                <a:latin typeface="Times New Roman" panose="02020603050405020304" pitchFamily="18" charset="0"/>
                <a:cs typeface="Times New Roman" panose="02020603050405020304" pitchFamily="18" charset="0"/>
              </a:rPr>
              <a:t>1 .</a:t>
            </a:r>
            <a:r>
              <a:rPr lang="vi-VN" sz="1600" b="1" dirty="0">
                <a:solidFill>
                  <a:schemeClr val="tx1">
                    <a:lumMod val="85000"/>
                    <a:lumOff val="15000"/>
                  </a:schemeClr>
                </a:solidFill>
                <a:latin typeface="Times New Roman" panose="02020603050405020304" pitchFamily="18" charset="0"/>
                <a:cs typeface="Times New Roman" panose="02020603050405020304" pitchFamily="18" charset="0"/>
              </a:rPr>
              <a:t>Nâng Cấp Chức Năng Dựa Trên Nền Tảng Hiện Có</a:t>
            </a:r>
          </a:p>
          <a:p>
            <a:pPr marL="0" indent="0">
              <a:lnSpc>
                <a:spcPct val="90000"/>
              </a:lnSpc>
              <a:buNone/>
            </a:pPr>
            <a:r>
              <a:rPr lang="en-US" sz="1600" dirty="0">
                <a:solidFill>
                  <a:schemeClr val="tx1">
                    <a:lumMod val="85000"/>
                    <a:lumOff val="15000"/>
                  </a:schemeClr>
                </a:solidFill>
                <a:latin typeface="Times New Roman" panose="02020603050405020304" pitchFamily="18" charset="0"/>
                <a:cs typeface="Times New Roman" panose="02020603050405020304" pitchFamily="18" charset="0"/>
              </a:rPr>
              <a:t> - </a:t>
            </a:r>
            <a:r>
              <a:rPr lang="vi-VN" sz="1600" dirty="0">
                <a:solidFill>
                  <a:schemeClr val="tx1">
                    <a:lumMod val="85000"/>
                    <a:lumOff val="15000"/>
                  </a:schemeClr>
                </a:solidFill>
                <a:latin typeface="Times New Roman" panose="02020603050405020304" pitchFamily="18" charset="0"/>
                <a:cs typeface="Times New Roman" panose="02020603050405020304" pitchFamily="18" charset="0"/>
              </a:rPr>
              <a:t>Dự án Spiketune với kiến trúc </a:t>
            </a:r>
            <a:r>
              <a:rPr lang="vi-VN" sz="1600" b="1" dirty="0">
                <a:solidFill>
                  <a:schemeClr val="tx1">
                    <a:lumMod val="85000"/>
                    <a:lumOff val="15000"/>
                  </a:schemeClr>
                </a:solidFill>
                <a:latin typeface="Times New Roman" panose="02020603050405020304" pitchFamily="18" charset="0"/>
                <a:cs typeface="Times New Roman" panose="02020603050405020304" pitchFamily="18" charset="0"/>
              </a:rPr>
              <a:t>MVVM</a:t>
            </a:r>
            <a:r>
              <a:rPr lang="vi-VN" sz="1600" dirty="0">
                <a:solidFill>
                  <a:schemeClr val="tx1">
                    <a:lumMod val="85000"/>
                    <a:lumOff val="15000"/>
                  </a:schemeClr>
                </a:solidFill>
                <a:latin typeface="Times New Roman" panose="02020603050405020304" pitchFamily="18" charset="0"/>
                <a:cs typeface="Times New Roman" panose="02020603050405020304" pitchFamily="18" charset="0"/>
              </a:rPr>
              <a:t>, hệ thống </a:t>
            </a:r>
            <a:r>
              <a:rPr lang="vi-VN" sz="1600" b="1" dirty="0">
                <a:solidFill>
                  <a:schemeClr val="tx1">
                    <a:lumMod val="85000"/>
                    <a:lumOff val="15000"/>
                  </a:schemeClr>
                </a:solidFill>
                <a:latin typeface="Times New Roman" panose="02020603050405020304" pitchFamily="18" charset="0"/>
                <a:cs typeface="Times New Roman" panose="02020603050405020304" pitchFamily="18" charset="0"/>
              </a:rPr>
              <a:t>microservices</a:t>
            </a:r>
            <a:r>
              <a:rPr lang="vi-VN" sz="1600" dirty="0">
                <a:solidFill>
                  <a:schemeClr val="tx1">
                    <a:lumMod val="85000"/>
                    <a:lumOff val="15000"/>
                  </a:schemeClr>
                </a:solidFill>
                <a:latin typeface="Times New Roman" panose="02020603050405020304" pitchFamily="18" charset="0"/>
                <a:cs typeface="Times New Roman" panose="02020603050405020304" pitchFamily="18" charset="0"/>
              </a:rPr>
              <a:t> và nguyên tắc </a:t>
            </a:r>
            <a:r>
              <a:rPr lang="vi-VN" sz="1600" b="1" dirty="0">
                <a:solidFill>
                  <a:schemeClr val="tx1">
                    <a:lumMod val="85000"/>
                    <a:lumOff val="15000"/>
                  </a:schemeClr>
                </a:solidFill>
                <a:latin typeface="Times New Roman" panose="02020603050405020304" pitchFamily="18" charset="0"/>
                <a:cs typeface="Times New Roman" panose="02020603050405020304" pitchFamily="18" charset="0"/>
              </a:rPr>
              <a:t>OOP</a:t>
            </a:r>
            <a:r>
              <a:rPr lang="vi-VN" sz="1600" dirty="0">
                <a:solidFill>
                  <a:schemeClr val="tx1">
                    <a:lumMod val="85000"/>
                    <a:lumOff val="15000"/>
                  </a:schemeClr>
                </a:solidFill>
                <a:latin typeface="Times New Roman" panose="02020603050405020304" pitchFamily="18" charset="0"/>
                <a:cs typeface="Times New Roman" panose="02020603050405020304" pitchFamily="18" charset="0"/>
              </a:rPr>
              <a:t> là nền tảng vững chắc để nâng cấp:</a:t>
            </a:r>
          </a:p>
          <a:p>
            <a:pPr marL="0" indent="0">
              <a:lnSpc>
                <a:spcPct val="90000"/>
              </a:lnSpc>
              <a:buNone/>
            </a:pPr>
            <a:r>
              <a:rPr lang="en-US" sz="1600" b="1" dirty="0">
                <a:solidFill>
                  <a:schemeClr val="tx1">
                    <a:lumMod val="85000"/>
                    <a:lumOff val="15000"/>
                  </a:schemeClr>
                </a:solidFill>
                <a:latin typeface="Times New Roman" panose="02020603050405020304" pitchFamily="18" charset="0"/>
                <a:cs typeface="Times New Roman" panose="02020603050405020304" pitchFamily="18" charset="0"/>
              </a:rPr>
              <a:t>2. </a:t>
            </a:r>
            <a:r>
              <a:rPr lang="vi-VN" sz="1600" b="1" dirty="0">
                <a:solidFill>
                  <a:schemeClr val="tx1">
                    <a:lumMod val="85000"/>
                    <a:lumOff val="15000"/>
                  </a:schemeClr>
                </a:solidFill>
                <a:latin typeface="Times New Roman" panose="02020603050405020304" pitchFamily="18" charset="0"/>
                <a:cs typeface="Times New Roman" panose="02020603050405020304" pitchFamily="18" charset="0"/>
              </a:rPr>
              <a:t>Nâng Cấp Dựa Trên MVVM:</a:t>
            </a:r>
            <a:r>
              <a:rPr lang="vi-VN" sz="1600" dirty="0">
                <a:solidFill>
                  <a:schemeClr val="tx1">
                    <a:lumMod val="85000"/>
                    <a:lumOff val="15000"/>
                  </a:schemeClr>
                </a:solidFill>
                <a:latin typeface="Times New Roman" panose="02020603050405020304" pitchFamily="18" charset="0"/>
                <a:cs typeface="Times New Roman" panose="02020603050405020304" pitchFamily="18" charset="0"/>
              </a:rPr>
              <a:t> </a:t>
            </a:r>
            <a:endParaRPr lang="en-US" sz="16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0" indent="0">
              <a:lnSpc>
                <a:spcPct val="90000"/>
              </a:lnSpc>
              <a:buNone/>
            </a:pPr>
            <a:r>
              <a:rPr lang="en-US" sz="1600" dirty="0">
                <a:solidFill>
                  <a:schemeClr val="tx1">
                    <a:lumMod val="85000"/>
                    <a:lumOff val="15000"/>
                  </a:schemeClr>
                </a:solidFill>
                <a:latin typeface="Times New Roman" panose="02020603050405020304" pitchFamily="18" charset="0"/>
                <a:cs typeface="Times New Roman" panose="02020603050405020304" pitchFamily="18" charset="0"/>
              </a:rPr>
              <a:t> - </a:t>
            </a:r>
            <a:r>
              <a:rPr lang="vi-VN" sz="1600" dirty="0">
                <a:solidFill>
                  <a:schemeClr val="tx1">
                    <a:lumMod val="85000"/>
                    <a:lumOff val="15000"/>
                  </a:schemeClr>
                </a:solidFill>
                <a:latin typeface="Times New Roman" panose="02020603050405020304" pitchFamily="18" charset="0"/>
                <a:cs typeface="Times New Roman" panose="02020603050405020304" pitchFamily="18" charset="0"/>
              </a:rPr>
              <a:t>Kiến trúc MVVM cho phép </a:t>
            </a:r>
            <a:r>
              <a:rPr lang="vi-VN" sz="1600" b="1" dirty="0">
                <a:solidFill>
                  <a:schemeClr val="tx1">
                    <a:lumMod val="85000"/>
                    <a:lumOff val="15000"/>
                  </a:schemeClr>
                </a:solidFill>
                <a:latin typeface="Times New Roman" panose="02020603050405020304" pitchFamily="18" charset="0"/>
                <a:cs typeface="Times New Roman" panose="02020603050405020304" pitchFamily="18" charset="0"/>
              </a:rPr>
              <a:t>thay đổi giao diện (View)</a:t>
            </a:r>
            <a:r>
              <a:rPr lang="vi-VN" sz="1600" dirty="0">
                <a:solidFill>
                  <a:schemeClr val="tx1">
                    <a:lumMod val="85000"/>
                    <a:lumOff val="15000"/>
                  </a:schemeClr>
                </a:solidFill>
                <a:latin typeface="Times New Roman" panose="02020603050405020304" pitchFamily="18" charset="0"/>
                <a:cs typeface="Times New Roman" panose="02020603050405020304" pitchFamily="18" charset="0"/>
              </a:rPr>
              <a:t> mà không ảnh hưởng đến logic nghiệp vụ (ViewModel/Model), giúp dễ dàng cập nhật UI, thêm các trường hiển thị thông tin mới một cách độc lập và an toàn.</a:t>
            </a:r>
          </a:p>
          <a:p>
            <a:pPr marL="0" indent="0">
              <a:lnSpc>
                <a:spcPct val="90000"/>
              </a:lnSpc>
              <a:buNone/>
            </a:pPr>
            <a:r>
              <a:rPr lang="en-US" sz="1600" b="1" dirty="0">
                <a:solidFill>
                  <a:schemeClr val="tx1">
                    <a:lumMod val="85000"/>
                    <a:lumOff val="15000"/>
                  </a:schemeClr>
                </a:solidFill>
                <a:latin typeface="Times New Roman" panose="02020603050405020304" pitchFamily="18" charset="0"/>
                <a:cs typeface="Times New Roman" panose="02020603050405020304" pitchFamily="18" charset="0"/>
              </a:rPr>
              <a:t>3. </a:t>
            </a:r>
            <a:r>
              <a:rPr lang="vi-VN" sz="1600" b="1" dirty="0">
                <a:solidFill>
                  <a:schemeClr val="tx1">
                    <a:lumMod val="85000"/>
                    <a:lumOff val="15000"/>
                  </a:schemeClr>
                </a:solidFill>
                <a:latin typeface="Times New Roman" panose="02020603050405020304" pitchFamily="18" charset="0"/>
                <a:cs typeface="Times New Roman" panose="02020603050405020304" pitchFamily="18" charset="0"/>
              </a:rPr>
              <a:t>Nâng Cấp Dựa Trên Microservices:</a:t>
            </a:r>
            <a:r>
              <a:rPr lang="vi-VN" sz="1600" dirty="0">
                <a:solidFill>
                  <a:schemeClr val="tx1">
                    <a:lumMod val="85000"/>
                    <a:lumOff val="15000"/>
                  </a:schemeClr>
                </a:solidFill>
                <a:latin typeface="Times New Roman" panose="02020603050405020304" pitchFamily="18" charset="0"/>
                <a:cs typeface="Times New Roman" panose="02020603050405020304" pitchFamily="18" charset="0"/>
              </a:rPr>
              <a:t> </a:t>
            </a:r>
          </a:p>
          <a:p>
            <a:pPr marL="800100" lvl="1" indent="-342900">
              <a:lnSpc>
                <a:spcPct val="90000"/>
              </a:lnSpc>
              <a:buFont typeface="+mj-lt"/>
              <a:buAutoNum type="alphaLcParenR"/>
            </a:pPr>
            <a:r>
              <a:rPr lang="vi-VN" b="1" dirty="0">
                <a:solidFill>
                  <a:schemeClr val="tx1">
                    <a:lumMod val="85000"/>
                    <a:lumOff val="15000"/>
                  </a:schemeClr>
                </a:solidFill>
                <a:latin typeface="Times New Roman" panose="02020603050405020304" pitchFamily="18" charset="0"/>
                <a:cs typeface="Times New Roman" panose="02020603050405020304" pitchFamily="18" charset="0"/>
              </a:rPr>
              <a:t>Xác Thực:</a:t>
            </a:r>
            <a:r>
              <a:rPr lang="vi-VN" dirty="0">
                <a:solidFill>
                  <a:schemeClr val="tx1">
                    <a:lumMod val="85000"/>
                    <a:lumOff val="15000"/>
                  </a:schemeClr>
                </a:solidFill>
                <a:latin typeface="Times New Roman" panose="02020603050405020304" pitchFamily="18" charset="0"/>
                <a:cs typeface="Times New Roman" panose="02020603050405020304" pitchFamily="18" charset="0"/>
              </a:rPr>
              <a:t> Thêm </a:t>
            </a:r>
            <a:r>
              <a:rPr lang="vi-VN" b="1" dirty="0">
                <a:solidFill>
                  <a:schemeClr val="tx1">
                    <a:lumMod val="85000"/>
                    <a:lumOff val="15000"/>
                  </a:schemeClr>
                </a:solidFill>
                <a:latin typeface="Times New Roman" panose="02020603050405020304" pitchFamily="18" charset="0"/>
                <a:cs typeface="Times New Roman" panose="02020603050405020304" pitchFamily="18" charset="0"/>
              </a:rPr>
              <a:t>xác thực đa yếu tố (2FA)</a:t>
            </a:r>
            <a:r>
              <a:rPr lang="vi-VN" dirty="0">
                <a:solidFill>
                  <a:schemeClr val="tx1">
                    <a:lumMod val="85000"/>
                    <a:lumOff val="15000"/>
                  </a:schemeClr>
                </a:solidFill>
                <a:latin typeface="Times New Roman" panose="02020603050405020304" pitchFamily="18" charset="0"/>
                <a:cs typeface="Times New Roman" panose="02020603050405020304" pitchFamily="18" charset="0"/>
              </a:rPr>
              <a:t> hoặc </a:t>
            </a:r>
            <a:r>
              <a:rPr lang="vi-VN" b="1" dirty="0">
                <a:solidFill>
                  <a:schemeClr val="tx1">
                    <a:lumMod val="85000"/>
                    <a:lumOff val="15000"/>
                  </a:schemeClr>
                </a:solidFill>
                <a:latin typeface="Times New Roman" panose="02020603050405020304" pitchFamily="18" charset="0"/>
                <a:cs typeface="Times New Roman" panose="02020603050405020304" pitchFamily="18" charset="0"/>
              </a:rPr>
              <a:t>đăng nhập mạng xã hội</a:t>
            </a:r>
            <a:r>
              <a:rPr lang="vi-VN" dirty="0">
                <a:solidFill>
                  <a:schemeClr val="tx1">
                    <a:lumMod val="85000"/>
                    <a:lumOff val="15000"/>
                  </a:schemeClr>
                </a:solidFill>
                <a:latin typeface="Times New Roman" panose="02020603050405020304" pitchFamily="18" charset="0"/>
                <a:cs typeface="Times New Roman" panose="02020603050405020304" pitchFamily="18" charset="0"/>
              </a:rPr>
              <a:t>.</a:t>
            </a:r>
          </a:p>
          <a:p>
            <a:pPr marL="800100" lvl="1" indent="-342900">
              <a:lnSpc>
                <a:spcPct val="90000"/>
              </a:lnSpc>
              <a:buFont typeface="+mj-lt"/>
              <a:buAutoNum type="alphaLcParenR"/>
            </a:pPr>
            <a:r>
              <a:rPr lang="vi-VN" b="1" dirty="0">
                <a:solidFill>
                  <a:schemeClr val="tx1">
                    <a:lumMod val="85000"/>
                    <a:lumOff val="15000"/>
                  </a:schemeClr>
                </a:solidFill>
                <a:latin typeface="Times New Roman" panose="02020603050405020304" pitchFamily="18" charset="0"/>
                <a:cs typeface="Times New Roman" panose="02020603050405020304" pitchFamily="18" charset="0"/>
              </a:rPr>
              <a:t>Nghe Nhạc:</a:t>
            </a:r>
            <a:r>
              <a:rPr lang="vi-VN" dirty="0">
                <a:solidFill>
                  <a:schemeClr val="tx1">
                    <a:lumMod val="85000"/>
                    <a:lumOff val="15000"/>
                  </a:schemeClr>
                </a:solidFill>
                <a:latin typeface="Times New Roman" panose="02020603050405020304" pitchFamily="18" charset="0"/>
                <a:cs typeface="Times New Roman" panose="02020603050405020304" pitchFamily="18" charset="0"/>
              </a:rPr>
              <a:t> Bổ sung </a:t>
            </a:r>
            <a:r>
              <a:rPr lang="vi-VN" b="1" dirty="0">
                <a:solidFill>
                  <a:schemeClr val="tx1">
                    <a:lumMod val="85000"/>
                    <a:lumOff val="15000"/>
                  </a:schemeClr>
                </a:solidFill>
                <a:latin typeface="Times New Roman" panose="02020603050405020304" pitchFamily="18" charset="0"/>
                <a:cs typeface="Times New Roman" panose="02020603050405020304" pitchFamily="18" charset="0"/>
              </a:rPr>
              <a:t>điều chỉnh tốc độ phát</a:t>
            </a:r>
            <a:r>
              <a:rPr lang="vi-VN" dirty="0">
                <a:solidFill>
                  <a:schemeClr val="tx1">
                    <a:lumMod val="85000"/>
                    <a:lumOff val="15000"/>
                  </a:schemeClr>
                </a:solidFill>
                <a:latin typeface="Times New Roman" panose="02020603050405020304" pitchFamily="18" charset="0"/>
                <a:cs typeface="Times New Roman" panose="02020603050405020304" pitchFamily="18" charset="0"/>
              </a:rPr>
              <a:t>, </a:t>
            </a:r>
            <a:r>
              <a:rPr lang="vi-VN" b="1" dirty="0">
                <a:solidFill>
                  <a:schemeClr val="tx1">
                    <a:lumMod val="85000"/>
                    <a:lumOff val="15000"/>
                  </a:schemeClr>
                </a:solidFill>
                <a:latin typeface="Times New Roman" panose="02020603050405020304" pitchFamily="18" charset="0"/>
                <a:cs typeface="Times New Roman" panose="02020603050405020304" pitchFamily="18" charset="0"/>
              </a:rPr>
              <a:t>chất lượng âm thanh tùy chọn</a:t>
            </a:r>
            <a:r>
              <a:rPr lang="vi-VN" dirty="0">
                <a:solidFill>
                  <a:schemeClr val="tx1">
                    <a:lumMod val="85000"/>
                    <a:lumOff val="15000"/>
                  </a:schemeClr>
                </a:solidFill>
                <a:latin typeface="Times New Roman" panose="02020603050405020304" pitchFamily="18" charset="0"/>
                <a:cs typeface="Times New Roman" panose="02020603050405020304" pitchFamily="18" charset="0"/>
              </a:rPr>
              <a:t>, và hỗ trợ </a:t>
            </a:r>
            <a:r>
              <a:rPr lang="vi-VN" b="1" dirty="0">
                <a:solidFill>
                  <a:schemeClr val="tx1">
                    <a:lumMod val="85000"/>
                    <a:lumOff val="15000"/>
                  </a:schemeClr>
                </a:solidFill>
                <a:latin typeface="Times New Roman" panose="02020603050405020304" pitchFamily="18" charset="0"/>
                <a:cs typeface="Times New Roman" panose="02020603050405020304" pitchFamily="18" charset="0"/>
              </a:rPr>
              <a:t>đa thiết bị</a:t>
            </a:r>
            <a:r>
              <a:rPr lang="vi-VN" dirty="0">
                <a:solidFill>
                  <a:schemeClr val="tx1">
                    <a:lumMod val="85000"/>
                    <a:lumOff val="15000"/>
                  </a:schemeClr>
                </a:solidFill>
                <a:latin typeface="Times New Roman" panose="02020603050405020304" pitchFamily="18" charset="0"/>
                <a:cs typeface="Times New Roman" panose="02020603050405020304" pitchFamily="18" charset="0"/>
              </a:rPr>
              <a:t>.</a:t>
            </a:r>
          </a:p>
          <a:p>
            <a:pPr marL="800100" lvl="1" indent="-342900">
              <a:lnSpc>
                <a:spcPct val="90000"/>
              </a:lnSpc>
              <a:buFont typeface="+mj-lt"/>
              <a:buAutoNum type="alphaLcParenR"/>
            </a:pPr>
            <a:r>
              <a:rPr lang="vi-VN" b="1" dirty="0">
                <a:solidFill>
                  <a:schemeClr val="tx1">
                    <a:lumMod val="85000"/>
                    <a:lumOff val="15000"/>
                  </a:schemeClr>
                </a:solidFill>
                <a:latin typeface="Times New Roman" panose="02020603050405020304" pitchFamily="18" charset="0"/>
                <a:cs typeface="Times New Roman" panose="02020603050405020304" pitchFamily="18" charset="0"/>
              </a:rPr>
              <a:t>Quản lý Playlist:</a:t>
            </a:r>
            <a:r>
              <a:rPr lang="vi-VN" dirty="0">
                <a:solidFill>
                  <a:schemeClr val="tx1">
                    <a:lumMod val="85000"/>
                    <a:lumOff val="15000"/>
                  </a:schemeClr>
                </a:solidFill>
                <a:latin typeface="Times New Roman" panose="02020603050405020304" pitchFamily="18" charset="0"/>
                <a:cs typeface="Times New Roman" panose="02020603050405020304" pitchFamily="18" charset="0"/>
              </a:rPr>
              <a:t> Triển khai </a:t>
            </a:r>
            <a:r>
              <a:rPr lang="vi-VN" b="1" dirty="0">
                <a:solidFill>
                  <a:schemeClr val="tx1">
                    <a:lumMod val="85000"/>
                    <a:lumOff val="15000"/>
                  </a:schemeClr>
                </a:solidFill>
                <a:latin typeface="Times New Roman" panose="02020603050405020304" pitchFamily="18" charset="0"/>
                <a:cs typeface="Times New Roman" panose="02020603050405020304" pitchFamily="18" charset="0"/>
              </a:rPr>
              <a:t>playlist cộng tác</a:t>
            </a:r>
            <a:r>
              <a:rPr lang="vi-VN" dirty="0">
                <a:solidFill>
                  <a:schemeClr val="tx1">
                    <a:lumMod val="85000"/>
                    <a:lumOff val="15000"/>
                  </a:schemeClr>
                </a:solidFill>
                <a:latin typeface="Times New Roman" panose="02020603050405020304" pitchFamily="18" charset="0"/>
                <a:cs typeface="Times New Roman" panose="02020603050405020304" pitchFamily="18" charset="0"/>
              </a:rPr>
              <a:t> hoặc </a:t>
            </a:r>
            <a:r>
              <a:rPr lang="vi-VN" b="1" dirty="0">
                <a:solidFill>
                  <a:schemeClr val="tx1">
                    <a:lumMod val="85000"/>
                    <a:lumOff val="15000"/>
                  </a:schemeClr>
                </a:solidFill>
                <a:latin typeface="Times New Roman" panose="02020603050405020304" pitchFamily="18" charset="0"/>
                <a:cs typeface="Times New Roman" panose="02020603050405020304" pitchFamily="18" charset="0"/>
              </a:rPr>
              <a:t>playlist thông minh</a:t>
            </a:r>
            <a:r>
              <a:rPr lang="vi-VN" dirty="0">
                <a:solidFill>
                  <a:schemeClr val="tx1">
                    <a:lumMod val="85000"/>
                    <a:lumOff val="15000"/>
                  </a:schemeClr>
                </a:solidFill>
                <a:latin typeface="Times New Roman" panose="02020603050405020304" pitchFamily="18" charset="0"/>
                <a:cs typeface="Times New Roman" panose="02020603050405020304" pitchFamily="18" charset="0"/>
              </a:rPr>
              <a:t>.</a:t>
            </a:r>
          </a:p>
          <a:p>
            <a:pPr marL="800100" lvl="1" indent="-342900">
              <a:lnSpc>
                <a:spcPct val="90000"/>
              </a:lnSpc>
              <a:buFont typeface="+mj-lt"/>
              <a:buAutoNum type="alphaLcParenR"/>
            </a:pPr>
            <a:r>
              <a:rPr lang="vi-VN" b="1" dirty="0">
                <a:solidFill>
                  <a:schemeClr val="tx1">
                    <a:lumMod val="85000"/>
                    <a:lumOff val="15000"/>
                  </a:schemeClr>
                </a:solidFill>
                <a:latin typeface="Times New Roman" panose="02020603050405020304" pitchFamily="18" charset="0"/>
                <a:cs typeface="Times New Roman" panose="02020603050405020304" pitchFamily="18" charset="0"/>
              </a:rPr>
              <a:t>Tính Năng Xã Hội:</a:t>
            </a:r>
            <a:r>
              <a:rPr lang="vi-VN" dirty="0">
                <a:solidFill>
                  <a:schemeClr val="tx1">
                    <a:lumMod val="85000"/>
                    <a:lumOff val="15000"/>
                  </a:schemeClr>
                </a:solidFill>
                <a:latin typeface="Times New Roman" panose="02020603050405020304" pitchFamily="18" charset="0"/>
                <a:cs typeface="Times New Roman" panose="02020603050405020304" pitchFamily="18" charset="0"/>
              </a:rPr>
              <a:t> Phát triển </a:t>
            </a:r>
            <a:r>
              <a:rPr lang="vi-VN" b="1" dirty="0">
                <a:solidFill>
                  <a:schemeClr val="tx1">
                    <a:lumMod val="85000"/>
                    <a:lumOff val="15000"/>
                  </a:schemeClr>
                </a:solidFill>
                <a:latin typeface="Times New Roman" panose="02020603050405020304" pitchFamily="18" charset="0"/>
                <a:cs typeface="Times New Roman" panose="02020603050405020304" pitchFamily="18" charset="0"/>
              </a:rPr>
              <a:t>nhắn tin trực tiếp</a:t>
            </a:r>
            <a:r>
              <a:rPr lang="vi-VN" dirty="0">
                <a:solidFill>
                  <a:schemeClr val="tx1">
                    <a:lumMod val="85000"/>
                    <a:lumOff val="15000"/>
                  </a:schemeClr>
                </a:solidFill>
                <a:latin typeface="Times New Roman" panose="02020603050405020304" pitchFamily="18" charset="0"/>
                <a:cs typeface="Times New Roman" panose="02020603050405020304" pitchFamily="18" charset="0"/>
              </a:rPr>
              <a:t> hoặc </a:t>
            </a:r>
            <a:r>
              <a:rPr lang="vi-VN" b="1" dirty="0">
                <a:solidFill>
                  <a:schemeClr val="tx1">
                    <a:lumMod val="85000"/>
                    <a:lumOff val="15000"/>
                  </a:schemeClr>
                </a:solidFill>
                <a:latin typeface="Times New Roman" panose="02020603050405020304" pitchFamily="18" charset="0"/>
                <a:cs typeface="Times New Roman" panose="02020603050405020304" pitchFamily="18" charset="0"/>
              </a:rPr>
              <a:t>phòng nghe nhạc chung</a:t>
            </a:r>
            <a:r>
              <a:rPr lang="vi-VN" dirty="0">
                <a:solidFill>
                  <a:schemeClr val="tx1">
                    <a:lumMod val="85000"/>
                    <a:lumOff val="15000"/>
                  </a:schemeClr>
                </a:solidFill>
                <a:latin typeface="Times New Roman" panose="02020603050405020304" pitchFamily="18" charset="0"/>
                <a:cs typeface="Times New Roman" panose="02020603050405020304" pitchFamily="18" charset="0"/>
              </a:rPr>
              <a:t>.</a:t>
            </a:r>
          </a:p>
          <a:p>
            <a:pPr marL="800100" lvl="1" indent="-342900">
              <a:lnSpc>
                <a:spcPct val="90000"/>
              </a:lnSpc>
              <a:buFont typeface="+mj-lt"/>
              <a:buAutoNum type="alphaLcParenR"/>
            </a:pPr>
            <a:r>
              <a:rPr lang="vi-VN" b="1" dirty="0">
                <a:solidFill>
                  <a:schemeClr val="tx1">
                    <a:lumMod val="85000"/>
                    <a:lumOff val="15000"/>
                  </a:schemeClr>
                </a:solidFill>
                <a:latin typeface="Times New Roman" panose="02020603050405020304" pitchFamily="18" charset="0"/>
                <a:cs typeface="Times New Roman" panose="02020603050405020304" pitchFamily="18" charset="0"/>
              </a:rPr>
              <a:t>Quản Lý Admin:</a:t>
            </a:r>
            <a:r>
              <a:rPr lang="vi-VN" dirty="0">
                <a:solidFill>
                  <a:schemeClr val="tx1">
                    <a:lumMod val="85000"/>
                    <a:lumOff val="15000"/>
                  </a:schemeClr>
                </a:solidFill>
                <a:latin typeface="Times New Roman" panose="02020603050405020304" pitchFamily="18" charset="0"/>
                <a:cs typeface="Times New Roman" panose="02020603050405020304" pitchFamily="18" charset="0"/>
              </a:rPr>
              <a:t> Tích hợp </a:t>
            </a:r>
            <a:r>
              <a:rPr lang="vi-VN" b="1" dirty="0">
                <a:solidFill>
                  <a:schemeClr val="tx1">
                    <a:lumMod val="85000"/>
                    <a:lumOff val="15000"/>
                  </a:schemeClr>
                </a:solidFill>
                <a:latin typeface="Times New Roman" panose="02020603050405020304" pitchFamily="18" charset="0"/>
                <a:cs typeface="Times New Roman" panose="02020603050405020304" pitchFamily="18" charset="0"/>
              </a:rPr>
              <a:t>công cụ quản lý nội dung tự động</a:t>
            </a:r>
            <a:r>
              <a:rPr lang="vi-VN" dirty="0">
                <a:solidFill>
                  <a:schemeClr val="tx1">
                    <a:lumMod val="85000"/>
                    <a:lumOff val="15000"/>
                  </a:schemeClr>
                </a:solidFill>
                <a:latin typeface="Times New Roman" panose="02020603050405020304" pitchFamily="18" charset="0"/>
                <a:cs typeface="Times New Roman" panose="02020603050405020304" pitchFamily="18" charset="0"/>
              </a:rPr>
              <a:t> và </a:t>
            </a:r>
            <a:r>
              <a:rPr lang="vi-VN" b="1" dirty="0">
                <a:solidFill>
                  <a:schemeClr val="tx1">
                    <a:lumMod val="85000"/>
                    <a:lumOff val="15000"/>
                  </a:schemeClr>
                </a:solidFill>
                <a:latin typeface="Times New Roman" panose="02020603050405020304" pitchFamily="18" charset="0"/>
                <a:cs typeface="Times New Roman" panose="02020603050405020304" pitchFamily="18" charset="0"/>
              </a:rPr>
              <a:t>phân tích chuyên sâu</a:t>
            </a:r>
            <a:r>
              <a:rPr lang="vi-VN" dirty="0">
                <a:solidFill>
                  <a:schemeClr val="tx1">
                    <a:lumMod val="85000"/>
                    <a:lumOff val="15000"/>
                  </a:schemeClr>
                </a:solidFill>
                <a:latin typeface="Times New Roman" panose="02020603050405020304" pitchFamily="18" charset="0"/>
                <a:cs typeface="Times New Roman" panose="02020603050405020304" pitchFamily="18" charset="0"/>
              </a:rPr>
              <a:t>.</a:t>
            </a:r>
          </a:p>
          <a:p>
            <a:pPr marL="0" indent="0">
              <a:lnSpc>
                <a:spcPct val="90000"/>
              </a:lnSpc>
              <a:buNone/>
            </a:pPr>
            <a:r>
              <a:rPr lang="en-US" sz="1600" b="1" dirty="0">
                <a:solidFill>
                  <a:schemeClr val="tx1">
                    <a:lumMod val="85000"/>
                    <a:lumOff val="15000"/>
                  </a:schemeClr>
                </a:solidFill>
                <a:latin typeface="Times New Roman" panose="02020603050405020304" pitchFamily="18" charset="0"/>
                <a:cs typeface="Times New Roman" panose="02020603050405020304" pitchFamily="18" charset="0"/>
              </a:rPr>
              <a:t>4. </a:t>
            </a:r>
            <a:r>
              <a:rPr lang="vi-VN" sz="1600" b="1" dirty="0">
                <a:solidFill>
                  <a:schemeClr val="tx1">
                    <a:lumMod val="85000"/>
                    <a:lumOff val="15000"/>
                  </a:schemeClr>
                </a:solidFill>
                <a:latin typeface="Times New Roman" panose="02020603050405020304" pitchFamily="18" charset="0"/>
                <a:cs typeface="Times New Roman" panose="02020603050405020304" pitchFamily="18" charset="0"/>
              </a:rPr>
              <a:t>Tối Ưu Hóa ASO &amp; Bảo Mật:</a:t>
            </a:r>
            <a:r>
              <a:rPr lang="vi-VN" sz="1600" dirty="0">
                <a:solidFill>
                  <a:schemeClr val="tx1">
                    <a:lumMod val="85000"/>
                    <a:lumOff val="15000"/>
                  </a:schemeClr>
                </a:solidFill>
                <a:latin typeface="Times New Roman" panose="02020603050405020304" pitchFamily="18" charset="0"/>
                <a:cs typeface="Times New Roman" panose="02020603050405020304" pitchFamily="18" charset="0"/>
              </a:rPr>
              <a:t> Liên tục </a:t>
            </a:r>
            <a:r>
              <a:rPr lang="vi-VN" sz="1600" b="1" dirty="0">
                <a:solidFill>
                  <a:schemeClr val="tx1">
                    <a:lumMod val="85000"/>
                    <a:lumOff val="15000"/>
                  </a:schemeClr>
                </a:solidFill>
                <a:latin typeface="Times New Roman" panose="02020603050405020304" pitchFamily="18" charset="0"/>
                <a:cs typeface="Times New Roman" panose="02020603050405020304" pitchFamily="18" charset="0"/>
              </a:rPr>
              <a:t>cải thiện ASO</a:t>
            </a:r>
            <a:r>
              <a:rPr lang="vi-VN" sz="1600" dirty="0">
                <a:solidFill>
                  <a:schemeClr val="tx1">
                    <a:lumMod val="85000"/>
                    <a:lumOff val="15000"/>
                  </a:schemeClr>
                </a:solidFill>
                <a:latin typeface="Times New Roman" panose="02020603050405020304" pitchFamily="18" charset="0"/>
                <a:cs typeface="Times New Roman" panose="02020603050405020304" pitchFamily="18" charset="0"/>
              </a:rPr>
              <a:t> để tăng khả năng hiển thị. Đồng thời, </a:t>
            </a:r>
            <a:r>
              <a:rPr lang="vi-VN" sz="1600" b="1" dirty="0">
                <a:solidFill>
                  <a:schemeClr val="tx1">
                    <a:lumMod val="85000"/>
                    <a:lumOff val="15000"/>
                  </a:schemeClr>
                </a:solidFill>
                <a:latin typeface="Times New Roman" panose="02020603050405020304" pitchFamily="18" charset="0"/>
                <a:cs typeface="Times New Roman" panose="02020603050405020304" pitchFamily="18" charset="0"/>
              </a:rPr>
              <a:t>cập nhật công nghệ, bảo trì backend và giám sát bảo mật</a:t>
            </a:r>
            <a:r>
              <a:rPr lang="vi-VN" sz="1600" dirty="0">
                <a:solidFill>
                  <a:schemeClr val="tx1">
                    <a:lumMod val="85000"/>
                    <a:lumOff val="15000"/>
                  </a:schemeClr>
                </a:solidFill>
                <a:latin typeface="Times New Roman" panose="02020603050405020304" pitchFamily="18" charset="0"/>
                <a:cs typeface="Times New Roman" panose="02020603050405020304" pitchFamily="18" charset="0"/>
              </a:rPr>
              <a:t> để ứng dụng luôn an toàn và tương thích.</a:t>
            </a:r>
          </a:p>
          <a:p>
            <a:pPr marL="0" indent="0">
              <a:lnSpc>
                <a:spcPct val="90000"/>
              </a:lnSpc>
              <a:buNone/>
            </a:pPr>
            <a:r>
              <a:rPr lang="en-US" sz="1600" b="1" dirty="0">
                <a:solidFill>
                  <a:schemeClr val="tx1">
                    <a:lumMod val="85000"/>
                    <a:lumOff val="15000"/>
                  </a:schemeClr>
                </a:solidFill>
                <a:latin typeface="Times New Roman" panose="02020603050405020304" pitchFamily="18" charset="0"/>
                <a:cs typeface="Times New Roman" panose="02020603050405020304" pitchFamily="18" charset="0"/>
              </a:rPr>
              <a:t>5. </a:t>
            </a:r>
            <a:r>
              <a:rPr lang="vi-VN" sz="1600" b="1" dirty="0">
                <a:solidFill>
                  <a:schemeClr val="tx1">
                    <a:lumMod val="85000"/>
                    <a:lumOff val="15000"/>
                  </a:schemeClr>
                </a:solidFill>
                <a:latin typeface="Times New Roman" panose="02020603050405020304" pitchFamily="18" charset="0"/>
                <a:cs typeface="Times New Roman" panose="02020603050405020304" pitchFamily="18" charset="0"/>
              </a:rPr>
              <a:t>Tận Dụng OOP:</a:t>
            </a:r>
            <a:r>
              <a:rPr lang="vi-VN" sz="1600" dirty="0">
                <a:solidFill>
                  <a:schemeClr val="tx1">
                    <a:lumMod val="85000"/>
                    <a:lumOff val="15000"/>
                  </a:schemeClr>
                </a:solidFill>
                <a:latin typeface="Times New Roman" panose="02020603050405020304" pitchFamily="18" charset="0"/>
                <a:cs typeface="Times New Roman" panose="02020603050405020304" pitchFamily="18" charset="0"/>
              </a:rPr>
              <a:t> Các nguyên tắc </a:t>
            </a:r>
            <a:r>
              <a:rPr lang="vi-VN" sz="1600" b="1" dirty="0">
                <a:solidFill>
                  <a:schemeClr val="tx1">
                    <a:lumMod val="85000"/>
                    <a:lumOff val="15000"/>
                  </a:schemeClr>
                </a:solidFill>
                <a:latin typeface="Times New Roman" panose="02020603050405020304" pitchFamily="18" charset="0"/>
                <a:cs typeface="Times New Roman" panose="02020603050405020304" pitchFamily="18" charset="0"/>
              </a:rPr>
              <a:t>Đóng gói, Kế thừa, Đa hình</a:t>
            </a:r>
            <a:r>
              <a:rPr lang="vi-VN" sz="1600" dirty="0">
                <a:solidFill>
                  <a:schemeClr val="tx1">
                    <a:lumMod val="85000"/>
                    <a:lumOff val="15000"/>
                  </a:schemeClr>
                </a:solidFill>
                <a:latin typeface="Times New Roman" panose="02020603050405020304" pitchFamily="18" charset="0"/>
                <a:cs typeface="Times New Roman" panose="02020603050405020304" pitchFamily="18" charset="0"/>
              </a:rPr>
              <a:t> đảm bảo rằng mọi nâng cấp đều có thể được thực hiện một cách có hệ thống, giúp </a:t>
            </a:r>
            <a:r>
              <a:rPr lang="vi-VN" sz="1600" b="1" dirty="0">
                <a:solidFill>
                  <a:schemeClr val="tx1">
                    <a:lumMod val="85000"/>
                    <a:lumOff val="15000"/>
                  </a:schemeClr>
                </a:solidFill>
                <a:latin typeface="Times New Roman" panose="02020603050405020304" pitchFamily="18" charset="0"/>
                <a:cs typeface="Times New Roman" panose="02020603050405020304" pitchFamily="18" charset="0"/>
              </a:rPr>
              <a:t>tái sử dụng mã, giảm thiểu rủi ro</a:t>
            </a:r>
            <a:r>
              <a:rPr lang="vi-VN" sz="1600" dirty="0">
                <a:solidFill>
                  <a:schemeClr val="tx1">
                    <a:lumMod val="85000"/>
                    <a:lumOff val="15000"/>
                  </a:schemeClr>
                </a:solidFill>
                <a:latin typeface="Times New Roman" panose="02020603050405020304" pitchFamily="18" charset="0"/>
                <a:cs typeface="Times New Roman" panose="02020603050405020304" pitchFamily="18" charset="0"/>
              </a:rPr>
              <a:t> và cho phép </a:t>
            </a:r>
            <a:r>
              <a:rPr lang="vi-VN" sz="1600" b="1" dirty="0">
                <a:solidFill>
                  <a:schemeClr val="tx1">
                    <a:lumMod val="85000"/>
                    <a:lumOff val="15000"/>
                  </a:schemeClr>
                </a:solidFill>
                <a:latin typeface="Times New Roman" panose="02020603050405020304" pitchFamily="18" charset="0"/>
                <a:cs typeface="Times New Roman" panose="02020603050405020304" pitchFamily="18" charset="0"/>
              </a:rPr>
              <a:t>mở rộng linh hoạt</a:t>
            </a:r>
            <a:r>
              <a:rPr lang="vi-VN" sz="1600" dirty="0">
                <a:solidFill>
                  <a:schemeClr val="tx1">
                    <a:lumMod val="85000"/>
                    <a:lumOff val="15000"/>
                  </a:schemeClr>
                </a:solidFill>
                <a:latin typeface="Times New Roman" panose="02020603050405020304" pitchFamily="18" charset="0"/>
                <a:cs typeface="Times New Roman" panose="02020603050405020304" pitchFamily="18" charset="0"/>
              </a:rPr>
              <a:t> (ví dụ: thêm loại nội dung mới mà không làm thay đổi code hiện có).</a:t>
            </a:r>
          </a:p>
          <a:p>
            <a:pPr marL="0" indent="0">
              <a:lnSpc>
                <a:spcPct val="90000"/>
              </a:lnSpc>
              <a:buNone/>
            </a:pPr>
            <a:endParaRPr lang="en-US" sz="16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1329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AE61E-706D-2A1E-7625-1E4CAE843700}"/>
              </a:ext>
            </a:extLst>
          </p:cNvPr>
          <p:cNvSpPr>
            <a:spLocks noGrp="1"/>
          </p:cNvSpPr>
          <p:nvPr>
            <p:ph type="title"/>
          </p:nvPr>
        </p:nvSpPr>
        <p:spPr>
          <a:xfrm>
            <a:off x="7865806" y="643463"/>
            <a:ext cx="3706762" cy="1608124"/>
          </a:xfrm>
        </p:spPr>
        <p:txBody>
          <a:bodyPr>
            <a:normAutofit/>
          </a:bodyPr>
          <a:lstStyle/>
          <a:p>
            <a:pPr>
              <a:lnSpc>
                <a:spcPct val="90000"/>
              </a:lnSpc>
            </a:pPr>
            <a:r>
              <a:rPr lang="en-US" dirty="0" err="1">
                <a:latin typeface="Times New Roman" panose="02020603050405020304" pitchFamily="18" charset="0"/>
                <a:cs typeface="Times New Roman" panose="02020603050405020304" pitchFamily="18" charset="0"/>
              </a:rPr>
              <a:t>Vì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chọn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này</a:t>
            </a:r>
            <a:r>
              <a:rPr lang="en-US" dirty="0">
                <a:latin typeface="Times New Roman" panose="02020603050405020304" pitchFamily="18" charset="0"/>
                <a:cs typeface="Times New Roman" panose="02020603050405020304" pitchFamily="18" charset="0"/>
              </a:rPr>
              <a:t>:</a:t>
            </a:r>
            <a:endParaRPr lang="en-US">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8A6D1BB-A27E-A567-0620-5979C4E2A0DC}"/>
              </a:ext>
            </a:extLst>
          </p:cNvPr>
          <p:cNvPicPr>
            <a:picLocks noChangeAspect="1"/>
          </p:cNvPicPr>
          <p:nvPr/>
        </p:nvPicPr>
        <p:blipFill>
          <a:blip r:embed="rId3"/>
          <a:srcRect l="24008" r="1" b="1"/>
          <a:stretch>
            <a:fillRect/>
          </a:stretch>
        </p:blipFill>
        <p:spPr>
          <a:xfrm>
            <a:off x="20" y="975"/>
            <a:ext cx="7552924" cy="6858000"/>
          </a:xfrm>
          <a:prstGeom prst="rect">
            <a:avLst/>
          </a:prstGeom>
        </p:spPr>
      </p:pic>
      <p:sp>
        <p:nvSpPr>
          <p:cNvPr id="3" name="Content Placeholder 2">
            <a:extLst>
              <a:ext uri="{FF2B5EF4-FFF2-40B4-BE49-F238E27FC236}">
                <a16:creationId xmlns:a16="http://schemas.microsoft.com/office/drawing/2014/main" id="{FDE8C8C5-2CB1-B610-552A-27E95120BE14}"/>
              </a:ext>
            </a:extLst>
          </p:cNvPr>
          <p:cNvSpPr>
            <a:spLocks noGrp="1"/>
          </p:cNvSpPr>
          <p:nvPr>
            <p:ph idx="1"/>
          </p:nvPr>
        </p:nvSpPr>
        <p:spPr>
          <a:xfrm>
            <a:off x="7865806" y="2251587"/>
            <a:ext cx="3706762" cy="3972232"/>
          </a:xfrm>
        </p:spPr>
        <p:txBody>
          <a:bodyPr>
            <a:normAutofit/>
          </a:bodyPr>
          <a:lstStyle/>
          <a:p>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trường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lớn</a:t>
            </a:r>
            <a:r>
              <a:rPr lang="en-US" dirty="0">
                <a:latin typeface="Times New Roman" panose="02020603050405020304" pitchFamily="18" charset="0"/>
                <a:cs typeface="Times New Roman" panose="02020603050405020304" pitchFamily="18" charset="0"/>
              </a:rPr>
              <a:t>.</a:t>
            </a:r>
          </a:p>
          <a:p>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toàn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chuyên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môn</a:t>
            </a:r>
            <a:r>
              <a:rPr lang="en-US" dirty="0">
                <a:latin typeface="Times New Roman" panose="02020603050405020304" pitchFamily="18" charset="0"/>
                <a:cs typeface="Times New Roman" panose="02020603050405020304" pitchFamily="18" charset="0"/>
              </a:rPr>
              <a:t>.</a:t>
            </a:r>
          </a:p>
          <a:p>
            <a:r>
              <a:rPr lang="en-US" dirty="0" err="1">
                <a:latin typeface="Times New Roman" panose="02020603050405020304" pitchFamily="18" charset="0"/>
                <a:cs typeface="Times New Roman" panose="02020603050405020304" pitchFamily="18" charset="0"/>
              </a:rPr>
              <a:t>Tiềm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hạn</a:t>
            </a:r>
            <a:r>
              <a:rPr lang="en-US" dirty="0">
                <a:latin typeface="Times New Roman" panose="02020603050405020304" pitchFamily="18" charset="0"/>
                <a:cs typeface="Times New Roman" panose="02020603050405020304" pitchFamily="18" charset="0"/>
              </a:rPr>
              <a:t>.</a:t>
            </a:r>
          </a:p>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phẩm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nâng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hồ</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tụi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em</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57290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4CFAD-1FA1-7CA1-0281-69B961F729F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Phạm vi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app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tiêu</a:t>
            </a:r>
            <a:r>
              <a:rPr lang="en-US" dirty="0">
                <a:latin typeface="Times New Roman" panose="02020603050405020304" pitchFamily="18" charset="0"/>
                <a:cs typeface="Times New Roman" panose="02020603050405020304" pitchFamily="18" charset="0"/>
              </a:rPr>
              <a:t>:</a:t>
            </a:r>
          </a:p>
        </p:txBody>
      </p:sp>
      <p:sp>
        <p:nvSpPr>
          <p:cNvPr id="4" name="Content Placeholder 3">
            <a:extLst>
              <a:ext uri="{FF2B5EF4-FFF2-40B4-BE49-F238E27FC236}">
                <a16:creationId xmlns:a16="http://schemas.microsoft.com/office/drawing/2014/main" id="{D8758C75-9F4E-D89C-AC01-6F02E31E660F}"/>
              </a:ext>
            </a:extLst>
          </p:cNvPr>
          <p:cNvSpPr>
            <a:spLocks noGrp="1"/>
          </p:cNvSpPr>
          <p:nvPr>
            <p:ph sz="half" idx="1"/>
          </p:nvPr>
        </p:nvSpPr>
        <p:spPr/>
        <p:txBody>
          <a:bodyPr/>
          <a:lstStyle/>
          <a:p>
            <a:r>
              <a:rPr lang="en-US" dirty="0" err="1">
                <a:latin typeface="Times New Roman" panose="02020603050405020304" pitchFamily="18" charset="0"/>
                <a:cs typeface="Times New Roman" panose="02020603050405020304" pitchFamily="18" charset="0"/>
              </a:rPr>
              <a:t>Mục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tiêu</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Thiết kế một ứng dụng nghe nhạc đẹp mắt, hiện đại, dễ sử dụng.</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Ứng dụng kiến trúc </a:t>
            </a:r>
            <a:r>
              <a:rPr lang="vi-VN" b="1" dirty="0">
                <a:latin typeface="Times New Roman" panose="02020603050405020304" pitchFamily="18" charset="0"/>
                <a:cs typeface="Times New Roman" panose="02020603050405020304" pitchFamily="18" charset="0"/>
              </a:rPr>
              <a:t>Clean Architecture</a:t>
            </a:r>
            <a:r>
              <a:rPr lang="vi-VN" dirty="0">
                <a:latin typeface="Times New Roman" panose="02020603050405020304" pitchFamily="18" charset="0"/>
                <a:cs typeface="Times New Roman" panose="02020603050405020304" pitchFamily="18" charset="0"/>
              </a:rPr>
              <a:t> để đảm bảo code rõ ràng, dễ mở rộng.</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 </a:t>
            </a:r>
            <a:r>
              <a:rPr lang="vi-VN" dirty="0">
                <a:latin typeface="Times New Roman" panose="02020603050405020304" pitchFamily="18" charset="0"/>
                <a:cs typeface="Times New Roman" panose="02020603050405020304" pitchFamily="18" charset="0"/>
              </a:rPr>
              <a:t>Tối ưu hiệu năng và trải nghiệm người dung</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Phát triển các tính năng cốt lõi của ứng dụng nghe nhạc thực tế</a:t>
            </a:r>
            <a:r>
              <a:rPr lang="en-US" dirty="0">
                <a:latin typeface="Times New Roman" panose="02020603050405020304" pitchFamily="18" charset="0"/>
                <a:cs typeface="Times New Roman" panose="02020603050405020304" pitchFamily="18" charset="0"/>
              </a:rPr>
              <a:t>.</a:t>
            </a:r>
          </a:p>
          <a:p>
            <a:endParaRPr lang="en-US" dirty="0"/>
          </a:p>
        </p:txBody>
      </p:sp>
      <p:sp>
        <p:nvSpPr>
          <p:cNvPr id="5" name="Content Placeholder 4">
            <a:extLst>
              <a:ext uri="{FF2B5EF4-FFF2-40B4-BE49-F238E27FC236}">
                <a16:creationId xmlns:a16="http://schemas.microsoft.com/office/drawing/2014/main" id="{E6921324-0534-2F10-85B1-9F0A509B1882}"/>
              </a:ext>
            </a:extLst>
          </p:cNvPr>
          <p:cNvSpPr>
            <a:spLocks noGrp="1"/>
          </p:cNvSpPr>
          <p:nvPr>
            <p:ph sz="half" idx="2"/>
          </p:nvPr>
        </p:nvSpPr>
        <p:spPr/>
        <p:txBody>
          <a:bodyPr/>
          <a:lstStyle/>
          <a:p>
            <a:r>
              <a:rPr lang="en-US" dirty="0">
                <a:latin typeface="Times New Roman" panose="02020603050405020304" pitchFamily="18" charset="0"/>
                <a:cs typeface="Times New Roman" panose="02020603050405020304" pitchFamily="18" charset="0"/>
              </a:rPr>
              <a:t>Phạm vi </a:t>
            </a:r>
            <a:r>
              <a:rPr lang="en-US" dirty="0" err="1">
                <a:latin typeface="Times New Roman" panose="02020603050405020304" pitchFamily="18" charset="0"/>
                <a:cs typeface="Times New Roman" panose="02020603050405020304" pitchFamily="18" charset="0"/>
              </a:rPr>
              <a:t>nghiên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cứu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về</a:t>
            </a:r>
            <a:r>
              <a:rPr lang="en-US" dirty="0">
                <a:latin typeface="Times New Roman" panose="02020603050405020304" pitchFamily="18" charset="0"/>
                <a:cs typeface="Times New Roman" panose="02020603050405020304" pitchFamily="18" charset="0"/>
              </a:rPr>
              <a:t> app: </a:t>
            </a:r>
          </a:p>
          <a:p>
            <a:r>
              <a:rPr lang="en-US" dirty="0">
                <a:latin typeface="Times New Roman" panose="02020603050405020304" pitchFamily="18" charset="0"/>
                <a:cs typeface="Times New Roman" panose="02020603050405020304" pitchFamily="18" charset="0"/>
              </a:rPr>
              <a:t>+ L</a:t>
            </a:r>
            <a:r>
              <a:rPr lang="vi-VN" dirty="0">
                <a:latin typeface="Times New Roman" panose="02020603050405020304" pitchFamily="18" charset="0"/>
                <a:cs typeface="Times New Roman" panose="02020603050405020304" pitchFamily="18" charset="0"/>
              </a:rPr>
              <a:t>à một ứng dụng nghe nhạc di động hiện đại, được phát triển trên nền tảng Android sử dụng ngôn ngữ Kotlin và bộ công cụ Jetpack Compose.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Ứng dụng này hướng đến việc cung cấp trải nghiệm nghe nhạc thông minh, cá nhân hóa, và hỗ trợ phát nhạc ngoại tuyến</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81604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9869E6-B270-C73C-1FF1-A64E59EA3E3D}"/>
              </a:ext>
            </a:extLst>
          </p:cNvPr>
          <p:cNvPicPr>
            <a:picLocks noChangeAspect="1"/>
          </p:cNvPicPr>
          <p:nvPr/>
        </p:nvPicPr>
        <p:blipFill>
          <a:blip r:embed="rId3"/>
          <a:srcRect t="14387" b="1344"/>
          <a:stretch>
            <a:fillRect/>
          </a:stretch>
        </p:blipFill>
        <p:spPr>
          <a:xfrm>
            <a:off x="20" y="10"/>
            <a:ext cx="12191980" cy="6857990"/>
          </a:xfrm>
          <a:prstGeom prst="rect">
            <a:avLst/>
          </a:prstGeom>
        </p:spPr>
      </p:pic>
      <p:pic>
        <p:nvPicPr>
          <p:cNvPr id="11" name="Picture 10">
            <a:extLst>
              <a:ext uri="{FF2B5EF4-FFF2-40B4-BE49-F238E27FC236}">
                <a16:creationId xmlns:a16="http://schemas.microsoft.com/office/drawing/2014/main" id="{C63E20F8-074D-4B3B-AE66-7BBD6F1CB7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168A5C37-E0A9-462D-BC65-C14D9025FB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962026" y="607814"/>
            <a:ext cx="10264775" cy="5640586"/>
          </a:xfrm>
          <a:prstGeom prst="rect">
            <a:avLst/>
          </a:prstGeom>
          <a:solidFill>
            <a:schemeClr val="bg1">
              <a:alpha val="70000"/>
            </a:schemeClr>
          </a:solid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p>
            <a:pPr marL="0" marR="0" lvl="0" indent="0" algn="ctr" defTabSz="914400" rtl="0" eaLnBrk="1" fontAlgn="auto" latinLnBrk="0" hangingPunct="1">
              <a:lnSpc>
                <a:spcPct val="100000"/>
              </a:lnSpc>
              <a:spcBef>
                <a:spcPts val="0"/>
              </a:spcBef>
              <a:spcAft>
                <a:spcPts val="1000"/>
              </a:spcAft>
              <a:buClr>
                <a:prstClr val="white"/>
              </a:buClr>
              <a:buSzPct val="100000"/>
              <a:buFont typeface="Arial"/>
              <a:buNone/>
              <a:tabLst/>
              <a:defRPr/>
            </a:pPr>
            <a:endParaRPr kumimoji="0" lang="en-US" sz="1600" b="0" i="0" u="none" strike="noStrike" kern="1200" cap="all"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01D59EA-9140-F178-0427-94BDD2414609}"/>
              </a:ext>
            </a:extLst>
          </p:cNvPr>
          <p:cNvSpPr>
            <a:spLocks noGrp="1"/>
          </p:cNvSpPr>
          <p:nvPr>
            <p:ph type="title"/>
          </p:nvPr>
        </p:nvSpPr>
        <p:spPr>
          <a:xfrm>
            <a:off x="1380067" y="787400"/>
            <a:ext cx="9437159" cy="1278467"/>
          </a:xfrm>
        </p:spPr>
        <p:txBody>
          <a:bodyPr>
            <a:normAutofit/>
          </a:bodyPr>
          <a:lstStyle/>
          <a:p>
            <a:pPr algn="ctr"/>
            <a:r>
              <a:rPr lang="en-US" dirty="0" err="1">
                <a:latin typeface="Times New Roman" panose="02020603050405020304" pitchFamily="18" charset="0"/>
                <a:cs typeface="Times New Roman" panose="02020603050405020304" pitchFamily="18" charset="0"/>
              </a:rPr>
              <a:t>Về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a:t>
            </a:r>
            <a:endParaRPr lang="en-US">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A92E4AD4-132D-FD6F-0421-E9C8E1828FBC}"/>
              </a:ext>
            </a:extLst>
          </p:cNvPr>
          <p:cNvSpPr>
            <a:spLocks noGrp="1" noChangeArrowheads="1"/>
          </p:cNvSpPr>
          <p:nvPr>
            <p:ph idx="1"/>
          </p:nvPr>
        </p:nvSpPr>
        <p:spPr bwMode="auto">
          <a:xfrm>
            <a:off x="1380067" y="2142067"/>
            <a:ext cx="9437159" cy="37253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90000"/>
              </a:lnSpc>
              <a:spcBef>
                <a:spcPct val="0"/>
              </a:spcBef>
              <a:spcAft>
                <a:spcPts val="600"/>
              </a:spcAft>
              <a:buClrTx/>
              <a:buSzTx/>
              <a:buNone/>
              <a:tabLst/>
            </a:pPr>
            <a:r>
              <a:rPr kumimoji="0" lang="vi-VN" altLang="vi-VN" sz="1300" b="1" i="0" u="none" strike="noStrike" cap="none" normalizeH="0" baseline="0" dirty="0">
                <a:ln>
                  <a:noFill/>
                </a:ln>
                <a:effectLst/>
                <a:latin typeface="+mj-lt"/>
              </a:rPr>
              <a:t>Thiết kế lấy người dùng làm trung tâm (User-Centered Design):</a:t>
            </a:r>
            <a:r>
              <a:rPr kumimoji="0" lang="vi-VN" altLang="vi-VN" sz="1300" b="0" i="0" u="none" strike="noStrike" cap="none" normalizeH="0" baseline="0" dirty="0">
                <a:ln>
                  <a:noFill/>
                </a:ln>
                <a:effectLst/>
                <a:latin typeface="+mj-lt"/>
              </a:rPr>
              <a:t> </a:t>
            </a:r>
            <a:endParaRPr kumimoji="0" lang="en-US" altLang="vi-VN" sz="1300" b="0" i="0" u="none" strike="noStrike" cap="none" normalizeH="0" baseline="0" dirty="0">
              <a:ln>
                <a:noFill/>
              </a:ln>
              <a:effectLst/>
              <a:latin typeface="+mj-lt"/>
            </a:endParaRPr>
          </a:p>
          <a:p>
            <a:pPr marL="0" marR="0" lvl="0" indent="0" defTabSz="914400" rtl="0" eaLnBrk="0" fontAlgn="base" latinLnBrk="0" hangingPunct="0">
              <a:lnSpc>
                <a:spcPct val="90000"/>
              </a:lnSpc>
              <a:spcBef>
                <a:spcPct val="0"/>
              </a:spcBef>
              <a:spcAft>
                <a:spcPts val="600"/>
              </a:spcAft>
              <a:buClrTx/>
              <a:buSzTx/>
              <a:buNone/>
              <a:tabLst/>
            </a:pPr>
            <a:r>
              <a:rPr kumimoji="0" lang="en-US" altLang="vi-VN" sz="1300" b="0" i="0" u="none" strike="noStrike" cap="none" normalizeH="0" baseline="0" dirty="0">
                <a:ln>
                  <a:noFill/>
                </a:ln>
                <a:effectLst/>
                <a:latin typeface="+mj-lt"/>
              </a:rPr>
              <a:t>	- </a:t>
            </a:r>
            <a:r>
              <a:rPr kumimoji="0" lang="vi-VN" altLang="vi-VN" sz="1300" b="0" i="0" u="none" strike="noStrike" cap="none" normalizeH="0" baseline="0" dirty="0">
                <a:ln>
                  <a:noFill/>
                </a:ln>
                <a:effectLst/>
                <a:latin typeface="+mj-lt"/>
              </a:rPr>
              <a:t>Đảm bảo mọi quyết định thiết kế đều xuất phát từ nhu cầu và hành vi của người dùng, qua nghiên cứu và phản hồi. </a:t>
            </a:r>
          </a:p>
          <a:p>
            <a:pPr marL="0" marR="0" lvl="0" indent="0" defTabSz="914400" rtl="0" eaLnBrk="0" fontAlgn="base" latinLnBrk="0" hangingPunct="0">
              <a:lnSpc>
                <a:spcPct val="90000"/>
              </a:lnSpc>
              <a:spcBef>
                <a:spcPct val="0"/>
              </a:spcBef>
              <a:spcAft>
                <a:spcPts val="600"/>
              </a:spcAft>
              <a:buClrTx/>
              <a:buSzTx/>
              <a:buNone/>
              <a:tabLst/>
            </a:pPr>
            <a:r>
              <a:rPr kumimoji="0" lang="vi-VN" altLang="vi-VN" sz="1300" b="1" i="0" u="none" strike="noStrike" cap="none" normalizeH="0" baseline="0" dirty="0">
                <a:ln>
                  <a:noFill/>
                </a:ln>
                <a:effectLst/>
                <a:latin typeface="+mj-lt"/>
              </a:rPr>
              <a:t>Thiết kế lặp (Iterative Design):</a:t>
            </a:r>
            <a:r>
              <a:rPr kumimoji="0" lang="vi-VN" altLang="vi-VN" sz="1300" b="0" i="0" u="none" strike="noStrike" cap="none" normalizeH="0" baseline="0" dirty="0">
                <a:ln>
                  <a:noFill/>
                </a:ln>
                <a:effectLst/>
                <a:latin typeface="+mj-lt"/>
              </a:rPr>
              <a:t> </a:t>
            </a:r>
            <a:endParaRPr kumimoji="0" lang="en-US" altLang="vi-VN" sz="1300" b="0" i="0" u="none" strike="noStrike" cap="none" normalizeH="0" baseline="0" dirty="0">
              <a:ln>
                <a:noFill/>
              </a:ln>
              <a:effectLst/>
              <a:latin typeface="+mj-lt"/>
            </a:endParaRPr>
          </a:p>
          <a:p>
            <a:pPr marL="0" marR="0" lvl="0" indent="0" defTabSz="914400" rtl="0" eaLnBrk="0" fontAlgn="base" latinLnBrk="0" hangingPunct="0">
              <a:lnSpc>
                <a:spcPct val="90000"/>
              </a:lnSpc>
              <a:spcBef>
                <a:spcPct val="0"/>
              </a:spcBef>
              <a:spcAft>
                <a:spcPts val="600"/>
              </a:spcAft>
              <a:buClrTx/>
              <a:buSzTx/>
              <a:buNone/>
              <a:tabLst/>
            </a:pPr>
            <a:r>
              <a:rPr kumimoji="0" lang="en-US" altLang="vi-VN" sz="1300" b="0" i="0" u="none" strike="noStrike" cap="none" normalizeH="0" baseline="0" dirty="0">
                <a:ln>
                  <a:noFill/>
                </a:ln>
                <a:effectLst/>
                <a:latin typeface="+mj-lt"/>
              </a:rPr>
              <a:t>	- </a:t>
            </a:r>
            <a:r>
              <a:rPr kumimoji="0" lang="vi-VN" altLang="vi-VN" sz="1300" b="0" i="0" u="none" strike="noStrike" cap="none" normalizeH="0" baseline="0" dirty="0">
                <a:ln>
                  <a:noFill/>
                </a:ln>
                <a:effectLst/>
                <a:latin typeface="+mj-lt"/>
              </a:rPr>
              <a:t>Quá trình phát triển giao diện được thực hiện qua nhiều vòng lặp, liên tục cải thiện từ phác thảo đến nguyên mẫu </a:t>
            </a:r>
            <a:endParaRPr kumimoji="0" lang="en-US" altLang="vi-VN" sz="1300" b="0" i="0" u="none" strike="noStrike" cap="none" normalizeH="0" baseline="0" dirty="0">
              <a:ln>
                <a:noFill/>
              </a:ln>
              <a:effectLst/>
              <a:latin typeface="+mj-lt"/>
            </a:endParaRPr>
          </a:p>
          <a:p>
            <a:pPr marL="0" marR="0" lvl="0" indent="0" defTabSz="914400" rtl="0" eaLnBrk="0" fontAlgn="base" latinLnBrk="0" hangingPunct="0">
              <a:lnSpc>
                <a:spcPct val="90000"/>
              </a:lnSpc>
              <a:spcBef>
                <a:spcPct val="0"/>
              </a:spcBef>
              <a:spcAft>
                <a:spcPts val="600"/>
              </a:spcAft>
              <a:buClrTx/>
              <a:buSzTx/>
              <a:buNone/>
              <a:tabLst/>
            </a:pPr>
            <a:r>
              <a:rPr kumimoji="0" lang="vi-VN" altLang="vi-VN" sz="1300" b="0" i="0" u="none" strike="noStrike" cap="none" normalizeH="0" baseline="0" dirty="0">
                <a:ln>
                  <a:noFill/>
                </a:ln>
                <a:effectLst/>
                <a:latin typeface="+mj-lt"/>
              </a:rPr>
              <a:t>và thử nghiệm thực tế. </a:t>
            </a:r>
          </a:p>
          <a:p>
            <a:pPr marL="0" marR="0" lvl="0" indent="0" defTabSz="914400" rtl="0" eaLnBrk="0" fontAlgn="base" latinLnBrk="0" hangingPunct="0">
              <a:lnSpc>
                <a:spcPct val="90000"/>
              </a:lnSpc>
              <a:spcBef>
                <a:spcPct val="0"/>
              </a:spcBef>
              <a:spcAft>
                <a:spcPts val="600"/>
              </a:spcAft>
              <a:buClrTx/>
              <a:buSzTx/>
              <a:buNone/>
              <a:tabLst/>
            </a:pPr>
            <a:r>
              <a:rPr kumimoji="0" lang="vi-VN" altLang="vi-VN" sz="1300" b="1" i="0" u="none" strike="noStrike" cap="none" normalizeH="0" baseline="0" dirty="0">
                <a:ln>
                  <a:noFill/>
                </a:ln>
                <a:effectLst/>
                <a:latin typeface="+mj-lt"/>
              </a:rPr>
              <a:t>Tuân thủ nguyên tắc UI/UX chuyên nghiệp:</a:t>
            </a:r>
            <a:r>
              <a:rPr kumimoji="0" lang="vi-VN" altLang="vi-VN" sz="1300" b="0" i="0" u="none" strike="noStrike" cap="none" normalizeH="0" baseline="0" dirty="0">
                <a:ln>
                  <a:noFill/>
                </a:ln>
                <a:effectLst/>
                <a:latin typeface="+mj-lt"/>
              </a:rPr>
              <a:t> </a:t>
            </a:r>
            <a:endParaRPr kumimoji="0" lang="en-US" altLang="vi-VN" sz="1300" b="0" i="0" u="none" strike="noStrike" cap="none" normalizeH="0" baseline="0" dirty="0">
              <a:ln>
                <a:noFill/>
              </a:ln>
              <a:effectLst/>
              <a:latin typeface="+mj-lt"/>
            </a:endParaRPr>
          </a:p>
          <a:p>
            <a:pPr marL="0" marR="0" lvl="0" indent="0" defTabSz="914400" rtl="0" eaLnBrk="0" fontAlgn="base" latinLnBrk="0" hangingPunct="0">
              <a:lnSpc>
                <a:spcPct val="90000"/>
              </a:lnSpc>
              <a:spcBef>
                <a:spcPct val="0"/>
              </a:spcBef>
              <a:spcAft>
                <a:spcPts val="600"/>
              </a:spcAft>
              <a:buClrTx/>
              <a:buSzTx/>
              <a:buNone/>
              <a:tabLst/>
            </a:pPr>
            <a:r>
              <a:rPr lang="en-US" altLang="vi-VN" sz="1300" dirty="0">
                <a:latin typeface="+mj-lt"/>
              </a:rPr>
              <a:t>	- </a:t>
            </a:r>
            <a:r>
              <a:rPr kumimoji="0" lang="vi-VN" altLang="vi-VN" sz="1300" b="0" i="0" u="none" strike="noStrike" cap="none" normalizeH="0" baseline="0" dirty="0">
                <a:ln>
                  <a:noFill/>
                </a:ln>
                <a:effectLst/>
                <a:latin typeface="+mj-lt"/>
              </a:rPr>
              <a:t>Áp dụng các quy chuẩn về bố cục rõ ràng, bảng màu hài hòa, kiểu chữ dễ đọc và tương tác trực quan để tối ưu </a:t>
            </a:r>
            <a:endParaRPr kumimoji="0" lang="en-US" altLang="vi-VN" sz="1300" b="0" i="0" u="none" strike="noStrike" cap="none" normalizeH="0" baseline="0" dirty="0">
              <a:ln>
                <a:noFill/>
              </a:ln>
              <a:effectLst/>
              <a:latin typeface="+mj-lt"/>
            </a:endParaRPr>
          </a:p>
          <a:p>
            <a:pPr marL="0" marR="0" lvl="0" indent="0" defTabSz="914400" rtl="0" eaLnBrk="0" fontAlgn="base" latinLnBrk="0" hangingPunct="0">
              <a:lnSpc>
                <a:spcPct val="90000"/>
              </a:lnSpc>
              <a:spcBef>
                <a:spcPct val="0"/>
              </a:spcBef>
              <a:spcAft>
                <a:spcPts val="600"/>
              </a:spcAft>
              <a:buClrTx/>
              <a:buSzTx/>
              <a:buNone/>
              <a:tabLst/>
            </a:pPr>
            <a:r>
              <a:rPr kumimoji="0" lang="vi-VN" altLang="vi-VN" sz="1300" b="0" i="0" u="none" strike="noStrike" cap="none" normalizeH="0" baseline="0" dirty="0">
                <a:ln>
                  <a:noFill/>
                </a:ln>
                <a:effectLst/>
                <a:latin typeface="+mj-lt"/>
              </a:rPr>
              <a:t>trải nghiệm người dùng. </a:t>
            </a:r>
          </a:p>
          <a:p>
            <a:pPr marL="0" marR="0" lvl="0" indent="0" defTabSz="914400" rtl="0" eaLnBrk="0" fontAlgn="base" latinLnBrk="0" hangingPunct="0">
              <a:lnSpc>
                <a:spcPct val="90000"/>
              </a:lnSpc>
              <a:spcBef>
                <a:spcPct val="0"/>
              </a:spcBef>
              <a:spcAft>
                <a:spcPts val="600"/>
              </a:spcAft>
              <a:buClrTx/>
              <a:buSzTx/>
              <a:buNone/>
              <a:tabLst/>
            </a:pPr>
            <a:r>
              <a:rPr kumimoji="0" lang="vi-VN" altLang="vi-VN" sz="1300" b="1" i="0" u="none" strike="noStrike" cap="none" normalizeH="0" baseline="0" dirty="0">
                <a:ln>
                  <a:noFill/>
                </a:ln>
                <a:effectLst/>
                <a:latin typeface="+mj-lt"/>
              </a:rPr>
              <a:t>Sử dụng công cụ chuyên nghiệp (Figma):</a:t>
            </a:r>
            <a:r>
              <a:rPr kumimoji="0" lang="vi-VN" altLang="vi-VN" sz="1300" b="0" i="0" u="none" strike="noStrike" cap="none" normalizeH="0" baseline="0" dirty="0">
                <a:ln>
                  <a:noFill/>
                </a:ln>
                <a:effectLst/>
                <a:latin typeface="+mj-lt"/>
              </a:rPr>
              <a:t> </a:t>
            </a:r>
            <a:endParaRPr kumimoji="0" lang="en-US" altLang="vi-VN" sz="1300" b="0" i="0" u="none" strike="noStrike" cap="none" normalizeH="0" baseline="0" dirty="0">
              <a:ln>
                <a:noFill/>
              </a:ln>
              <a:effectLst/>
              <a:latin typeface="+mj-lt"/>
            </a:endParaRPr>
          </a:p>
          <a:p>
            <a:pPr marL="0" marR="0" lvl="0" indent="0" defTabSz="914400" rtl="0" eaLnBrk="0" fontAlgn="base" latinLnBrk="0" hangingPunct="0">
              <a:lnSpc>
                <a:spcPct val="90000"/>
              </a:lnSpc>
              <a:spcBef>
                <a:spcPct val="0"/>
              </a:spcBef>
              <a:spcAft>
                <a:spcPts val="600"/>
              </a:spcAft>
              <a:buClrTx/>
              <a:buSzTx/>
              <a:buNone/>
              <a:tabLst/>
            </a:pPr>
            <a:r>
              <a:rPr lang="en-US" altLang="vi-VN" sz="1300" dirty="0">
                <a:latin typeface="+mj-lt"/>
              </a:rPr>
              <a:t>	- </a:t>
            </a:r>
            <a:r>
              <a:rPr kumimoji="0" lang="vi-VN" altLang="vi-VN" sz="1300" b="0" i="0" u="none" strike="noStrike" cap="none" normalizeH="0" baseline="0" dirty="0">
                <a:ln>
                  <a:noFill/>
                </a:ln>
                <a:effectLst/>
                <a:latin typeface="+mj-lt"/>
              </a:rPr>
              <a:t>Quá trình thiết kế được thực hiện trên Figma, cho phép cộng tác hiệu quả, tạo mẫu nhanh chóng và duy trì sự nhất </a:t>
            </a:r>
            <a:endParaRPr kumimoji="0" lang="en-US" altLang="vi-VN" sz="1300" b="0" i="0" u="none" strike="noStrike" cap="none" normalizeH="0" baseline="0" dirty="0">
              <a:ln>
                <a:noFill/>
              </a:ln>
              <a:effectLst/>
              <a:latin typeface="+mj-lt"/>
            </a:endParaRPr>
          </a:p>
          <a:p>
            <a:pPr marL="0" marR="0" lvl="0" indent="0" defTabSz="914400" rtl="0" eaLnBrk="0" fontAlgn="base" latinLnBrk="0" hangingPunct="0">
              <a:lnSpc>
                <a:spcPct val="90000"/>
              </a:lnSpc>
              <a:spcBef>
                <a:spcPct val="0"/>
              </a:spcBef>
              <a:spcAft>
                <a:spcPts val="600"/>
              </a:spcAft>
              <a:buClrTx/>
              <a:buSzTx/>
              <a:buNone/>
              <a:tabLst/>
            </a:pPr>
            <a:r>
              <a:rPr kumimoji="0" lang="vi-VN" altLang="vi-VN" sz="1300" b="0" i="0" u="none" strike="noStrike" cap="none" normalizeH="0" baseline="0" dirty="0">
                <a:ln>
                  <a:noFill/>
                </a:ln>
                <a:effectLst/>
                <a:latin typeface="+mj-lt"/>
              </a:rPr>
              <a:t>quán. </a:t>
            </a:r>
          </a:p>
          <a:p>
            <a:pPr marL="0" marR="0" lvl="0" indent="0" defTabSz="914400" rtl="0" eaLnBrk="0" fontAlgn="base" latinLnBrk="0" hangingPunct="0">
              <a:lnSpc>
                <a:spcPct val="90000"/>
              </a:lnSpc>
              <a:spcBef>
                <a:spcPct val="0"/>
              </a:spcBef>
              <a:spcAft>
                <a:spcPts val="600"/>
              </a:spcAft>
              <a:buClrTx/>
              <a:buSzTx/>
              <a:buNone/>
              <a:tabLst/>
            </a:pPr>
            <a:r>
              <a:rPr kumimoji="0" lang="vi-VN" altLang="vi-VN" sz="1300" b="1" i="0" u="none" strike="noStrike" cap="none" normalizeH="0" baseline="0" dirty="0">
                <a:ln>
                  <a:noFill/>
                </a:ln>
                <a:effectLst/>
                <a:latin typeface="+mj-lt"/>
              </a:rPr>
              <a:t>Kiểm thử và đánh giá liên tục:</a:t>
            </a:r>
            <a:r>
              <a:rPr kumimoji="0" lang="vi-VN" altLang="vi-VN" sz="1300" b="0" i="0" u="none" strike="noStrike" cap="none" normalizeH="0" baseline="0" dirty="0">
                <a:ln>
                  <a:noFill/>
                </a:ln>
                <a:effectLst/>
                <a:latin typeface="+mj-lt"/>
              </a:rPr>
              <a:t> </a:t>
            </a:r>
            <a:endParaRPr kumimoji="0" lang="en-US" altLang="vi-VN" sz="1300" b="0" i="0" u="none" strike="noStrike" cap="none" normalizeH="0" baseline="0" dirty="0">
              <a:ln>
                <a:noFill/>
              </a:ln>
              <a:effectLst/>
              <a:latin typeface="+mj-lt"/>
            </a:endParaRPr>
          </a:p>
          <a:p>
            <a:pPr marL="0" marR="0" lvl="0" indent="0" defTabSz="914400" rtl="0" eaLnBrk="0" fontAlgn="base" latinLnBrk="0" hangingPunct="0">
              <a:lnSpc>
                <a:spcPct val="90000"/>
              </a:lnSpc>
              <a:spcBef>
                <a:spcPct val="0"/>
              </a:spcBef>
              <a:spcAft>
                <a:spcPts val="600"/>
              </a:spcAft>
              <a:buClrTx/>
              <a:buSzTx/>
              <a:buNone/>
              <a:tabLst/>
            </a:pPr>
            <a:r>
              <a:rPr kumimoji="0" lang="en-US" altLang="vi-VN" sz="1300" b="0" i="0" u="none" strike="noStrike" cap="none" normalizeH="0" baseline="0" dirty="0">
                <a:ln>
                  <a:noFill/>
                </a:ln>
                <a:effectLst/>
                <a:latin typeface="+mj-lt"/>
              </a:rPr>
              <a:t>	- </a:t>
            </a:r>
            <a:r>
              <a:rPr kumimoji="0" lang="vi-VN" altLang="vi-VN" sz="1300" b="0" i="0" u="none" strike="noStrike" cap="none" normalizeH="0" baseline="0" dirty="0">
                <a:ln>
                  <a:noFill/>
                </a:ln>
                <a:effectLst/>
                <a:latin typeface="+mj-lt"/>
              </a:rPr>
              <a:t>Các bản thiết kế được kiểm thử với người dùng để thu thập phản hồi, từ đó điều chỉnh và hoàn thiện, đảm bảo sản</a:t>
            </a:r>
            <a:endParaRPr kumimoji="0" lang="en-US" altLang="vi-VN" sz="1300" b="0" i="0" u="none" strike="noStrike" cap="none" normalizeH="0" baseline="0" dirty="0">
              <a:ln>
                <a:noFill/>
              </a:ln>
              <a:effectLst/>
              <a:latin typeface="+mj-lt"/>
            </a:endParaRPr>
          </a:p>
          <a:p>
            <a:pPr marL="0" marR="0" lvl="0" indent="0" defTabSz="914400" rtl="0" eaLnBrk="0" fontAlgn="base" latinLnBrk="0" hangingPunct="0">
              <a:lnSpc>
                <a:spcPct val="90000"/>
              </a:lnSpc>
              <a:spcBef>
                <a:spcPct val="0"/>
              </a:spcBef>
              <a:spcAft>
                <a:spcPts val="600"/>
              </a:spcAft>
              <a:buClrTx/>
              <a:buSzTx/>
              <a:buNone/>
              <a:tabLst/>
            </a:pPr>
            <a:r>
              <a:rPr kumimoji="0" lang="vi-VN" altLang="vi-VN" sz="1300" b="0" i="0" u="none" strike="noStrike" cap="none" normalizeH="0" baseline="0" dirty="0">
                <a:ln>
                  <a:noFill/>
                </a:ln>
                <a:effectLst/>
                <a:latin typeface="+mj-lt"/>
              </a:rPr>
              <a:t> phẩm cuối cùng đạt chất lượng cao và đáp ứng mục tiêu. </a:t>
            </a:r>
          </a:p>
        </p:txBody>
      </p:sp>
    </p:spTree>
    <p:extLst>
      <p:ext uri="{BB962C8B-B14F-4D97-AF65-F5344CB8AC3E}">
        <p14:creationId xmlns:p14="http://schemas.microsoft.com/office/powerpoint/2010/main" val="154392115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D3AEC3-3753-D12B-AE4B-03B6924E04A6}"/>
              </a:ext>
            </a:extLst>
          </p:cNvPr>
          <p:cNvPicPr>
            <a:picLocks noChangeAspect="1"/>
          </p:cNvPicPr>
          <p:nvPr/>
        </p:nvPicPr>
        <p:blipFill>
          <a:blip r:embed="rId3"/>
          <a:srcRect l="11556" r="-1" b="-1"/>
          <a:stretch>
            <a:fillRect/>
          </a:stretch>
        </p:blipFill>
        <p:spPr>
          <a:xfrm>
            <a:off x="20" y="10"/>
            <a:ext cx="12191980" cy="6857990"/>
          </a:xfrm>
          <a:prstGeom prst="rect">
            <a:avLst/>
          </a:prstGeom>
        </p:spPr>
      </p:pic>
      <p:pic>
        <p:nvPicPr>
          <p:cNvPr id="10" name="Picture 9">
            <a:extLst>
              <a:ext uri="{FF2B5EF4-FFF2-40B4-BE49-F238E27FC236}">
                <a16:creationId xmlns:a16="http://schemas.microsoft.com/office/drawing/2014/main" id="{C63E20F8-074D-4B3B-AE66-7BBD6F1CB7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Rectangle 11">
            <a:extLst>
              <a:ext uri="{FF2B5EF4-FFF2-40B4-BE49-F238E27FC236}">
                <a16:creationId xmlns:a16="http://schemas.microsoft.com/office/drawing/2014/main" id="{168A5C37-E0A9-462D-BC65-C14D9025FB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962026" y="607814"/>
            <a:ext cx="10264775" cy="5640586"/>
          </a:xfrm>
          <a:prstGeom prst="rect">
            <a:avLst/>
          </a:prstGeom>
          <a:solidFill>
            <a:schemeClr val="bg1">
              <a:alpha val="70000"/>
            </a:schemeClr>
          </a:solid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p>
            <a:pPr marL="0" marR="0" lvl="0" indent="0" algn="ctr" defTabSz="914400" rtl="0" eaLnBrk="1" fontAlgn="auto" latinLnBrk="0" hangingPunct="1">
              <a:lnSpc>
                <a:spcPct val="100000"/>
              </a:lnSpc>
              <a:spcBef>
                <a:spcPts val="0"/>
              </a:spcBef>
              <a:spcAft>
                <a:spcPts val="1000"/>
              </a:spcAft>
              <a:buClr>
                <a:prstClr val="white"/>
              </a:buClr>
              <a:buSzPct val="100000"/>
              <a:buFont typeface="Arial"/>
              <a:buNone/>
              <a:tabLst/>
              <a:defRPr/>
            </a:pPr>
            <a:endParaRPr kumimoji="0" lang="en-US" sz="1600" b="0" i="0" u="none" strike="noStrike" kern="1200" cap="all"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A631B5C-D3A9-3D6F-78FA-E0683DCEA5BC}"/>
              </a:ext>
            </a:extLst>
          </p:cNvPr>
          <p:cNvSpPr>
            <a:spLocks noGrp="1"/>
          </p:cNvSpPr>
          <p:nvPr>
            <p:ph type="title"/>
          </p:nvPr>
        </p:nvSpPr>
        <p:spPr>
          <a:xfrm>
            <a:off x="1380067" y="787400"/>
            <a:ext cx="9437159" cy="1278467"/>
          </a:xfrm>
        </p:spPr>
        <p:txBody>
          <a:bodyPr>
            <a:normAutofit/>
          </a:bodyPr>
          <a:lstStyle/>
          <a:p>
            <a:pPr algn="ctr"/>
            <a:r>
              <a:rPr lang="en-US" dirty="0">
                <a:latin typeface="Times New Roman" panose="02020603050405020304" pitchFamily="18" charset="0"/>
                <a:cs typeface="Times New Roman" panose="02020603050405020304" pitchFamily="18" charset="0"/>
              </a:rPr>
              <a:t>So </a:t>
            </a:r>
            <a:r>
              <a:rPr lang="en-US" dirty="0" err="1">
                <a:latin typeface="Times New Roman" panose="02020603050405020304" pitchFamily="18" charset="0"/>
                <a:cs typeface="Times New Roman" panose="02020603050405020304" pitchFamily="18" charset="0"/>
              </a:rPr>
              <a:t>sánh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ban </a:t>
            </a:r>
            <a:r>
              <a:rPr lang="en-US" dirty="0" err="1">
                <a:latin typeface="Times New Roman" panose="02020603050405020304" pitchFamily="18" charset="0"/>
                <a:cs typeface="Times New Roman" panose="02020603050405020304" pitchFamily="18" charset="0"/>
              </a:rPr>
              <a:t>đầu</a:t>
            </a:r>
            <a:r>
              <a:rPr lang="en-US" dirty="0">
                <a:latin typeface="Times New Roman" panose="02020603050405020304" pitchFamily="18" charset="0"/>
                <a:cs typeface="Times New Roman" panose="02020603050405020304" pitchFamily="18" charset="0"/>
              </a:rPr>
              <a:t>:</a:t>
            </a:r>
            <a:endParaRPr lang="en-US">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75A23C8-36CE-557E-DD25-ACDF2378FA65}"/>
              </a:ext>
            </a:extLst>
          </p:cNvPr>
          <p:cNvSpPr>
            <a:spLocks noGrp="1" noChangeArrowheads="1"/>
          </p:cNvSpPr>
          <p:nvPr>
            <p:ph idx="1"/>
          </p:nvPr>
        </p:nvSpPr>
        <p:spPr bwMode="auto">
          <a:xfrm>
            <a:off x="1380067" y="2142067"/>
            <a:ext cx="9437159" cy="37253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lnSpcReduction="10000"/>
          </a:bodyPr>
          <a:lstStyle/>
          <a:p>
            <a:pPr marL="0" marR="0" lvl="0" indent="0" defTabSz="914400" rtl="0" eaLnBrk="0" fontAlgn="base" latinLnBrk="0" hangingPunct="0">
              <a:lnSpc>
                <a:spcPct val="90000"/>
              </a:lnSpc>
              <a:spcBef>
                <a:spcPct val="0"/>
              </a:spcBef>
              <a:spcAft>
                <a:spcPts val="600"/>
              </a:spcAft>
              <a:buClrTx/>
              <a:buSzTx/>
              <a:buFontTx/>
              <a:buNone/>
              <a:tabLst/>
            </a:pPr>
            <a:endParaRPr kumimoji="0" lang="vi-VN" altLang="vi-VN" sz="1500" b="0" i="0" u="none" strike="noStrike" cap="none" normalizeH="0" baseline="0" dirty="0">
              <a:ln>
                <a:noFill/>
              </a:ln>
              <a:effectLst/>
              <a:latin typeface="+mj-lt"/>
            </a:endParaRPr>
          </a:p>
          <a:p>
            <a:pPr marL="0" marR="0" lvl="0" indent="0" defTabSz="914400" rtl="0" eaLnBrk="0" fontAlgn="base" latinLnBrk="0" hangingPunct="0">
              <a:lnSpc>
                <a:spcPct val="90000"/>
              </a:lnSpc>
              <a:spcBef>
                <a:spcPct val="0"/>
              </a:spcBef>
              <a:spcAft>
                <a:spcPts val="600"/>
              </a:spcAft>
              <a:buClrTx/>
              <a:buSzTx/>
              <a:buNone/>
              <a:tabLst/>
            </a:pPr>
            <a:r>
              <a:rPr kumimoji="0" lang="vi-VN" altLang="vi-VN" sz="1500" b="1" i="0" u="none" strike="noStrike" cap="none" normalizeH="0" baseline="0" dirty="0">
                <a:ln>
                  <a:noFill/>
                </a:ln>
                <a:effectLst/>
                <a:latin typeface="+mj-lt"/>
              </a:rPr>
              <a:t>Tính nhất quán về nhận diện thương hiệu và tổng thể:</a:t>
            </a:r>
            <a:endParaRPr kumimoji="0" lang="vi-VN" altLang="vi-VN" sz="1500" b="0" i="0" u="none" strike="noStrike" cap="none" normalizeH="0" baseline="0" dirty="0">
              <a:ln>
                <a:noFill/>
              </a:ln>
              <a:effectLst/>
              <a:latin typeface="+mj-lt"/>
            </a:endParaRPr>
          </a:p>
          <a:p>
            <a:pPr marR="0" lvl="1" defTabSz="914400" rtl="0" eaLnBrk="0" fontAlgn="base" latinLnBrk="0" hangingPunct="0">
              <a:lnSpc>
                <a:spcPct val="90000"/>
              </a:lnSpc>
              <a:spcBef>
                <a:spcPct val="0"/>
              </a:spcBef>
              <a:spcAft>
                <a:spcPts val="600"/>
              </a:spcAft>
              <a:buClrTx/>
              <a:buSzTx/>
              <a:buFont typeface="Wingdings" panose="05000000000000000000" pitchFamily="2" charset="2"/>
              <a:buChar char="ü"/>
              <a:tabLst/>
            </a:pPr>
            <a:r>
              <a:rPr kumimoji="0" lang="vi-VN" altLang="vi-VN" sz="1500" b="1" i="0" u="none" strike="noStrike" cap="none" normalizeH="0" baseline="0" dirty="0">
                <a:ln>
                  <a:noFill/>
                </a:ln>
                <a:effectLst/>
                <a:latin typeface="+mj-lt"/>
              </a:rPr>
              <a:t>Thiết kế ban đầu:</a:t>
            </a:r>
            <a:r>
              <a:rPr kumimoji="0" lang="vi-VN" altLang="vi-VN" sz="1500" b="0" i="0" u="none" strike="noStrike" cap="none" normalizeH="0" baseline="0" dirty="0">
                <a:ln>
                  <a:noFill/>
                </a:ln>
                <a:effectLst/>
                <a:latin typeface="+mj-lt"/>
              </a:rPr>
              <a:t> Đặt ra các yếu tố cốt lõi về nhận diện thương hiệu như logo, bảng màu (ví dụ: </a:t>
            </a:r>
            <a:endParaRPr lang="en-US" altLang="vi-VN" sz="1500" dirty="0">
              <a:latin typeface="+mj-lt"/>
            </a:endParaRPr>
          </a:p>
          <a:p>
            <a:pPr marL="457200" marR="0" lvl="1" indent="0" defTabSz="914400" rtl="0" eaLnBrk="0" fontAlgn="base" latinLnBrk="0" hangingPunct="0">
              <a:lnSpc>
                <a:spcPct val="90000"/>
              </a:lnSpc>
              <a:spcBef>
                <a:spcPct val="0"/>
              </a:spcBef>
              <a:spcAft>
                <a:spcPts val="600"/>
              </a:spcAft>
              <a:buClrTx/>
              <a:buSzTx/>
              <a:buNone/>
              <a:tabLst/>
            </a:pPr>
            <a:r>
              <a:rPr kumimoji="0" lang="vi-VN" altLang="vi-VN" sz="1500" b="0" i="0" u="none" strike="noStrike" cap="none" normalizeH="0" baseline="0" dirty="0">
                <a:ln>
                  <a:noFill/>
                </a:ln>
                <a:effectLst/>
                <a:latin typeface="+mj-lt"/>
              </a:rPr>
              <a:t>màu tím đậm, xanh dương tươi) và khẩu hiệu "YOUR SOUNDTRACK, YOUR STORY".   </a:t>
            </a:r>
          </a:p>
          <a:p>
            <a:pPr marR="0" lvl="1" defTabSz="914400" rtl="0" eaLnBrk="0" fontAlgn="base" latinLnBrk="0" hangingPunct="0">
              <a:lnSpc>
                <a:spcPct val="90000"/>
              </a:lnSpc>
              <a:spcBef>
                <a:spcPct val="0"/>
              </a:spcBef>
              <a:spcAft>
                <a:spcPts val="600"/>
              </a:spcAft>
              <a:buClrTx/>
              <a:buSzTx/>
              <a:buFont typeface="Wingdings" panose="05000000000000000000" pitchFamily="2" charset="2"/>
              <a:buChar char="ü"/>
              <a:tabLst/>
            </a:pPr>
            <a:r>
              <a:rPr kumimoji="0" lang="vi-VN" altLang="vi-VN" sz="1500" b="1" i="0" u="none" strike="noStrike" cap="none" normalizeH="0" baseline="0" dirty="0">
                <a:ln>
                  <a:noFill/>
                </a:ln>
                <a:effectLst/>
                <a:latin typeface="+mj-lt"/>
              </a:rPr>
              <a:t>Ứng dụng hoàn thiện:</a:t>
            </a:r>
            <a:r>
              <a:rPr kumimoji="0" lang="vi-VN" altLang="vi-VN" sz="1500" b="0" i="0" u="none" strike="noStrike" cap="none" normalizeH="0" baseline="0" dirty="0">
                <a:ln>
                  <a:noFill/>
                </a:ln>
                <a:effectLst/>
                <a:latin typeface="+mj-lt"/>
              </a:rPr>
              <a:t> Kỳ vọng sẽ duy trì chặt chẽ các yếu tố này, đảm bảo người dùng có trải </a:t>
            </a:r>
            <a:endParaRPr kumimoji="0" lang="en-US" altLang="vi-VN" sz="1500" b="0" i="0" u="none" strike="noStrike" cap="none" normalizeH="0" baseline="0" dirty="0">
              <a:ln>
                <a:noFill/>
              </a:ln>
              <a:effectLst/>
              <a:latin typeface="+mj-lt"/>
            </a:endParaRPr>
          </a:p>
          <a:p>
            <a:pPr marL="457200" marR="0" lvl="1" indent="0" defTabSz="914400" rtl="0" eaLnBrk="0" fontAlgn="base" latinLnBrk="0" hangingPunct="0">
              <a:lnSpc>
                <a:spcPct val="90000"/>
              </a:lnSpc>
              <a:spcBef>
                <a:spcPct val="0"/>
              </a:spcBef>
              <a:spcAft>
                <a:spcPts val="600"/>
              </a:spcAft>
              <a:buClrTx/>
              <a:buSzTx/>
              <a:buNone/>
              <a:tabLst/>
            </a:pPr>
            <a:r>
              <a:rPr kumimoji="0" lang="vi-VN" altLang="vi-VN" sz="1500" b="0" i="0" u="none" strike="noStrike" cap="none" normalizeH="0" baseline="0" dirty="0">
                <a:ln>
                  <a:noFill/>
                </a:ln>
                <a:effectLst/>
                <a:latin typeface="+mj-lt"/>
              </a:rPr>
              <a:t>nghiệm nhất quán từ Splash Screen đến các màn hình chức năng sâu hơn.   </a:t>
            </a:r>
          </a:p>
          <a:p>
            <a:pPr marL="0" marR="0" lvl="0" indent="0" defTabSz="914400" rtl="0" eaLnBrk="0" fontAlgn="base" latinLnBrk="0" hangingPunct="0">
              <a:lnSpc>
                <a:spcPct val="90000"/>
              </a:lnSpc>
              <a:spcBef>
                <a:spcPct val="0"/>
              </a:spcBef>
              <a:spcAft>
                <a:spcPts val="600"/>
              </a:spcAft>
              <a:buClrTx/>
              <a:buSzTx/>
              <a:buNone/>
              <a:tabLst/>
            </a:pPr>
            <a:r>
              <a:rPr kumimoji="0" lang="vi-VN" altLang="vi-VN" sz="1500" b="1" i="0" u="none" strike="noStrike" cap="none" normalizeH="0" baseline="0" dirty="0">
                <a:ln>
                  <a:noFill/>
                </a:ln>
                <a:effectLst/>
                <a:latin typeface="+mj-lt"/>
              </a:rPr>
              <a:t>Mức độ chi tiết và sự hoàn thiện của giao diện (UI/UX):</a:t>
            </a:r>
            <a:endParaRPr kumimoji="0" lang="vi-VN" altLang="vi-VN" sz="1500" b="0" i="0" u="none" strike="noStrike" cap="none" normalizeH="0" baseline="0" dirty="0">
              <a:ln>
                <a:noFill/>
              </a:ln>
              <a:effectLst/>
              <a:latin typeface="+mj-lt"/>
            </a:endParaRPr>
          </a:p>
          <a:p>
            <a:pPr marR="0" lvl="1" defTabSz="914400" rtl="0" eaLnBrk="0" fontAlgn="base" latinLnBrk="0" hangingPunct="0">
              <a:lnSpc>
                <a:spcPct val="90000"/>
              </a:lnSpc>
              <a:spcBef>
                <a:spcPct val="0"/>
              </a:spcBef>
              <a:spcAft>
                <a:spcPts val="600"/>
              </a:spcAft>
              <a:buClrTx/>
              <a:buSzTx/>
              <a:buFont typeface="Wingdings" panose="05000000000000000000" pitchFamily="2" charset="2"/>
              <a:buChar char="ü"/>
              <a:tabLst/>
            </a:pPr>
            <a:r>
              <a:rPr kumimoji="0" lang="vi-VN" altLang="vi-VN" sz="1500" b="1" i="0" u="none" strike="noStrike" cap="none" normalizeH="0" baseline="0" dirty="0">
                <a:ln>
                  <a:noFill/>
                </a:ln>
                <a:effectLst/>
                <a:latin typeface="+mj-lt"/>
              </a:rPr>
              <a:t>Thiết kế ban đầu:</a:t>
            </a:r>
            <a:r>
              <a:rPr kumimoji="0" lang="vi-VN" altLang="vi-VN" sz="1500" b="0" i="0" u="none" strike="noStrike" cap="none" normalizeH="0" baseline="0" dirty="0">
                <a:ln>
                  <a:noFill/>
                </a:ln>
                <a:effectLst/>
                <a:latin typeface="+mj-lt"/>
              </a:rPr>
              <a:t> Cung cấp các bản mockup chi tiết cho nhiều màn hình khác nhau (ví dụ: màn </a:t>
            </a:r>
            <a:endParaRPr kumimoji="0" lang="en-US" altLang="vi-VN" sz="1500" b="0" i="0" u="none" strike="noStrike" cap="none" normalizeH="0" baseline="0" dirty="0">
              <a:ln>
                <a:noFill/>
              </a:ln>
              <a:effectLst/>
              <a:latin typeface="+mj-lt"/>
            </a:endParaRPr>
          </a:p>
          <a:p>
            <a:pPr marL="457200" marR="0" lvl="1" indent="0" defTabSz="914400" rtl="0" eaLnBrk="0" fontAlgn="base" latinLnBrk="0" hangingPunct="0">
              <a:lnSpc>
                <a:spcPct val="90000"/>
              </a:lnSpc>
              <a:spcBef>
                <a:spcPct val="0"/>
              </a:spcBef>
              <a:spcAft>
                <a:spcPts val="600"/>
              </a:spcAft>
              <a:buClrTx/>
              <a:buSzTx/>
              <a:buNone/>
              <a:tabLst/>
            </a:pPr>
            <a:r>
              <a:rPr kumimoji="0" lang="vi-VN" altLang="vi-VN" sz="1500" b="0" i="0" u="none" strike="noStrike" cap="none" normalizeH="0" baseline="0" dirty="0">
                <a:ln>
                  <a:noFill/>
                </a:ln>
                <a:effectLst/>
                <a:latin typeface="+mj-lt"/>
              </a:rPr>
              <a:t>hình chính, phát nhạc, tìm kiếm, v.v.), định hình một tầm nhìn toàn diện cho ứng dụng.   </a:t>
            </a:r>
          </a:p>
          <a:p>
            <a:pPr marR="0" lvl="1" defTabSz="914400" rtl="0" eaLnBrk="0" fontAlgn="base" latinLnBrk="0" hangingPunct="0">
              <a:lnSpc>
                <a:spcPct val="90000"/>
              </a:lnSpc>
              <a:spcBef>
                <a:spcPct val="0"/>
              </a:spcBef>
              <a:spcAft>
                <a:spcPts val="600"/>
              </a:spcAft>
              <a:buClrTx/>
              <a:buSzTx/>
              <a:buFont typeface="Wingdings" panose="05000000000000000000" pitchFamily="2" charset="2"/>
              <a:buChar char="ü"/>
              <a:tabLst/>
            </a:pPr>
            <a:r>
              <a:rPr kumimoji="0" lang="vi-VN" altLang="vi-VN" sz="1500" b="1" i="0" u="none" strike="noStrike" cap="none" normalizeH="0" baseline="0" dirty="0">
                <a:ln>
                  <a:noFill/>
                </a:ln>
                <a:effectLst/>
                <a:latin typeface="+mj-lt"/>
              </a:rPr>
              <a:t>Ứng dụng hoàn thiện:</a:t>
            </a:r>
            <a:r>
              <a:rPr kumimoji="0" lang="vi-VN" altLang="vi-VN" sz="1500" b="0" i="0" u="none" strike="noStrike" cap="none" normalizeH="0" baseline="0" dirty="0">
                <a:ln>
                  <a:noFill/>
                </a:ln>
                <a:effectLst/>
                <a:latin typeface="+mj-lt"/>
              </a:rPr>
              <a:t> Các màn hình đã được thiết kế và triển khai (như Splash, Login, Register) </a:t>
            </a:r>
            <a:endParaRPr kumimoji="0" lang="en-US" altLang="vi-VN" sz="1500" b="0" i="0" u="none" strike="noStrike" cap="none" normalizeH="0" baseline="0" dirty="0">
              <a:ln>
                <a:noFill/>
              </a:ln>
              <a:effectLst/>
              <a:latin typeface="+mj-lt"/>
            </a:endParaRPr>
          </a:p>
          <a:p>
            <a:pPr marL="457200" marR="0" lvl="1" indent="0" defTabSz="914400" rtl="0" eaLnBrk="0" fontAlgn="base" latinLnBrk="0" hangingPunct="0">
              <a:lnSpc>
                <a:spcPct val="90000"/>
              </a:lnSpc>
              <a:spcBef>
                <a:spcPct val="0"/>
              </a:spcBef>
              <a:spcAft>
                <a:spcPts val="600"/>
              </a:spcAft>
              <a:buClrTx/>
              <a:buSzTx/>
              <a:buNone/>
              <a:tabLst/>
            </a:pPr>
            <a:r>
              <a:rPr kumimoji="0" lang="vi-VN" altLang="vi-VN" sz="1500" b="0" i="0" u="none" strike="noStrike" cap="none" normalizeH="0" baseline="0" dirty="0">
                <a:ln>
                  <a:noFill/>
                </a:ln>
                <a:effectLst/>
                <a:latin typeface="+mj-lt"/>
              </a:rPr>
              <a:t>sẽ được hoàn thiện về mặt hình ảnh, khớp với phong cách tổng thể. [cite_start]Các tính năng cốt lõi sẽ </a:t>
            </a:r>
            <a:endParaRPr lang="en-US" altLang="vi-VN" sz="1500" dirty="0">
              <a:latin typeface="+mj-lt"/>
            </a:endParaRPr>
          </a:p>
          <a:p>
            <a:pPr marL="457200" marR="0" lvl="1" indent="0" defTabSz="914400" rtl="0" eaLnBrk="0" fontAlgn="base" latinLnBrk="0" hangingPunct="0">
              <a:lnSpc>
                <a:spcPct val="90000"/>
              </a:lnSpc>
              <a:spcBef>
                <a:spcPct val="0"/>
              </a:spcBef>
              <a:spcAft>
                <a:spcPts val="600"/>
              </a:spcAft>
              <a:buClrTx/>
              <a:buSzTx/>
              <a:buNone/>
              <a:tabLst/>
            </a:pPr>
            <a:r>
              <a:rPr kumimoji="0" lang="vi-VN" altLang="vi-VN" sz="1500" b="0" i="0" u="none" strike="noStrike" cap="none" normalizeH="0" baseline="0" dirty="0">
                <a:ln>
                  <a:noFill/>
                </a:ln>
                <a:effectLst/>
                <a:latin typeface="+mj-lt"/>
              </a:rPr>
              <a:t>có UI được tối ưu cho trải nghiệm người dùng thực tế trên nền tảng Android và Jetpack Compose, có thể </a:t>
            </a:r>
            <a:endParaRPr kumimoji="0" lang="en-US" altLang="vi-VN" sz="1500" b="0" i="0" u="none" strike="noStrike" cap="none" normalizeH="0" baseline="0" dirty="0">
              <a:ln>
                <a:noFill/>
              </a:ln>
              <a:effectLst/>
              <a:latin typeface="+mj-lt"/>
            </a:endParaRPr>
          </a:p>
          <a:p>
            <a:pPr marL="457200" marR="0" lvl="1" indent="0" defTabSz="914400" rtl="0" eaLnBrk="0" fontAlgn="base" latinLnBrk="0" hangingPunct="0">
              <a:lnSpc>
                <a:spcPct val="90000"/>
              </a:lnSpc>
              <a:spcBef>
                <a:spcPct val="0"/>
              </a:spcBef>
              <a:spcAft>
                <a:spcPts val="600"/>
              </a:spcAft>
              <a:buClrTx/>
              <a:buSzTx/>
              <a:buNone/>
              <a:tabLst/>
            </a:pPr>
            <a:r>
              <a:rPr kumimoji="0" lang="vi-VN" altLang="vi-VN" sz="1500" b="0" i="0" u="none" strike="noStrike" cap="none" normalizeH="0" baseline="0" dirty="0">
                <a:ln>
                  <a:noFill/>
                </a:ln>
                <a:effectLst/>
                <a:latin typeface="+mj-lt"/>
              </a:rPr>
              <a:t>bao gồm những tinh chỉnh nhỏ so với mockup ban đầu để cải thiện hiệu suất hoặc khả năng tương tác.   </a:t>
            </a:r>
          </a:p>
          <a:p>
            <a:pPr marL="0" marR="0" lvl="0" indent="0" defTabSz="914400" rtl="0" eaLnBrk="0" fontAlgn="base" latinLnBrk="0" hangingPunct="0">
              <a:lnSpc>
                <a:spcPct val="90000"/>
              </a:lnSpc>
              <a:spcBef>
                <a:spcPct val="0"/>
              </a:spcBef>
              <a:spcAft>
                <a:spcPts val="600"/>
              </a:spcAft>
              <a:buClrTx/>
              <a:buSzTx/>
              <a:buFontTx/>
              <a:buNone/>
              <a:tabLst/>
            </a:pPr>
            <a:endParaRPr kumimoji="0" lang="vi-VN" altLang="vi-VN" sz="1500" b="0" i="0" u="none" strike="noStrike" cap="none" normalizeH="0" baseline="0" dirty="0">
              <a:ln>
                <a:noFill/>
              </a:ln>
              <a:effectLst/>
              <a:latin typeface="+mj-lt"/>
            </a:endParaRPr>
          </a:p>
        </p:txBody>
      </p:sp>
    </p:spTree>
    <p:extLst>
      <p:ext uri="{BB962C8B-B14F-4D97-AF65-F5344CB8AC3E}">
        <p14:creationId xmlns:p14="http://schemas.microsoft.com/office/powerpoint/2010/main" val="95319467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215B399C-946D-4F83-B680-768F132E407B}"/>
            </a:ext>
          </a:extLst>
        </p:cNvPr>
        <p:cNvGrpSpPr/>
        <p:nvPr/>
      </p:nvGrpSpPr>
      <p:grpSpPr>
        <a:xfrm>
          <a:off x="0" y="0"/>
          <a:ext cx="0" cy="0"/>
          <a:chOff x="0" y="0"/>
          <a:chExt cx="0" cy="0"/>
        </a:xfrm>
      </p:grpSpPr>
      <p:sp>
        <p:nvSpPr>
          <p:cNvPr id="10" name="Freeform: Shape 9">
            <a:extLst>
              <a:ext uri="{FF2B5EF4-FFF2-40B4-BE49-F238E27FC236}">
                <a16:creationId xmlns:a16="http://schemas.microsoft.com/office/drawing/2014/main" id="{54309F57-B331-41A7-9154-15EC2AF45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845162" cy="6858000"/>
          </a:xfrm>
          <a:custGeom>
            <a:avLst/>
            <a:gdLst>
              <a:gd name="connsiteX0" fmla="*/ 0 w 8845162"/>
              <a:gd name="connsiteY0" fmla="*/ 0 h 6858000"/>
              <a:gd name="connsiteX1" fmla="*/ 6265248 w 8845162"/>
              <a:gd name="connsiteY1" fmla="*/ 0 h 6858000"/>
              <a:gd name="connsiteX2" fmla="*/ 7537703 w 8845162"/>
              <a:gd name="connsiteY2" fmla="*/ 0 h 6858000"/>
              <a:gd name="connsiteX3" fmla="*/ 8845162 w 8845162"/>
              <a:gd name="connsiteY3" fmla="*/ 0 h 6858000"/>
              <a:gd name="connsiteX4" fmla="*/ 8845162 w 8845162"/>
              <a:gd name="connsiteY4" fmla="*/ 6858000 h 6858000"/>
              <a:gd name="connsiteX5" fmla="*/ 7537703 w 8845162"/>
              <a:gd name="connsiteY5" fmla="*/ 6858000 h 6858000"/>
              <a:gd name="connsiteX6" fmla="*/ 6265248 w 8845162"/>
              <a:gd name="connsiteY6" fmla="*/ 6858000 h 6858000"/>
              <a:gd name="connsiteX7" fmla="*/ 20957 w 8845162"/>
              <a:gd name="connsiteY7" fmla="*/ 6858000 h 6858000"/>
              <a:gd name="connsiteX8" fmla="*/ 46002 w 8845162"/>
              <a:gd name="connsiteY8" fmla="*/ 6702325 h 6858000"/>
              <a:gd name="connsiteX9" fmla="*/ 69870 w 8845162"/>
              <a:gd name="connsiteY9" fmla="*/ 6547334 h 6858000"/>
              <a:gd name="connsiteX10" fmla="*/ 93234 w 8845162"/>
              <a:gd name="connsiteY10" fmla="*/ 6391658 h 6858000"/>
              <a:gd name="connsiteX11" fmla="*/ 113237 w 8845162"/>
              <a:gd name="connsiteY11" fmla="*/ 6235295 h 6858000"/>
              <a:gd name="connsiteX12" fmla="*/ 133409 w 8845162"/>
              <a:gd name="connsiteY12" fmla="*/ 6079619 h 6858000"/>
              <a:gd name="connsiteX13" fmla="*/ 152234 w 8845162"/>
              <a:gd name="connsiteY13" fmla="*/ 5923256 h 6858000"/>
              <a:gd name="connsiteX14" fmla="*/ 168370 w 8845162"/>
              <a:gd name="connsiteY14" fmla="*/ 5768951 h 6858000"/>
              <a:gd name="connsiteX15" fmla="*/ 183667 w 8845162"/>
              <a:gd name="connsiteY15" fmla="*/ 5612589 h 6858000"/>
              <a:gd name="connsiteX16" fmla="*/ 197619 w 8845162"/>
              <a:gd name="connsiteY16" fmla="*/ 5456912 h 6858000"/>
              <a:gd name="connsiteX17" fmla="*/ 209720 w 8845162"/>
              <a:gd name="connsiteY17" fmla="*/ 5303979 h 6858000"/>
              <a:gd name="connsiteX18" fmla="*/ 221823 w 8845162"/>
              <a:gd name="connsiteY18" fmla="*/ 5148988 h 6858000"/>
              <a:gd name="connsiteX19" fmla="*/ 231908 w 8845162"/>
              <a:gd name="connsiteY19" fmla="*/ 4996055 h 6858000"/>
              <a:gd name="connsiteX20" fmla="*/ 239808 w 8845162"/>
              <a:gd name="connsiteY20" fmla="*/ 4843121 h 6858000"/>
              <a:gd name="connsiteX21" fmla="*/ 248045 w 8845162"/>
              <a:gd name="connsiteY21" fmla="*/ 4690874 h 6858000"/>
              <a:gd name="connsiteX22" fmla="*/ 254936 w 8845162"/>
              <a:gd name="connsiteY22" fmla="*/ 4539998 h 6858000"/>
              <a:gd name="connsiteX23" fmla="*/ 259811 w 8845162"/>
              <a:gd name="connsiteY23" fmla="*/ 4390493 h 6858000"/>
              <a:gd name="connsiteX24" fmla="*/ 264014 w 8845162"/>
              <a:gd name="connsiteY24" fmla="*/ 4240989 h 6858000"/>
              <a:gd name="connsiteX25" fmla="*/ 268047 w 8845162"/>
              <a:gd name="connsiteY25" fmla="*/ 4092856 h 6858000"/>
              <a:gd name="connsiteX26" fmla="*/ 269897 w 8845162"/>
              <a:gd name="connsiteY26" fmla="*/ 3946781 h 6858000"/>
              <a:gd name="connsiteX27" fmla="*/ 271913 w 8845162"/>
              <a:gd name="connsiteY27" fmla="*/ 3800705 h 6858000"/>
              <a:gd name="connsiteX28" fmla="*/ 272922 w 8845162"/>
              <a:gd name="connsiteY28" fmla="*/ 3656687 h 6858000"/>
              <a:gd name="connsiteX29" fmla="*/ 271913 w 8845162"/>
              <a:gd name="connsiteY29" fmla="*/ 3514041 h 6858000"/>
              <a:gd name="connsiteX30" fmla="*/ 271913 w 8845162"/>
              <a:gd name="connsiteY30" fmla="*/ 3372766 h 6858000"/>
              <a:gd name="connsiteX31" fmla="*/ 269897 w 8845162"/>
              <a:gd name="connsiteY31" fmla="*/ 3232863 h 6858000"/>
              <a:gd name="connsiteX32" fmla="*/ 266871 w 8845162"/>
              <a:gd name="connsiteY32" fmla="*/ 3095703 h 6858000"/>
              <a:gd name="connsiteX33" fmla="*/ 264014 w 8845162"/>
              <a:gd name="connsiteY33" fmla="*/ 2959915 h 6858000"/>
              <a:gd name="connsiteX34" fmla="*/ 260820 w 8845162"/>
              <a:gd name="connsiteY34" fmla="*/ 2826869 h 6858000"/>
              <a:gd name="connsiteX35" fmla="*/ 255946 w 8845162"/>
              <a:gd name="connsiteY35" fmla="*/ 2694510 h 6858000"/>
              <a:gd name="connsiteX36" fmla="*/ 250734 w 8845162"/>
              <a:gd name="connsiteY36" fmla="*/ 2564209 h 6858000"/>
              <a:gd name="connsiteX37" fmla="*/ 246028 w 8845162"/>
              <a:gd name="connsiteY37" fmla="*/ 2436650 h 6858000"/>
              <a:gd name="connsiteX38" fmla="*/ 232749 w 8845162"/>
              <a:gd name="connsiteY38" fmla="*/ 2187704 h 6858000"/>
              <a:gd name="connsiteX39" fmla="*/ 218630 w 8845162"/>
              <a:gd name="connsiteY39" fmla="*/ 1949046 h 6858000"/>
              <a:gd name="connsiteX40" fmla="*/ 203837 w 8845162"/>
              <a:gd name="connsiteY40" fmla="*/ 1719989 h 6858000"/>
              <a:gd name="connsiteX41" fmla="*/ 187532 w 8845162"/>
              <a:gd name="connsiteY41" fmla="*/ 1503276 h 6858000"/>
              <a:gd name="connsiteX42" fmla="*/ 170555 w 8845162"/>
              <a:gd name="connsiteY42" fmla="*/ 1296164 h 6858000"/>
              <a:gd name="connsiteX43" fmla="*/ 152234 w 8845162"/>
              <a:gd name="connsiteY43" fmla="*/ 1104140 h 6858000"/>
              <a:gd name="connsiteX44" fmla="*/ 134248 w 8845162"/>
              <a:gd name="connsiteY44" fmla="*/ 923775 h 6858000"/>
              <a:gd name="connsiteX45" fmla="*/ 116263 w 8845162"/>
              <a:gd name="connsiteY45" fmla="*/ 757811 h 6858000"/>
              <a:gd name="connsiteX46" fmla="*/ 99286 w 8845162"/>
              <a:gd name="connsiteY46" fmla="*/ 605564 h 6858000"/>
              <a:gd name="connsiteX47" fmla="*/ 83149 w 8845162"/>
              <a:gd name="connsiteY47" fmla="*/ 470461 h 6858000"/>
              <a:gd name="connsiteX48" fmla="*/ 67853 w 8845162"/>
              <a:gd name="connsiteY48" fmla="*/ 348389 h 6858000"/>
              <a:gd name="connsiteX49" fmla="*/ 55078 w 8845162"/>
              <a:gd name="connsiteY49" fmla="*/ 245519 h 6858000"/>
              <a:gd name="connsiteX50" fmla="*/ 42976 w 8845162"/>
              <a:gd name="connsiteY50" fmla="*/ 159108 h 6858000"/>
              <a:gd name="connsiteX51" fmla="*/ 25662 w 8845162"/>
              <a:gd name="connsiteY51" fmla="*/ 40464 h 6858000"/>
              <a:gd name="connsiteX52" fmla="*/ 19779 w 8845162"/>
              <a:gd name="connsiteY52" fmla="*/ 2 h 6858000"/>
              <a:gd name="connsiteX53" fmla="*/ 26532 w 8845162"/>
              <a:gd name="connsiteY53" fmla="*/ 2 h 6858000"/>
              <a:gd name="connsiteX54" fmla="*/ 26532 w 8845162"/>
              <a:gd name="connsiteY54" fmla="*/ 1 h 6858000"/>
              <a:gd name="connsiteX55" fmla="*/ 0 w 8845162"/>
              <a:gd name="connsiteY5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8845162" h="6858000">
                <a:moveTo>
                  <a:pt x="0" y="0"/>
                </a:moveTo>
                <a:lnTo>
                  <a:pt x="6265248" y="0"/>
                </a:lnTo>
                <a:lnTo>
                  <a:pt x="7537703" y="0"/>
                </a:lnTo>
                <a:lnTo>
                  <a:pt x="8845162" y="0"/>
                </a:lnTo>
                <a:lnTo>
                  <a:pt x="8845162" y="6858000"/>
                </a:lnTo>
                <a:lnTo>
                  <a:pt x="7537703" y="6858000"/>
                </a:lnTo>
                <a:lnTo>
                  <a:pt x="6265248" y="6858000"/>
                </a:lnTo>
                <a:lnTo>
                  <a:pt x="20957" y="6858000"/>
                </a:lnTo>
                <a:lnTo>
                  <a:pt x="46002" y="6702325"/>
                </a:lnTo>
                <a:lnTo>
                  <a:pt x="69870" y="6547334"/>
                </a:lnTo>
                <a:lnTo>
                  <a:pt x="93234" y="6391658"/>
                </a:lnTo>
                <a:lnTo>
                  <a:pt x="113237" y="6235295"/>
                </a:lnTo>
                <a:lnTo>
                  <a:pt x="133409" y="6079619"/>
                </a:lnTo>
                <a:lnTo>
                  <a:pt x="152234" y="5923256"/>
                </a:lnTo>
                <a:lnTo>
                  <a:pt x="168370" y="5768951"/>
                </a:lnTo>
                <a:lnTo>
                  <a:pt x="183667" y="5612589"/>
                </a:lnTo>
                <a:lnTo>
                  <a:pt x="197619" y="5456912"/>
                </a:lnTo>
                <a:lnTo>
                  <a:pt x="209720" y="5303979"/>
                </a:lnTo>
                <a:lnTo>
                  <a:pt x="221823" y="5148988"/>
                </a:lnTo>
                <a:lnTo>
                  <a:pt x="231908" y="4996055"/>
                </a:lnTo>
                <a:lnTo>
                  <a:pt x="239808" y="4843121"/>
                </a:lnTo>
                <a:lnTo>
                  <a:pt x="248045" y="4690874"/>
                </a:lnTo>
                <a:lnTo>
                  <a:pt x="254936" y="4539998"/>
                </a:lnTo>
                <a:lnTo>
                  <a:pt x="259811" y="4390493"/>
                </a:lnTo>
                <a:lnTo>
                  <a:pt x="264014" y="4240989"/>
                </a:lnTo>
                <a:lnTo>
                  <a:pt x="268047" y="4092856"/>
                </a:lnTo>
                <a:lnTo>
                  <a:pt x="269897" y="3946781"/>
                </a:lnTo>
                <a:lnTo>
                  <a:pt x="271913" y="3800705"/>
                </a:lnTo>
                <a:lnTo>
                  <a:pt x="272922" y="3656687"/>
                </a:lnTo>
                <a:lnTo>
                  <a:pt x="271913" y="3514041"/>
                </a:lnTo>
                <a:lnTo>
                  <a:pt x="271913" y="3372766"/>
                </a:lnTo>
                <a:lnTo>
                  <a:pt x="269897" y="3232863"/>
                </a:lnTo>
                <a:lnTo>
                  <a:pt x="266871" y="3095703"/>
                </a:lnTo>
                <a:lnTo>
                  <a:pt x="264014" y="2959915"/>
                </a:lnTo>
                <a:lnTo>
                  <a:pt x="260820" y="2826869"/>
                </a:lnTo>
                <a:lnTo>
                  <a:pt x="255946" y="2694510"/>
                </a:lnTo>
                <a:lnTo>
                  <a:pt x="250734" y="2564209"/>
                </a:lnTo>
                <a:lnTo>
                  <a:pt x="246028" y="2436650"/>
                </a:lnTo>
                <a:lnTo>
                  <a:pt x="232749" y="2187704"/>
                </a:lnTo>
                <a:lnTo>
                  <a:pt x="218630" y="1949046"/>
                </a:lnTo>
                <a:lnTo>
                  <a:pt x="203837" y="1719989"/>
                </a:lnTo>
                <a:lnTo>
                  <a:pt x="187532" y="1503276"/>
                </a:lnTo>
                <a:lnTo>
                  <a:pt x="170555" y="1296164"/>
                </a:lnTo>
                <a:lnTo>
                  <a:pt x="152234" y="1104140"/>
                </a:lnTo>
                <a:lnTo>
                  <a:pt x="134248" y="923775"/>
                </a:lnTo>
                <a:lnTo>
                  <a:pt x="116263" y="757811"/>
                </a:lnTo>
                <a:lnTo>
                  <a:pt x="99286" y="605564"/>
                </a:lnTo>
                <a:lnTo>
                  <a:pt x="83149" y="470461"/>
                </a:lnTo>
                <a:lnTo>
                  <a:pt x="67853" y="348389"/>
                </a:lnTo>
                <a:lnTo>
                  <a:pt x="55078" y="245519"/>
                </a:lnTo>
                <a:lnTo>
                  <a:pt x="42976" y="159108"/>
                </a:lnTo>
                <a:lnTo>
                  <a:pt x="25662" y="40464"/>
                </a:lnTo>
                <a:lnTo>
                  <a:pt x="19779" y="2"/>
                </a:lnTo>
                <a:lnTo>
                  <a:pt x="26532" y="2"/>
                </a:lnTo>
                <a:lnTo>
                  <a:pt x="26532" y="1"/>
                </a:lnTo>
                <a:lnTo>
                  <a:pt x="0" y="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48C054-7A46-17D3-2BC7-3E0E445F564D}"/>
              </a:ext>
            </a:extLst>
          </p:cNvPr>
          <p:cNvSpPr>
            <a:spLocks noGrp="1"/>
          </p:cNvSpPr>
          <p:nvPr>
            <p:ph type="title"/>
          </p:nvPr>
        </p:nvSpPr>
        <p:spPr>
          <a:xfrm>
            <a:off x="381001" y="165463"/>
            <a:ext cx="7402285" cy="1360714"/>
          </a:xfrm>
        </p:spPr>
        <p:txBody>
          <a:bodyPr vert="horz" lIns="91440" tIns="45720" rIns="91440" bIns="45720" rtlCol="0" anchor="ctr">
            <a:normAutofit/>
          </a:bodyPr>
          <a:lstStyle/>
          <a:p>
            <a:r>
              <a:rPr lang="en-US" dirty="0">
                <a:latin typeface="Times New Roman" panose="02020603050405020304" pitchFamily="18" charset="0"/>
                <a:cs typeface="Times New Roman" panose="02020603050405020304" pitchFamily="18" charset="0"/>
              </a:rPr>
              <a:t>So </a:t>
            </a:r>
            <a:r>
              <a:rPr lang="en-US" dirty="0" err="1">
                <a:latin typeface="Times New Roman" panose="02020603050405020304" pitchFamily="18" charset="0"/>
                <a:cs typeface="Times New Roman" panose="02020603050405020304" pitchFamily="18" charset="0"/>
              </a:rPr>
              <a:t>sánh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ban </a:t>
            </a:r>
            <a:r>
              <a:rPr lang="en-US" dirty="0" err="1">
                <a:latin typeface="Times New Roman" panose="02020603050405020304" pitchFamily="18" charset="0"/>
                <a:cs typeface="Times New Roman" panose="02020603050405020304" pitchFamily="18" charset="0"/>
              </a:rPr>
              <a:t>đầu</a:t>
            </a:r>
            <a:r>
              <a:rPr lang="en-US" dirty="0">
                <a:latin typeface="Times New Roman" panose="02020603050405020304" pitchFamily="18" charset="0"/>
                <a:cs typeface="Times New Roman" panose="02020603050405020304" pitchFamily="18" charset="0"/>
              </a:rPr>
              <a:t>:</a:t>
            </a:r>
          </a:p>
        </p:txBody>
      </p:sp>
      <p:sp>
        <p:nvSpPr>
          <p:cNvPr id="5" name="Content Placeholder 2">
            <a:extLst>
              <a:ext uri="{FF2B5EF4-FFF2-40B4-BE49-F238E27FC236}">
                <a16:creationId xmlns:a16="http://schemas.microsoft.com/office/drawing/2014/main" id="{031BFAA8-59F5-5432-A611-9CF139A07629}"/>
              </a:ext>
            </a:extLst>
          </p:cNvPr>
          <p:cNvSpPr txBox="1">
            <a:spLocks/>
          </p:cNvSpPr>
          <p:nvPr/>
        </p:nvSpPr>
        <p:spPr>
          <a:xfrm>
            <a:off x="381001" y="2217057"/>
            <a:ext cx="8159361" cy="3392110"/>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fontAlgn="base">
              <a:lnSpc>
                <a:spcPct val="90000"/>
              </a:lnSpc>
              <a:buNone/>
            </a:pPr>
            <a:r>
              <a:rPr lang="en-US" altLang="vi-VN" sz="1700" b="1" dirty="0">
                <a:latin typeface="Times New Roman" panose="02020603050405020304" pitchFamily="18" charset="0"/>
                <a:cs typeface="Times New Roman" panose="02020603050405020304" pitchFamily="18" charset="0"/>
              </a:rPr>
              <a:t>Phạm vi </a:t>
            </a:r>
            <a:r>
              <a:rPr lang="en-US" altLang="vi-VN" sz="1700" b="1" dirty="0" err="1">
                <a:latin typeface="Times New Roman" panose="02020603050405020304" pitchFamily="18" charset="0"/>
                <a:cs typeface="Times New Roman" panose="02020603050405020304" pitchFamily="18" charset="0"/>
              </a:rPr>
              <a:t>và</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tính</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năng</a:t>
            </a:r>
            <a:r>
              <a:rPr lang="en-US" altLang="vi-VN" sz="1700" b="1" dirty="0">
                <a:latin typeface="Times New Roman" panose="02020603050405020304" pitchFamily="18" charset="0"/>
                <a:cs typeface="Times New Roman" panose="02020603050405020304" pitchFamily="18" charset="0"/>
              </a:rPr>
              <a:t>:</a:t>
            </a:r>
            <a:endParaRPr lang="en-US" altLang="vi-VN" sz="1700" dirty="0">
              <a:latin typeface="Times New Roman" panose="02020603050405020304" pitchFamily="18" charset="0"/>
              <a:cs typeface="Times New Roman" panose="02020603050405020304" pitchFamily="18" charset="0"/>
            </a:endParaRPr>
          </a:p>
          <a:p>
            <a:pPr lvl="1" fontAlgn="base">
              <a:lnSpc>
                <a:spcPct val="90000"/>
              </a:lnSpc>
            </a:pPr>
            <a:r>
              <a:rPr lang="en-US" altLang="vi-VN" sz="1700" b="1" dirty="0" err="1">
                <a:latin typeface="Times New Roman" panose="02020603050405020304" pitchFamily="18" charset="0"/>
                <a:cs typeface="Times New Roman" panose="02020603050405020304" pitchFamily="18" charset="0"/>
              </a:rPr>
              <a:t>Thiết</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kế</a:t>
            </a:r>
            <a:r>
              <a:rPr lang="en-US" altLang="vi-VN" sz="1700" b="1" dirty="0">
                <a:latin typeface="Times New Roman" panose="02020603050405020304" pitchFamily="18" charset="0"/>
                <a:cs typeface="Times New Roman" panose="02020603050405020304" pitchFamily="18" charset="0"/>
              </a:rPr>
              <a:t> ban </a:t>
            </a:r>
            <a:r>
              <a:rPr lang="en-US" altLang="vi-VN" sz="1700" b="1" dirty="0" err="1">
                <a:latin typeface="Times New Roman" panose="02020603050405020304" pitchFamily="18" charset="0"/>
                <a:cs typeface="Times New Roman" panose="02020603050405020304" pitchFamily="18" charset="0"/>
              </a:rPr>
              <a:t>đầu</a:t>
            </a:r>
            <a:r>
              <a:rPr lang="en-US" altLang="vi-VN" sz="1700" b="1" dirty="0">
                <a:latin typeface="Times New Roman" panose="02020603050405020304" pitchFamily="18" charset="0"/>
                <a:cs typeface="Times New Roman" panose="02020603050405020304" pitchFamily="18" charset="0"/>
              </a:rPr>
              <a: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Đề</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xuất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một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loạt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các</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tính</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năng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cốt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lõi</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của</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ứng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dụng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nghe</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nhạc</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thực</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tế</a:t>
            </a:r>
            <a:r>
              <a:rPr lang="en-US" altLang="vi-VN" sz="1700" dirty="0">
                <a:latin typeface="Times New Roman" panose="02020603050405020304" pitchFamily="18" charset="0"/>
                <a:cs typeface="Times New Roman" panose="02020603050405020304" pitchFamily="18" charset="0"/>
              </a:rPr>
              <a:t>.   </a:t>
            </a:r>
          </a:p>
          <a:p>
            <a:pPr lvl="1" fontAlgn="base">
              <a:lnSpc>
                <a:spcPct val="90000"/>
              </a:lnSpc>
            </a:pPr>
            <a:r>
              <a:rPr lang="en-US" altLang="vi-VN" sz="1700" b="1" dirty="0" err="1">
                <a:latin typeface="Times New Roman" panose="02020603050405020304" pitchFamily="18" charset="0"/>
                <a:cs typeface="Times New Roman" panose="02020603050405020304" pitchFamily="18" charset="0"/>
              </a:rPr>
              <a:t>Ứng</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dụng</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hoàn</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thiện</a:t>
            </a:r>
            <a:r>
              <a:rPr lang="en-US" altLang="vi-VN" sz="1700" b="1" dirty="0">
                <a:latin typeface="Times New Roman" panose="02020603050405020304" pitchFamily="18" charset="0"/>
                <a:cs typeface="Times New Roman" panose="02020603050405020304" pitchFamily="18" charset="0"/>
              </a:rPr>
              <a: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Sẽ</a:t>
            </a:r>
            <a:r>
              <a:rPr lang="en-US" altLang="vi-VN" sz="1700" dirty="0">
                <a:latin typeface="Times New Roman" panose="02020603050405020304" pitchFamily="18" charset="0"/>
                <a:cs typeface="Times New Roman" panose="02020603050405020304" pitchFamily="18" charset="0"/>
              </a:rPr>
              <a:t> bao </a:t>
            </a:r>
            <a:r>
              <a:rPr lang="en-US" altLang="vi-VN" sz="1700" dirty="0" err="1">
                <a:latin typeface="Times New Roman" panose="02020603050405020304" pitchFamily="18" charset="0"/>
                <a:cs typeface="Times New Roman" panose="02020603050405020304" pitchFamily="18" charset="0"/>
              </a:rPr>
              <a:t>gồm</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đầy</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đủ</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các</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tính</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năng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đã</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được</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lên</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kế</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hoạch</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như</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xác</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thực</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người</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dùng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phát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nhạc</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quản</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lý</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danh</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sách</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phát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thư</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viện</a:t>
            </a:r>
            <a:r>
              <a:rPr lang="en-US" altLang="vi-VN" sz="1700" dirty="0">
                <a:latin typeface="Times New Roman" panose="02020603050405020304" pitchFamily="18" charset="0"/>
                <a:cs typeface="Times New Roman" panose="02020603050405020304" pitchFamily="18" charset="0"/>
              </a:rPr>
              <a:t> &amp; </a:t>
            </a:r>
            <a:r>
              <a:rPr lang="en-US" altLang="vi-VN" sz="1700" dirty="0" err="1">
                <a:latin typeface="Times New Roman" panose="02020603050405020304" pitchFamily="18" charset="0"/>
                <a:cs typeface="Times New Roman" panose="02020603050405020304" pitchFamily="18" charset="0"/>
              </a:rPr>
              <a:t>yêu</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thích</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tính</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năng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xã</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hội</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quản</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lý</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gói</a:t>
            </a:r>
            <a:r>
              <a:rPr lang="en-US" altLang="vi-VN" sz="1700" dirty="0">
                <a:latin typeface="Times New Roman" panose="02020603050405020304" pitchFamily="18" charset="0"/>
                <a:cs typeface="Times New Roman" panose="02020603050405020304" pitchFamily="18" charset="0"/>
              </a:rPr>
              <a:t> Premium, </a:t>
            </a:r>
            <a:r>
              <a:rPr lang="en-US" altLang="vi-VN" sz="1700" dirty="0" err="1">
                <a:latin typeface="Times New Roman" panose="02020603050405020304" pitchFamily="18" charset="0"/>
                <a:cs typeface="Times New Roman" panose="02020603050405020304" pitchFamily="18" charset="0"/>
              </a:rPr>
              <a:t>và</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có</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thể</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cả</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các</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tính</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năng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quản</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trị</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Mọi</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tính</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năng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này</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sẽ</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được</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tích</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hợp</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một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cách</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mượt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mà</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đúng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với</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tầm</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nhìn</a:t>
            </a:r>
            <a:r>
              <a:rPr lang="en-US" altLang="vi-VN" sz="1700" dirty="0">
                <a:latin typeface="Times New Roman" panose="02020603050405020304" pitchFamily="18" charset="0"/>
                <a:cs typeface="Times New Roman" panose="02020603050405020304" pitchFamily="18" charset="0"/>
              </a:rPr>
              <a:t> ban </a:t>
            </a:r>
            <a:r>
              <a:rPr lang="en-US" altLang="vi-VN" sz="1700" dirty="0" err="1">
                <a:latin typeface="Times New Roman" panose="02020603050405020304" pitchFamily="18" charset="0"/>
                <a:cs typeface="Times New Roman" panose="02020603050405020304" pitchFamily="18" charset="0"/>
              </a:rPr>
              <a:t>đầu</a:t>
            </a:r>
            <a:r>
              <a:rPr lang="en-US" altLang="vi-VN" sz="1700" dirty="0">
                <a:latin typeface="Times New Roman" panose="02020603050405020304" pitchFamily="18" charset="0"/>
                <a:cs typeface="Times New Roman" panose="02020603050405020304" pitchFamily="18" charset="0"/>
              </a:rPr>
              <a:t>. </a:t>
            </a:r>
          </a:p>
          <a:p>
            <a:pPr marL="0" indent="0" fontAlgn="base">
              <a:lnSpc>
                <a:spcPct val="90000"/>
              </a:lnSpc>
              <a:buNone/>
            </a:pPr>
            <a:r>
              <a:rPr lang="en-US" altLang="vi-VN" sz="1700" b="1" dirty="0">
                <a:latin typeface="Times New Roman" panose="02020603050405020304" pitchFamily="18" charset="0"/>
                <a:cs typeface="Times New Roman" panose="02020603050405020304" pitchFamily="18" charset="0"/>
              </a:rPr>
              <a:t>Hiệu </a:t>
            </a:r>
            <a:r>
              <a:rPr lang="en-US" altLang="vi-VN" sz="1700" b="1" dirty="0" err="1">
                <a:latin typeface="Times New Roman" panose="02020603050405020304" pitchFamily="18" charset="0"/>
                <a:cs typeface="Times New Roman" panose="02020603050405020304" pitchFamily="18" charset="0"/>
              </a:rPr>
              <a:t>năng</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và</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khả</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năng</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mở</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rộng</a:t>
            </a:r>
            <a:r>
              <a:rPr lang="en-US" altLang="vi-VN" sz="1700" b="1" dirty="0">
                <a:latin typeface="Times New Roman" panose="02020603050405020304" pitchFamily="18" charset="0"/>
                <a:cs typeface="Times New Roman" panose="02020603050405020304" pitchFamily="18" charset="0"/>
              </a:rPr>
              <a:t>:</a:t>
            </a:r>
            <a:endParaRPr lang="en-US" altLang="vi-VN" sz="1700" dirty="0">
              <a:latin typeface="Times New Roman" panose="02020603050405020304" pitchFamily="18" charset="0"/>
              <a:cs typeface="Times New Roman" panose="02020603050405020304" pitchFamily="18" charset="0"/>
            </a:endParaRPr>
          </a:p>
          <a:p>
            <a:pPr lvl="1" fontAlgn="base">
              <a:lnSpc>
                <a:spcPct val="90000"/>
              </a:lnSpc>
            </a:pPr>
            <a:r>
              <a:rPr lang="en-US" altLang="vi-VN" sz="1700" b="1" dirty="0" err="1">
                <a:latin typeface="Times New Roman" panose="02020603050405020304" pitchFamily="18" charset="0"/>
                <a:cs typeface="Times New Roman" panose="02020603050405020304" pitchFamily="18" charset="0"/>
              </a:rPr>
              <a:t>Thiết</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kế</a:t>
            </a:r>
            <a:r>
              <a:rPr lang="en-US" altLang="vi-VN" sz="1700" b="1" dirty="0">
                <a:latin typeface="Times New Roman" panose="02020603050405020304" pitchFamily="18" charset="0"/>
                <a:cs typeface="Times New Roman" panose="02020603050405020304" pitchFamily="18" charset="0"/>
              </a:rPr>
              <a:t> ban </a:t>
            </a:r>
            <a:r>
              <a:rPr lang="en-US" altLang="vi-VN" sz="1700" b="1" dirty="0" err="1">
                <a:latin typeface="Times New Roman" panose="02020603050405020304" pitchFamily="18" charset="0"/>
                <a:cs typeface="Times New Roman" panose="02020603050405020304" pitchFamily="18" charset="0"/>
              </a:rPr>
              <a:t>đầu</a:t>
            </a:r>
            <a:r>
              <a:rPr lang="en-US" altLang="vi-VN" sz="1700" b="1" dirty="0">
                <a:latin typeface="Times New Roman" panose="02020603050405020304" pitchFamily="18" charset="0"/>
                <a:cs typeface="Times New Roman" panose="02020603050405020304" pitchFamily="18" charset="0"/>
              </a:rPr>
              <a: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Hướng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đến</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việc</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tối</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ưu</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hiệu</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năng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và</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trải</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nghiệm</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người</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dùng</a:t>
            </a:r>
            <a:r>
              <a:rPr lang="en-US" altLang="vi-VN" sz="1700" dirty="0">
                <a:latin typeface="Times New Roman" panose="02020603050405020304" pitchFamily="18" charset="0"/>
                <a:cs typeface="Times New Roman" panose="02020603050405020304" pitchFamily="18" charset="0"/>
              </a:rPr>
              <a:t>.   </a:t>
            </a:r>
          </a:p>
          <a:p>
            <a:pPr lvl="1" fontAlgn="base">
              <a:lnSpc>
                <a:spcPct val="90000"/>
              </a:lnSpc>
            </a:pPr>
            <a:r>
              <a:rPr lang="en-US" altLang="vi-VN" sz="1700" b="1" dirty="0" err="1">
                <a:latin typeface="Times New Roman" panose="02020603050405020304" pitchFamily="18" charset="0"/>
                <a:cs typeface="Times New Roman" panose="02020603050405020304" pitchFamily="18" charset="0"/>
              </a:rPr>
              <a:t>Ứng</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dụng</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hoàn</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thiện</a:t>
            </a:r>
            <a:r>
              <a:rPr lang="en-US" altLang="vi-VN" sz="1700" b="1" dirty="0">
                <a:latin typeface="Times New Roman" panose="02020603050405020304" pitchFamily="18" charset="0"/>
                <a:cs typeface="Times New Roman" panose="02020603050405020304" pitchFamily="18" charset="0"/>
              </a:rPr>
              <a: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Nhờ</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việc</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áp</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dụng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kiến</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trúc</a:t>
            </a:r>
            <a:r>
              <a:rPr lang="en-US" altLang="vi-VN" sz="1700" dirty="0">
                <a:latin typeface="Times New Roman" panose="02020603050405020304" pitchFamily="18" charset="0"/>
                <a:cs typeface="Times New Roman" panose="02020603050405020304" pitchFamily="18" charset="0"/>
              </a:rPr>
              <a:t> </a:t>
            </a:r>
            <a:r>
              <a:rPr lang="en-US" altLang="vi-VN" sz="1700" b="1" dirty="0">
                <a:latin typeface="Times New Roman" panose="02020603050405020304" pitchFamily="18" charset="0"/>
                <a:cs typeface="Times New Roman" panose="02020603050405020304" pitchFamily="18" charset="0"/>
              </a:rPr>
              <a:t>MVVM</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và</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tuân</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thủ</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chặt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chẽ</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các</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nguyên</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tắc</a:t>
            </a:r>
            <a:r>
              <a:rPr lang="en-US" altLang="vi-VN" sz="1700" dirty="0">
                <a:latin typeface="Times New Roman" panose="02020603050405020304" pitchFamily="18" charset="0"/>
                <a:cs typeface="Times New Roman" panose="02020603050405020304" pitchFamily="18" charset="0"/>
              </a:rPr>
              <a:t> </a:t>
            </a:r>
            <a:r>
              <a:rPr lang="en-US" altLang="vi-VN" sz="1700" b="1" dirty="0">
                <a:latin typeface="Times New Roman" panose="02020603050405020304" pitchFamily="18" charset="0"/>
                <a:cs typeface="Times New Roman" panose="02020603050405020304" pitchFamily="18" charset="0"/>
              </a:rPr>
              <a:t>OOP (</a:t>
            </a:r>
            <a:r>
              <a:rPr lang="en-US" altLang="vi-VN" sz="1700" b="1" dirty="0" err="1">
                <a:latin typeface="Times New Roman" panose="02020603050405020304" pitchFamily="18" charset="0"/>
                <a:cs typeface="Times New Roman" panose="02020603050405020304" pitchFamily="18" charset="0"/>
              </a:rPr>
              <a:t>đóng</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gói</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kế</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thừa</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đa</a:t>
            </a:r>
            <a:r>
              <a:rPr lang="en-US" altLang="vi-VN" sz="1700" b="1" dirty="0">
                <a:latin typeface="Times New Roman" panose="02020603050405020304" pitchFamily="18" charset="0"/>
                <a:cs typeface="Times New Roman" panose="02020603050405020304" pitchFamily="18" charset="0"/>
              </a:rPr>
              <a:t> </a:t>
            </a:r>
            <a:r>
              <a:rPr lang="en-US" altLang="vi-VN" sz="1700" b="1" dirty="0" err="1">
                <a:latin typeface="Times New Roman" panose="02020603050405020304" pitchFamily="18" charset="0"/>
                <a:cs typeface="Times New Roman" panose="02020603050405020304" pitchFamily="18" charset="0"/>
              </a:rPr>
              <a:t>hình</a:t>
            </a:r>
            <a:r>
              <a:rPr lang="en-US" altLang="vi-VN" sz="1700" b="1" dirty="0">
                <a:latin typeface="Times New Roman" panose="02020603050405020304" pitchFamily="18" charset="0"/>
                <a:cs typeface="Times New Roman" panose="02020603050405020304" pitchFamily="18" charset="0"/>
              </a:rPr>
              <a: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ứng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dụng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sẽ</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không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chỉ</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đáp</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ứng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yêu</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cầu</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về</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giao</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diện</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mà</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còn</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đảm</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bảo</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hiệu</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năng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tốt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dễ</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dàng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bảo</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trì</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tái</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sử</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dụng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và</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mở</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rộng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các</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tính</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năng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trong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tương</a:t>
            </a:r>
            <a:r>
              <a:rPr lang="en-US" altLang="vi-VN" sz="1700" dirty="0">
                <a:latin typeface="Times New Roman" panose="02020603050405020304" pitchFamily="18" charset="0"/>
                <a:cs typeface="Times New Roman" panose="02020603050405020304" pitchFamily="18" charset="0"/>
              </a:rPr>
              <a:t> lai. </a:t>
            </a:r>
            <a:r>
              <a:rPr lang="en-US" altLang="vi-VN" sz="1700" dirty="0" err="1">
                <a:latin typeface="Times New Roman" panose="02020603050405020304" pitchFamily="18" charset="0"/>
                <a:cs typeface="Times New Roman" panose="02020603050405020304" pitchFamily="18" charset="0"/>
              </a:rPr>
              <a:t>Đây</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là</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điểm</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khác</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biệt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quan</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trọng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khi</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cấu</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trúc</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kỹ</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thuật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sẽ</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biến</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bản</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thiết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kế</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thành</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một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sản</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phẩm</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hoạt</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động</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hiệu</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quả</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và</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bền</a:t>
            </a:r>
            <a:r>
              <a:rPr lang="en-US" altLang="vi-VN" sz="1700" dirty="0">
                <a:latin typeface="Times New Roman" panose="02020603050405020304" pitchFamily="18" charset="0"/>
                <a:cs typeface="Times New Roman" panose="02020603050405020304" pitchFamily="18" charset="0"/>
              </a:rPr>
              <a:t> </a:t>
            </a:r>
            <a:r>
              <a:rPr lang="en-US" altLang="vi-VN" sz="1700" dirty="0" err="1">
                <a:latin typeface="Times New Roman" panose="02020603050405020304" pitchFamily="18" charset="0"/>
                <a:cs typeface="Times New Roman" panose="02020603050405020304" pitchFamily="18" charset="0"/>
              </a:rPr>
              <a:t>vững</a:t>
            </a:r>
            <a:r>
              <a:rPr lang="en-US" altLang="vi-VN" sz="1700" dirty="0">
                <a:latin typeface="Times New Roman" panose="02020603050405020304" pitchFamily="18" charset="0"/>
                <a:cs typeface="Times New Roman" panose="02020603050405020304" pitchFamily="18" charset="0"/>
              </a:rPr>
              <a:t>.   </a:t>
            </a:r>
          </a:p>
          <a:p>
            <a:pPr>
              <a:lnSpc>
                <a:spcPct val="90000"/>
              </a:lnSpc>
            </a:pP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28709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69" name="Picture 2068">
            <a:extLst>
              <a:ext uri="{FF2B5EF4-FFF2-40B4-BE49-F238E27FC236}">
                <a16:creationId xmlns:a16="http://schemas.microsoft.com/office/drawing/2014/main" id="{5C819037-A607-4A7B-ADF1-B04516199C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068" name="Rectangle 2067">
            <a:extLst>
              <a:ext uri="{FF2B5EF4-FFF2-40B4-BE49-F238E27FC236}">
                <a16:creationId xmlns:a16="http://schemas.microsoft.com/office/drawing/2014/main" id="{F8C668FA-2417-47B5-B454-2D55FC17FF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2070" name="Picture 2069">
            <a:extLst>
              <a:ext uri="{FF2B5EF4-FFF2-40B4-BE49-F238E27FC236}">
                <a16:creationId xmlns:a16="http://schemas.microsoft.com/office/drawing/2014/main" id="{97FEBA57-8992-46BB-BCF0-5A83FE8E01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072" name="Rectangle 2071">
            <a:extLst>
              <a:ext uri="{FF2B5EF4-FFF2-40B4-BE49-F238E27FC236}">
                <a16:creationId xmlns:a16="http://schemas.microsoft.com/office/drawing/2014/main" id="{2B4CDDF6-55C3-415A-8D8B-7E03C3D616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image">
            <a:extLst>
              <a:ext uri="{FF2B5EF4-FFF2-40B4-BE49-F238E27FC236}">
                <a16:creationId xmlns:a16="http://schemas.microsoft.com/office/drawing/2014/main" id="{43BA29FD-72DE-B5A9-C90C-33DBE219432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736" r="544"/>
          <a:stretch>
            <a:fillRect/>
          </a:stretch>
        </p:blipFill>
        <p:spPr bwMode="auto">
          <a:xfrm>
            <a:off x="795569" y="2090057"/>
            <a:ext cx="10528923" cy="2844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3729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BEA9AF1-EF35-4EC4-862B-93C14919B5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Rectangle 11">
            <a:extLst>
              <a:ext uri="{FF2B5EF4-FFF2-40B4-BE49-F238E27FC236}">
                <a16:creationId xmlns:a16="http://schemas.microsoft.com/office/drawing/2014/main" id="{72FB946D-2326-449B-B771-9EDB01C8D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9224A0EC-9334-468D-849F-BF1FF8C6FF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6" name="Rectangle 15">
            <a:extLst>
              <a:ext uri="{FF2B5EF4-FFF2-40B4-BE49-F238E27FC236}">
                <a16:creationId xmlns:a16="http://schemas.microsoft.com/office/drawing/2014/main" id="{0EFFC263-7EB0-4842-BE9B-3176A41A7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85BB900-57A4-09CD-03B2-FF78BA468FF9}"/>
              </a:ext>
            </a:extLst>
          </p:cNvPr>
          <p:cNvPicPr>
            <a:picLocks noChangeAspect="1"/>
          </p:cNvPicPr>
          <p:nvPr/>
        </p:nvPicPr>
        <p:blipFill>
          <a:blip r:embed="rId3"/>
          <a:srcRect r="1" b="7536"/>
          <a:stretch>
            <a:fillRect/>
          </a:stretch>
        </p:blipFill>
        <p:spPr>
          <a:xfrm>
            <a:off x="643467" y="643467"/>
            <a:ext cx="10905066" cy="5571066"/>
          </a:xfrm>
          <a:prstGeom prst="rect">
            <a:avLst/>
          </a:prstGeom>
        </p:spPr>
      </p:pic>
    </p:spTree>
    <p:extLst>
      <p:ext uri="{BB962C8B-B14F-4D97-AF65-F5344CB8AC3E}">
        <p14:creationId xmlns:p14="http://schemas.microsoft.com/office/powerpoint/2010/main" val="40422354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C819037-A607-4A7B-ADF1-B04516199C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4" name="Freeform: Shape 13">
            <a:extLst>
              <a:ext uri="{FF2B5EF4-FFF2-40B4-BE49-F238E27FC236}">
                <a16:creationId xmlns:a16="http://schemas.microsoft.com/office/drawing/2014/main" id="{F75A12D9-3CB4-4818-A5F8-E8E648B22B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811" y="0"/>
            <a:ext cx="6766273" cy="5545722"/>
          </a:xfrm>
          <a:custGeom>
            <a:avLst/>
            <a:gdLst>
              <a:gd name="connsiteX0" fmla="*/ 0 w 6766273"/>
              <a:gd name="connsiteY0" fmla="*/ 0 h 5545722"/>
              <a:gd name="connsiteX1" fmla="*/ 6576149 w 6766273"/>
              <a:gd name="connsiteY1" fmla="*/ 0 h 5545722"/>
              <a:gd name="connsiteX2" fmla="*/ 6631498 w 6766273"/>
              <a:gd name="connsiteY2" fmla="*/ 194912 h 5545722"/>
              <a:gd name="connsiteX3" fmla="*/ 6766273 w 6766273"/>
              <a:gd name="connsiteY3" fmla="*/ 1264785 h 5545722"/>
              <a:gd name="connsiteX4" fmla="*/ 2485336 w 6766273"/>
              <a:gd name="connsiteY4" fmla="*/ 5545722 h 5545722"/>
              <a:gd name="connsiteX5" fmla="*/ 91824 w 6766273"/>
              <a:gd name="connsiteY5" fmla="*/ 4814605 h 5545722"/>
              <a:gd name="connsiteX6" fmla="*/ 0 w 6766273"/>
              <a:gd name="connsiteY6" fmla="*/ 4749308 h 554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6273" h="5545722">
                <a:moveTo>
                  <a:pt x="0" y="0"/>
                </a:moveTo>
                <a:lnTo>
                  <a:pt x="6576149" y="0"/>
                </a:lnTo>
                <a:lnTo>
                  <a:pt x="6631498" y="194912"/>
                </a:lnTo>
                <a:cubicBezTo>
                  <a:pt x="6719480" y="536872"/>
                  <a:pt x="6766273" y="895364"/>
                  <a:pt x="6766273" y="1264785"/>
                </a:cubicBezTo>
                <a:cubicBezTo>
                  <a:pt x="6766273" y="3629081"/>
                  <a:pt x="4849632" y="5545722"/>
                  <a:pt x="2485336" y="5545722"/>
                </a:cubicBezTo>
                <a:cubicBezTo>
                  <a:pt x="1598725" y="5545722"/>
                  <a:pt x="775066" y="5276195"/>
                  <a:pt x="91824" y="4814605"/>
                </a:cubicBezTo>
                <a:lnTo>
                  <a:pt x="0" y="4749308"/>
                </a:lnTo>
                <a:close/>
              </a:path>
            </a:pathLst>
          </a:custGeom>
          <a:solidFill>
            <a:srgbClr val="FFFFFF"/>
          </a:solidFill>
          <a:ln w="50800" cap="sq" cmpd="dbl">
            <a:gradFill flip="none" rotWithShape="1">
              <a:gsLst>
                <a:gs pos="0">
                  <a:srgbClr val="FFFFFF"/>
                </a:gs>
                <a:gs pos="100000">
                  <a:schemeClr val="tx1">
                    <a:alpha val="0"/>
                  </a:schemeClr>
                </a:gs>
              </a:gsLst>
              <a:path path="circle">
                <a:fillToRect l="100000" t="100000"/>
              </a:path>
              <a:tileRect r="-100000" b="-100000"/>
            </a:gradFill>
            <a:miter lim="800000"/>
          </a:ln>
          <a:effectLst>
            <a:outerShdw blurRad="254000" algn="tl"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31860BF0-2152-AFE1-7949-71827C212241}"/>
              </a:ext>
            </a:extLst>
          </p:cNvPr>
          <p:cNvPicPr>
            <a:picLocks noChangeAspect="1"/>
          </p:cNvPicPr>
          <p:nvPr/>
        </p:nvPicPr>
        <p:blipFill>
          <a:blip r:embed="rId4"/>
          <a:stretch>
            <a:fillRect/>
          </a:stretch>
        </p:blipFill>
        <p:spPr>
          <a:xfrm>
            <a:off x="0" y="690512"/>
            <a:ext cx="5928527" cy="2756765"/>
          </a:xfrm>
          <a:prstGeom prst="rect">
            <a:avLst/>
          </a:prstGeom>
        </p:spPr>
      </p:pic>
      <p:sp>
        <p:nvSpPr>
          <p:cNvPr id="16" name="Freeform: Shape 15">
            <a:extLst>
              <a:ext uri="{FF2B5EF4-FFF2-40B4-BE49-F238E27FC236}">
                <a16:creationId xmlns:a16="http://schemas.microsoft.com/office/drawing/2014/main" id="{7C9B7894-ADA8-408F-81D5-30D795467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3677" y="760562"/>
            <a:ext cx="5298683" cy="6097438"/>
          </a:xfrm>
          <a:custGeom>
            <a:avLst/>
            <a:gdLst>
              <a:gd name="connsiteX0" fmla="*/ 3120528 w 5298683"/>
              <a:gd name="connsiteY0" fmla="*/ 0 h 6097438"/>
              <a:gd name="connsiteX1" fmla="*/ 5105473 w 5298683"/>
              <a:gd name="connsiteY1" fmla="*/ 712577 h 6097438"/>
              <a:gd name="connsiteX2" fmla="*/ 5298683 w 5298683"/>
              <a:gd name="connsiteY2" fmla="*/ 888178 h 6097438"/>
              <a:gd name="connsiteX3" fmla="*/ 5298683 w 5298683"/>
              <a:gd name="connsiteY3" fmla="*/ 5352876 h 6097438"/>
              <a:gd name="connsiteX4" fmla="*/ 5105473 w 5298683"/>
              <a:gd name="connsiteY4" fmla="*/ 5528477 h 6097438"/>
              <a:gd name="connsiteX5" fmla="*/ 4335177 w 5298683"/>
              <a:gd name="connsiteY5" fmla="*/ 5995828 h 6097438"/>
              <a:gd name="connsiteX6" fmla="*/ 4057556 w 5298683"/>
              <a:gd name="connsiteY6" fmla="*/ 6097438 h 6097438"/>
              <a:gd name="connsiteX7" fmla="*/ 2183499 w 5298683"/>
              <a:gd name="connsiteY7" fmla="*/ 6097438 h 6097438"/>
              <a:gd name="connsiteX8" fmla="*/ 1905878 w 5298683"/>
              <a:gd name="connsiteY8" fmla="*/ 5995828 h 6097438"/>
              <a:gd name="connsiteX9" fmla="*/ 0 w 5298683"/>
              <a:gd name="connsiteY9" fmla="*/ 3120527 h 6097438"/>
              <a:gd name="connsiteX10" fmla="*/ 3120528 w 5298683"/>
              <a:gd name="connsiteY10" fmla="*/ 0 h 6097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a:solidFill>
            <a:srgbClr val="FFFFFF"/>
          </a:solidFill>
          <a:ln w="50800" cap="sq" cmpd="dbl">
            <a:gradFill flip="none" rotWithShape="1">
              <a:gsLst>
                <a:gs pos="0">
                  <a:srgbClr val="FFFFFF"/>
                </a:gs>
                <a:gs pos="100000">
                  <a:schemeClr val="tx1">
                    <a:alpha val="0"/>
                  </a:schemeClr>
                </a:gs>
              </a:gsLst>
              <a:path path="circle">
                <a:fillToRect l="100000" t="100000"/>
              </a:path>
              <a:tileRect r="-100000" b="-100000"/>
            </a:gradFill>
            <a:miter lim="800000"/>
          </a:ln>
          <a:effectLst>
            <a:outerShdw blurRad="254000" algn="tl"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58FA1E44-BADA-3C05-0B92-5C5451F1A769}"/>
              </a:ext>
            </a:extLst>
          </p:cNvPr>
          <p:cNvPicPr>
            <a:picLocks noChangeAspect="1"/>
          </p:cNvPicPr>
          <p:nvPr/>
        </p:nvPicPr>
        <p:blipFill>
          <a:blip r:embed="rId5"/>
          <a:stretch>
            <a:fillRect/>
          </a:stretch>
        </p:blipFill>
        <p:spPr>
          <a:xfrm>
            <a:off x="7562043" y="1979526"/>
            <a:ext cx="4620318" cy="3407484"/>
          </a:xfrm>
          <a:prstGeom prst="rect">
            <a:avLst/>
          </a:prstGeom>
        </p:spPr>
      </p:pic>
    </p:spTree>
    <p:extLst>
      <p:ext uri="{BB962C8B-B14F-4D97-AF65-F5344CB8AC3E}">
        <p14:creationId xmlns:p14="http://schemas.microsoft.com/office/powerpoint/2010/main" val="1311204639"/>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859D9-83DF-2898-3039-C9416DCA2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CEF02-0BC4-AB18-EB8C-99A75415C37B}"/>
              </a:ext>
            </a:extLst>
          </p:cNvPr>
          <p:cNvSpPr>
            <a:spLocks noGrp="1"/>
          </p:cNvSpPr>
          <p:nvPr>
            <p:ph type="title"/>
          </p:nvPr>
        </p:nvSpPr>
        <p:spPr>
          <a:xfrm>
            <a:off x="1327255" y="1030288"/>
            <a:ext cx="4099947" cy="1035579"/>
          </a:xfrm>
        </p:spPr>
        <p:txBody>
          <a:bodyPr vert="horz" lIns="91440" tIns="45720" rIns="91440" bIns="45720" rtlCol="0" anchor="ctr">
            <a:normAutofit fontScale="90000"/>
          </a:bodyPr>
          <a:lstStyle/>
          <a:p>
            <a:pPr>
              <a:lnSpc>
                <a:spcPct val="90000"/>
              </a:lnSpc>
            </a:pPr>
            <a:r>
              <a:rPr lang="en-US" sz="2300">
                <a:latin typeface="Times New Roman" panose="02020603050405020304" pitchFamily="18" charset="0"/>
                <a:cs typeface="Times New Roman" panose="02020603050405020304" pitchFamily="18" charset="0"/>
              </a:rPr>
              <a:t>MÔ HÌNH THEO NGUYÊN TẮC OOP VÀ MVVM ARCHITECTURE</a:t>
            </a:r>
            <a:endParaRPr lang="en-US" sz="23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43DFF231-DE55-68B2-5C4B-3946CE03B4AB}"/>
              </a:ext>
            </a:extLst>
          </p:cNvPr>
          <p:cNvSpPr txBox="1">
            <a:spLocks/>
          </p:cNvSpPr>
          <p:nvPr/>
        </p:nvSpPr>
        <p:spPr>
          <a:xfrm>
            <a:off x="1327255" y="2142067"/>
            <a:ext cx="4099947" cy="3649133"/>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b="1" dirty="0" err="1">
                <a:latin typeface="Times New Roman" panose="02020603050405020304" pitchFamily="18" charset="0"/>
                <a:cs typeface="Times New Roman" panose="02020603050405020304" pitchFamily="18" charset="0"/>
              </a:rPr>
              <a:t>Mô</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tả</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Đặc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tả</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về</a:t>
            </a:r>
            <a:r>
              <a:rPr lang="en-US" b="1" dirty="0">
                <a:latin typeface="Times New Roman" panose="02020603050405020304" pitchFamily="18" charset="0"/>
                <a:cs typeface="Times New Roman" panose="02020603050405020304" pitchFamily="18" charset="0"/>
              </a:rPr>
              <a:t> OOP </a:t>
            </a:r>
            <a:r>
              <a:rPr lang="en-US" b="1" dirty="0" err="1">
                <a:latin typeface="Times New Roman" panose="02020603050405020304" pitchFamily="18" charset="0"/>
                <a:cs typeface="Times New Roman" panose="02020603050405020304" pitchFamily="18" charset="0"/>
              </a:rPr>
              <a:t>và</a:t>
            </a:r>
            <a:r>
              <a:rPr lang="en-US" b="1" dirty="0">
                <a:latin typeface="Times New Roman" panose="02020603050405020304" pitchFamily="18" charset="0"/>
                <a:cs typeface="Times New Roman" panose="02020603050405020304" pitchFamily="18" charset="0"/>
              </a:rPr>
              <a:t> MVVM </a:t>
            </a:r>
            <a:r>
              <a:rPr lang="en-US" b="1" dirty="0" err="1">
                <a:latin typeface="Times New Roman" panose="02020603050405020304" pitchFamily="18" charset="0"/>
                <a:cs typeface="Times New Roman" panose="02020603050405020304" pitchFamily="18" charset="0"/>
              </a:rPr>
              <a:t>trong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án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Spiketune</a:t>
            </a:r>
            <a:endParaRPr lang="en-US" b="1"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Dự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Spiketune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sự</a:t>
            </a:r>
            <a:r>
              <a:rPr lang="en-US" dirty="0">
                <a:latin typeface="Times New Roman" panose="02020603050405020304" pitchFamily="18" charset="0"/>
                <a:cs typeface="Times New Roman" panose="02020603050405020304" pitchFamily="18" charset="0"/>
              </a:rPr>
              <a:t> cam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việc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xây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vững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dễ</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qua </a:t>
            </a:r>
            <a:r>
              <a:rPr lang="en-US" dirty="0" err="1">
                <a:latin typeface="Times New Roman" panose="02020603050405020304" pitchFamily="18" charset="0"/>
                <a:cs typeface="Times New Roman" panose="02020603050405020304" pitchFamily="18" charset="0"/>
              </a:rPr>
              <a:t>việc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chặt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nguyên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tắc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hướng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tượng</a:t>
            </a:r>
            <a:r>
              <a:rPr lang="en-US" dirty="0">
                <a:latin typeface="Times New Roman" panose="02020603050405020304" pitchFamily="18" charset="0"/>
                <a:cs typeface="Times New Roman" panose="02020603050405020304" pitchFamily="18" charset="0"/>
              </a:rPr>
              <a:t> (OOP)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mẫu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trúc</a:t>
            </a:r>
            <a:r>
              <a:rPr lang="en-US" dirty="0">
                <a:latin typeface="Times New Roman" panose="02020603050405020304" pitchFamily="18" charset="0"/>
                <a:cs typeface="Times New Roman" panose="02020603050405020304" pitchFamily="18" charset="0"/>
              </a:rPr>
              <a:t> Model-View-</a:t>
            </a:r>
            <a:r>
              <a:rPr lang="en-US" dirty="0" err="1">
                <a:latin typeface="Times New Roman" panose="02020603050405020304" pitchFamily="18" charset="0"/>
                <a:cs typeface="Times New Roman" panose="02020603050405020304" pitchFamily="18" charset="0"/>
              </a:rPr>
              <a:t>ViewModel</a:t>
            </a:r>
            <a:r>
              <a:rPr lang="en-US" dirty="0">
                <a:latin typeface="Times New Roman" panose="02020603050405020304" pitchFamily="18" charset="0"/>
                <a:cs typeface="Times New Roman" panose="02020603050405020304" pitchFamily="18" charset="0"/>
              </a:rPr>
              <a:t> (MVVM).</a:t>
            </a:r>
          </a:p>
        </p:txBody>
      </p:sp>
      <p:pic>
        <p:nvPicPr>
          <p:cNvPr id="7170" name="Picture 2" descr="OOP là gì? Tìm hiểu về lập trình hướng đối tượng">
            <a:extLst>
              <a:ext uri="{FF2B5EF4-FFF2-40B4-BE49-F238E27FC236}">
                <a16:creationId xmlns:a16="http://schemas.microsoft.com/office/drawing/2014/main" id="{F3B813DA-55FD-51D3-FF5E-F716A62756A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664736" y="639098"/>
            <a:ext cx="4240037" cy="2692424"/>
          </a:xfrm>
          <a:prstGeom prst="roundRect">
            <a:avLst>
              <a:gd name="adj" fmla="val 6267"/>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7172" name="Picture 4" descr="What is Model-View-ViewModel (MVVM)? – IT Creative Labs">
            <a:extLst>
              <a:ext uri="{FF2B5EF4-FFF2-40B4-BE49-F238E27FC236}">
                <a16:creationId xmlns:a16="http://schemas.microsoft.com/office/drawing/2014/main" id="{4268FEE4-64E1-44FA-CFED-62D333CCF82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58000" y="3522111"/>
            <a:ext cx="5253510" cy="2692424"/>
          </a:xfrm>
          <a:prstGeom prst="roundRect">
            <a:avLst>
              <a:gd name="adj" fmla="val 6267"/>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9548532"/>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4E789-D257-8E59-BF04-7189820A4C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A0143-D859-630C-6ED8-8AA9F6B5048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MÔ HÌNH THEO NGUYÊN TẮC OOP VÀ MVVM ARCHITECTURE</a:t>
            </a:r>
          </a:p>
        </p:txBody>
      </p:sp>
      <p:sp>
        <p:nvSpPr>
          <p:cNvPr id="5" name="Content Placeholder 2">
            <a:extLst>
              <a:ext uri="{FF2B5EF4-FFF2-40B4-BE49-F238E27FC236}">
                <a16:creationId xmlns:a16="http://schemas.microsoft.com/office/drawing/2014/main" id="{9CD43A32-0E0C-0042-30CA-4D249AE991A8}"/>
              </a:ext>
            </a:extLst>
          </p:cNvPr>
          <p:cNvSpPr txBox="1">
            <a:spLocks/>
          </p:cNvSpPr>
          <p:nvPr/>
        </p:nvSpPr>
        <p:spPr>
          <a:xfrm>
            <a:off x="602227" y="2166647"/>
            <a:ext cx="10131425" cy="3649133"/>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endParaRPr lang="vi-VN" dirty="0">
              <a:latin typeface="+mj-lt"/>
            </a:endParaRPr>
          </a:p>
        </p:txBody>
      </p:sp>
      <p:sp>
        <p:nvSpPr>
          <p:cNvPr id="6" name="TextBox 5">
            <a:extLst>
              <a:ext uri="{FF2B5EF4-FFF2-40B4-BE49-F238E27FC236}">
                <a16:creationId xmlns:a16="http://schemas.microsoft.com/office/drawing/2014/main" id="{B46DEB2A-5068-8B52-82D5-8CF8ABA28832}"/>
              </a:ext>
            </a:extLst>
          </p:cNvPr>
          <p:cNvSpPr txBox="1"/>
          <p:nvPr/>
        </p:nvSpPr>
        <p:spPr>
          <a:xfrm>
            <a:off x="462116" y="2065867"/>
            <a:ext cx="11493910" cy="1354217"/>
          </a:xfrm>
          <a:prstGeom prst="rect">
            <a:avLst/>
          </a:prstGeom>
          <a:noFill/>
        </p:spPr>
        <p:txBody>
          <a:bodyPr wrap="square">
            <a:spAutoFit/>
          </a:bodyPr>
          <a:lstStyle/>
          <a:p>
            <a:pPr>
              <a:buNone/>
            </a:pPr>
            <a:r>
              <a:rPr lang="vi-VN" sz="2800" b="1" dirty="0">
                <a:latin typeface="+mj-lt"/>
              </a:rPr>
              <a:t>I. Đặc tả về Lập trình hướng đối tượng (OOP)</a:t>
            </a:r>
          </a:p>
          <a:p>
            <a:r>
              <a:rPr lang="en-US" dirty="0">
                <a:latin typeface="+mj-lt"/>
              </a:rPr>
              <a:t>	</a:t>
            </a:r>
            <a:r>
              <a:rPr lang="vi-VN" dirty="0">
                <a:latin typeface="+mj-lt"/>
              </a:rPr>
              <a:t>Dự án Spiketune tuân thủ chặt chẽ 4 trụ cột của OOP: Tính đóng gói, Tính kế thừa, Tính đa hình, và Tính trừu tượng (được ngầm định thông qua các giao diện/lớp trừu tượng). Việc này được thể hiện rõ ràng trong cấu trúc code và cách các thành phần tương tác, đặc biệt là trong các Microservices và việc quản lý dữ liệu.</a:t>
            </a:r>
          </a:p>
        </p:txBody>
      </p:sp>
      <p:sp>
        <p:nvSpPr>
          <p:cNvPr id="11" name="TextBox 10">
            <a:extLst>
              <a:ext uri="{FF2B5EF4-FFF2-40B4-BE49-F238E27FC236}">
                <a16:creationId xmlns:a16="http://schemas.microsoft.com/office/drawing/2014/main" id="{A12BF4B1-F3BC-E4EB-4991-B1EF9D226465}"/>
              </a:ext>
            </a:extLst>
          </p:cNvPr>
          <p:cNvSpPr txBox="1"/>
          <p:nvPr/>
        </p:nvSpPr>
        <p:spPr>
          <a:xfrm>
            <a:off x="1053794" y="3429000"/>
            <a:ext cx="10874477" cy="923330"/>
          </a:xfrm>
          <a:prstGeom prst="rect">
            <a:avLst/>
          </a:prstGeom>
          <a:noFill/>
        </p:spPr>
        <p:txBody>
          <a:bodyPr wrap="square">
            <a:spAutoFit/>
          </a:bodyPr>
          <a:lstStyle/>
          <a:p>
            <a:pPr>
              <a:buNone/>
            </a:pPr>
            <a:r>
              <a:rPr lang="vi-VN" b="1" dirty="0">
                <a:latin typeface="+mj-lt"/>
              </a:rPr>
              <a:t>1. Tính đóng gói (Encapsulation)</a:t>
            </a:r>
          </a:p>
          <a:p>
            <a:pPr>
              <a:buFont typeface="Arial" panose="020B0604020202020204" pitchFamily="34" charset="0"/>
              <a:buChar char="•"/>
            </a:pPr>
            <a:r>
              <a:rPr lang="vi-VN" b="1" dirty="0">
                <a:latin typeface="+mj-lt"/>
              </a:rPr>
              <a:t>Mục tiêu:</a:t>
            </a:r>
            <a:r>
              <a:rPr lang="vi-VN" dirty="0">
                <a:latin typeface="+mj-lt"/>
              </a:rPr>
              <a:t> Che giấu chi tiết triển khai nội bộ của một đối tượng và chỉ phơi bày giao diện công khai để tương tác, từ đó bảo vệ dữ liệu và logic bên trong.</a:t>
            </a:r>
          </a:p>
        </p:txBody>
      </p:sp>
      <p:pic>
        <p:nvPicPr>
          <p:cNvPr id="1028" name="Picture 4" descr="Explaining OOP Encapsulation In Java With Examples">
            <a:extLst>
              <a:ext uri="{FF2B5EF4-FFF2-40B4-BE49-F238E27FC236}">
                <a16:creationId xmlns:a16="http://schemas.microsoft.com/office/drawing/2014/main" id="{A7006630-C07A-3570-0D61-C432D2597F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8102" y="4361246"/>
            <a:ext cx="3905865" cy="2044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277778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6ABA8-636F-30BE-0260-30BE9C7F8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8BB6A2-E7EA-B8CA-DDBA-313784374DE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MÔ HÌNH THEO NGUYÊN TẮC OOP VÀ MVVM ARCHITECTURE</a:t>
            </a:r>
          </a:p>
        </p:txBody>
      </p:sp>
      <p:sp>
        <p:nvSpPr>
          <p:cNvPr id="5" name="Content Placeholder 2">
            <a:extLst>
              <a:ext uri="{FF2B5EF4-FFF2-40B4-BE49-F238E27FC236}">
                <a16:creationId xmlns:a16="http://schemas.microsoft.com/office/drawing/2014/main" id="{DA464DDA-EF33-5ABD-9CC3-A85AC4CBB903}"/>
              </a:ext>
            </a:extLst>
          </p:cNvPr>
          <p:cNvSpPr txBox="1">
            <a:spLocks/>
          </p:cNvSpPr>
          <p:nvPr/>
        </p:nvSpPr>
        <p:spPr>
          <a:xfrm>
            <a:off x="602227" y="2166647"/>
            <a:ext cx="10131425" cy="3649133"/>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endParaRPr lang="vi-VN" dirty="0">
              <a:latin typeface="+mj-lt"/>
            </a:endParaRPr>
          </a:p>
        </p:txBody>
      </p:sp>
      <p:sp>
        <p:nvSpPr>
          <p:cNvPr id="6" name="TextBox 5">
            <a:extLst>
              <a:ext uri="{FF2B5EF4-FFF2-40B4-BE49-F238E27FC236}">
                <a16:creationId xmlns:a16="http://schemas.microsoft.com/office/drawing/2014/main" id="{B1724790-5FE1-F16A-0FF2-1E906AD8755A}"/>
              </a:ext>
            </a:extLst>
          </p:cNvPr>
          <p:cNvSpPr txBox="1"/>
          <p:nvPr/>
        </p:nvSpPr>
        <p:spPr>
          <a:xfrm>
            <a:off x="462116" y="2065867"/>
            <a:ext cx="11493910" cy="1354217"/>
          </a:xfrm>
          <a:prstGeom prst="rect">
            <a:avLst/>
          </a:prstGeom>
          <a:noFill/>
        </p:spPr>
        <p:txBody>
          <a:bodyPr wrap="square">
            <a:spAutoFit/>
          </a:bodyPr>
          <a:lstStyle/>
          <a:p>
            <a:pPr>
              <a:buNone/>
            </a:pPr>
            <a:r>
              <a:rPr lang="vi-VN" sz="2800" b="1" dirty="0">
                <a:latin typeface="+mj-lt"/>
              </a:rPr>
              <a:t>I. Đặc tả về Lập trình hướng đối tượng (OOP)</a:t>
            </a:r>
          </a:p>
          <a:p>
            <a:r>
              <a:rPr lang="en-US" dirty="0">
                <a:latin typeface="+mj-lt"/>
              </a:rPr>
              <a:t>	</a:t>
            </a:r>
            <a:r>
              <a:rPr lang="vi-VN" dirty="0">
                <a:latin typeface="+mj-lt"/>
              </a:rPr>
              <a:t>Dự án Spiketune tuân thủ chặt chẽ 4 trụ cột của OOP: Tính đóng gói, Tính kế thừa, Tính đa hình, và Tính trừu tượng (được ngầm định thông qua các giao diện/lớp trừu tượng). Việc này được thể hiện rõ ràng trong cấu trúc code và cách các thành phần tương tác, đặc biệt là trong các Microservices và việc quản lý dữ liệu.</a:t>
            </a:r>
          </a:p>
        </p:txBody>
      </p:sp>
      <p:sp>
        <p:nvSpPr>
          <p:cNvPr id="11" name="TextBox 10">
            <a:extLst>
              <a:ext uri="{FF2B5EF4-FFF2-40B4-BE49-F238E27FC236}">
                <a16:creationId xmlns:a16="http://schemas.microsoft.com/office/drawing/2014/main" id="{DF60DCD8-6AFF-85EC-37F4-2C2F1FCB7A68}"/>
              </a:ext>
            </a:extLst>
          </p:cNvPr>
          <p:cNvSpPr txBox="1"/>
          <p:nvPr/>
        </p:nvSpPr>
        <p:spPr>
          <a:xfrm>
            <a:off x="1053794" y="3429000"/>
            <a:ext cx="10874477" cy="923330"/>
          </a:xfrm>
          <a:prstGeom prst="rect">
            <a:avLst/>
          </a:prstGeom>
          <a:noFill/>
        </p:spPr>
        <p:txBody>
          <a:bodyPr wrap="square">
            <a:spAutoFit/>
          </a:bodyPr>
          <a:lstStyle/>
          <a:p>
            <a:pPr>
              <a:buNone/>
            </a:pPr>
            <a:r>
              <a:rPr lang="vi-VN" b="1" dirty="0">
                <a:latin typeface="+mj-lt"/>
              </a:rPr>
              <a:t>1. Tính đóng gói (Encapsulation)</a:t>
            </a:r>
          </a:p>
          <a:p>
            <a:pPr>
              <a:buFont typeface="Arial" panose="020B0604020202020204" pitchFamily="34" charset="0"/>
              <a:buChar char="•"/>
            </a:pPr>
            <a:r>
              <a:rPr lang="vi-VN" b="1" dirty="0">
                <a:latin typeface="+mj-lt"/>
              </a:rPr>
              <a:t>Mục tiêu:</a:t>
            </a:r>
            <a:r>
              <a:rPr lang="vi-VN" dirty="0">
                <a:latin typeface="+mj-lt"/>
              </a:rPr>
              <a:t> Che giấu chi tiết triển khai nội bộ của một đối tượng và chỉ phơi bày giao diện công khai để tương tác, từ đó bảo vệ dữ liệu và logic bên trong.</a:t>
            </a:r>
          </a:p>
        </p:txBody>
      </p:sp>
      <p:sp>
        <p:nvSpPr>
          <p:cNvPr id="12" name="Rectangle 5">
            <a:extLst>
              <a:ext uri="{FF2B5EF4-FFF2-40B4-BE49-F238E27FC236}">
                <a16:creationId xmlns:a16="http://schemas.microsoft.com/office/drawing/2014/main" id="{52469833-F5E2-F3C4-B8B0-270C1A00EEB4}"/>
              </a:ext>
            </a:extLst>
          </p:cNvPr>
          <p:cNvSpPr>
            <a:spLocks noChangeArrowheads="1"/>
          </p:cNvSpPr>
          <p:nvPr/>
        </p:nvSpPr>
        <p:spPr bwMode="auto">
          <a:xfrm>
            <a:off x="1053794" y="4352330"/>
            <a:ext cx="1019933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b="1" i="0" u="none" strike="noStrike" cap="none" normalizeH="0" baseline="0" dirty="0">
                <a:ln>
                  <a:noFill/>
                </a:ln>
                <a:solidFill>
                  <a:schemeClr val="tx1"/>
                </a:solidFill>
                <a:effectLst/>
                <a:latin typeface="+mj-lt"/>
              </a:rPr>
              <a:t>Đặc tả trong Spiketune:</a:t>
            </a:r>
            <a:r>
              <a:rPr kumimoji="0" lang="vi-VN" altLang="vi-VN" b="0" i="0" u="none" strike="noStrike" cap="none" normalizeH="0" baseline="0" dirty="0">
                <a:ln>
                  <a:noFill/>
                </a:ln>
                <a:solidFill>
                  <a:schemeClr val="tx1"/>
                </a:solidFill>
                <a:effectLst/>
                <a:latin typeface="+mj-l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b="1" i="0" u="none" strike="noStrike" cap="none" normalizeH="0" baseline="0" dirty="0">
                <a:ln>
                  <a:noFill/>
                </a:ln>
                <a:solidFill>
                  <a:schemeClr val="tx1"/>
                </a:solidFill>
                <a:effectLst/>
                <a:latin typeface="+mj-lt"/>
              </a:rPr>
              <a:t>Microservices:</a:t>
            </a:r>
            <a:r>
              <a:rPr kumimoji="0" lang="vi-VN" altLang="vi-VN" b="0" i="0" u="none" strike="noStrike" cap="none" normalizeH="0" baseline="0" dirty="0">
                <a:ln>
                  <a:noFill/>
                </a:ln>
                <a:solidFill>
                  <a:schemeClr val="tx1"/>
                </a:solidFill>
                <a:effectLst/>
                <a:latin typeface="+mj-lt"/>
              </a:rPr>
              <a:t> Mỗi Microservice (ví dụ: AuthService, PlaybackService, PaymentService, PlaylistService) </a:t>
            </a:r>
            <a:endParaRPr kumimoji="0" lang="en-US" altLang="vi-VN"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b="0" i="0" u="none" strike="noStrike" cap="none" normalizeH="0" baseline="0" dirty="0">
                <a:ln>
                  <a:noFill/>
                </a:ln>
                <a:solidFill>
                  <a:schemeClr val="tx1"/>
                </a:solidFill>
                <a:effectLst/>
                <a:latin typeface="+mj-lt"/>
              </a:rPr>
              <a:t>được xem như một đơn vị đóng gói.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1" i="0" u="none" strike="noStrike" cap="none" normalizeH="0" baseline="0" dirty="0">
                <a:ln>
                  <a:noFill/>
                </a:ln>
                <a:solidFill>
                  <a:schemeClr val="tx1"/>
                </a:solidFill>
                <a:effectLst/>
                <a:latin typeface="+mj-lt"/>
              </a:rPr>
              <a:t>Chi tiết triển khai ẩn:</a:t>
            </a:r>
            <a:r>
              <a:rPr kumimoji="0" lang="vi-VN" altLang="vi-VN" b="0" i="0" u="none" strike="noStrike" cap="none" normalizeH="0" baseline="0" dirty="0">
                <a:ln>
                  <a:noFill/>
                </a:ln>
                <a:solidFill>
                  <a:schemeClr val="tx1"/>
                </a:solidFill>
                <a:effectLst/>
                <a:latin typeface="+mj-lt"/>
              </a:rPr>
              <a:t> Logic xử lý nội bộ của mỗi service (ví dụ: cách AuthService xác thực token, </a:t>
            </a:r>
            <a:endParaRPr kumimoji="0" lang="en-US" altLang="vi-VN"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0" i="0" u="none" strike="noStrike" cap="none" normalizeH="0" baseline="0" dirty="0">
                <a:ln>
                  <a:noFill/>
                </a:ln>
                <a:solidFill>
                  <a:schemeClr val="tx1"/>
                </a:solidFill>
                <a:effectLst/>
                <a:latin typeface="+mj-lt"/>
              </a:rPr>
              <a:t>cách PaymentService giao tiếp với cổng thanh toán ngoài) được giữ kín bên trong service đó.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1" i="0" u="none" strike="noStrike" cap="none" normalizeH="0" baseline="0" dirty="0">
                <a:ln>
                  <a:noFill/>
                </a:ln>
                <a:solidFill>
                  <a:schemeClr val="tx1"/>
                </a:solidFill>
                <a:effectLst/>
                <a:latin typeface="+mj-lt"/>
              </a:rPr>
              <a:t>API công khai:</a:t>
            </a:r>
            <a:r>
              <a:rPr kumimoji="0" lang="vi-VN" altLang="vi-VN" b="0" i="0" u="none" strike="noStrike" cap="none" normalizeH="0" baseline="0" dirty="0">
                <a:ln>
                  <a:noFill/>
                </a:ln>
                <a:solidFill>
                  <a:schemeClr val="tx1"/>
                </a:solidFill>
                <a:effectLst/>
                <a:latin typeface="+mj-lt"/>
              </a:rPr>
              <a:t> Mỗi service chỉ phơi bày một tập hợp các API (endpoints) </a:t>
            </a:r>
            <a:endParaRPr kumimoji="0" lang="en-US" altLang="vi-VN"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0" i="0" u="none" strike="noStrike" cap="none" normalizeH="0" baseline="0" dirty="0">
                <a:ln>
                  <a:noFill/>
                </a:ln>
                <a:solidFill>
                  <a:schemeClr val="tx1"/>
                </a:solidFill>
                <a:effectLst/>
                <a:latin typeface="+mj-lt"/>
              </a:rPr>
              <a:t>rõ ràng và được định nghĩa (ví dụ: /api/auth/login, /api/music/play, /api/playlist/create). Client Apps </a:t>
            </a:r>
            <a:endParaRPr kumimoji="0" lang="en-US" altLang="vi-VN"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0" i="0" u="none" strike="noStrike" cap="none" normalizeH="0" baseline="0" dirty="0">
                <a:ln>
                  <a:noFill/>
                </a:ln>
                <a:solidFill>
                  <a:schemeClr val="tx1"/>
                </a:solidFill>
                <a:effectLst/>
                <a:latin typeface="+mj-lt"/>
              </a:rPr>
              <a:t>và các service khác chỉ tương tác thông qua các API này.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2392539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A1259F07-A78A-E49B-DEAA-05D777F7C9D4}"/>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CBD94887-6A10-4F62-8EE1-B2BCFA1F3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1786"/>
            <a:ext cx="12188825" cy="68562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Do microservices, rest apis using spring boot by Praneethlive | Fiverr">
            <a:extLst>
              <a:ext uri="{FF2B5EF4-FFF2-40B4-BE49-F238E27FC236}">
                <a16:creationId xmlns:a16="http://schemas.microsoft.com/office/drawing/2014/main" id="{CF1CA326-CBE4-AFAB-189E-36FA4665B5E7}"/>
              </a:ext>
            </a:extLst>
          </p:cNvPr>
          <p:cNvPicPr>
            <a:picLocks noChangeAspect="1" noChangeArrowheads="1"/>
          </p:cNvPicPr>
          <p:nvPr/>
        </p:nvPicPr>
        <p:blipFill>
          <a:blip r:embed="rId3">
            <a:alphaModFix amt="20000"/>
            <a:extLst>
              <a:ext uri="{28A0092B-C50C-407E-A947-70E740481C1C}">
                <a14:useLocalDpi xmlns:a14="http://schemas.microsoft.com/office/drawing/2010/main" val="0"/>
              </a:ext>
            </a:extLst>
          </a:blip>
          <a:srcRect l="4079" r="2064"/>
          <a:stretch>
            <a:fillRect/>
          </a:stretch>
        </p:blipFill>
        <p:spPr bwMode="auto">
          <a:xfrm>
            <a:off x="16510" y="3572"/>
            <a:ext cx="12191980" cy="6857990"/>
          </a:xfrm>
          <a:prstGeom prst="rect">
            <a:avLst/>
          </a:prstGeom>
          <a:noFill/>
          <a:extLst>
            <a:ext uri="{909E8E84-426E-40DD-AFC4-6F175D3DCCD1}">
              <a14:hiddenFill xmlns:a14="http://schemas.microsoft.com/office/drawing/2010/main">
                <a:solidFill>
                  <a:srgbClr val="FFFFFF"/>
                </a:solidFill>
              </a14:hiddenFill>
            </a:ext>
          </a:extLst>
        </p:spPr>
      </p:pic>
      <p:pic>
        <p:nvPicPr>
          <p:cNvPr id="2057" name="Picture 2056">
            <a:extLst>
              <a:ext uri="{FF2B5EF4-FFF2-40B4-BE49-F238E27FC236}">
                <a16:creationId xmlns:a16="http://schemas.microsoft.com/office/drawing/2014/main" id="{A3D512BA-228A-4979-9312-ACD246E1099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900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a:extLst>
              <a:ext uri="{FF2B5EF4-FFF2-40B4-BE49-F238E27FC236}">
                <a16:creationId xmlns:a16="http://schemas.microsoft.com/office/drawing/2014/main" id="{3128F87D-0836-9B11-C6BF-2DCED6D94881}"/>
              </a:ext>
            </a:extLst>
          </p:cNvPr>
          <p:cNvSpPr>
            <a:spLocks noGrp="1"/>
          </p:cNvSpPr>
          <p:nvPr>
            <p:ph type="title"/>
          </p:nvPr>
        </p:nvSpPr>
        <p:spPr>
          <a:xfrm>
            <a:off x="685801" y="609600"/>
            <a:ext cx="10131425" cy="1456267"/>
          </a:xfrm>
        </p:spPr>
        <p:txBody>
          <a:bodyPr vert="horz" lIns="91440" tIns="45720" rIns="91440" bIns="45720" rtlCol="0" anchor="ctr">
            <a:normAutofit/>
          </a:bodyPr>
          <a:lstStyle/>
          <a:p>
            <a:r>
              <a:rPr lang="en-US">
                <a:latin typeface="Times New Roman" panose="02020603050405020304" pitchFamily="18" charset="0"/>
                <a:cs typeface="Times New Roman" panose="02020603050405020304" pitchFamily="18" charset="0"/>
              </a:rPr>
              <a:t>MÔ HÌNH THEO NGUYÊN TẮC OOP VÀ MVVM ARCHITECTURE</a:t>
            </a:r>
            <a:endParaRPr lang="en-US"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F00D4941-F0C0-4BCD-BB87-1674EB63A7AF}"/>
              </a:ext>
            </a:extLst>
          </p:cNvPr>
          <p:cNvSpPr>
            <a:spLocks noChangeArrowheads="1"/>
          </p:cNvSpPr>
          <p:nvPr/>
        </p:nvSpPr>
        <p:spPr bwMode="auto">
          <a:xfrm>
            <a:off x="685801" y="2142067"/>
            <a:ext cx="10774679"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fontAlgn="base">
              <a:spcAft>
                <a:spcPts val="1000"/>
              </a:spcAft>
              <a:buClr>
                <a:schemeClr val="tx1"/>
              </a:buClr>
              <a:buSzPct val="100000"/>
              <a:tabLst/>
            </a:pPr>
            <a:r>
              <a:rPr kumimoji="0" lang="en-US" altLang="vi-VN" b="1" i="0" u="none" strike="noStrike" normalizeH="0" baseline="0" dirty="0">
                <a:ln>
                  <a:noFill/>
                </a:ln>
                <a:latin typeface="Times New Roman" panose="02020603050405020304" pitchFamily="18" charset="0"/>
                <a:cs typeface="Times New Roman" panose="02020603050405020304" pitchFamily="18" charset="0"/>
              </a:rPr>
              <a:t>Data Models (Model):</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p>
          <a:p>
            <a:pPr lvl="1" fontAlgn="base">
              <a:spcAft>
                <a:spcPts val="1000"/>
              </a:spcAft>
              <a:buClr>
                <a:schemeClr val="tx1"/>
              </a:buClr>
              <a:buSzPct val="100000"/>
            </a:pPr>
            <a:r>
              <a:rPr lang="en-US" altLang="vi-VN" dirty="0">
                <a:latin typeface="Times New Roman" panose="02020603050405020304" pitchFamily="18" charset="0"/>
                <a:cs typeface="Times New Roman" panose="02020603050405020304" pitchFamily="18" charset="0"/>
              </a:rPr>
              <a:t>- </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Các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thực</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thể</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dữ</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liệu</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như</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User, Song, Playlist, Album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sẽ</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có</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các</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thuộc</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tính</a:t>
            </a:r>
            <a:endParaRPr kumimoji="0" lang="en-US" altLang="vi-VN" b="0" i="0" u="none" strike="noStrike" normalizeH="0" baseline="0" dirty="0">
              <a:ln>
                <a:noFill/>
              </a:ln>
              <a:latin typeface="Times New Roman" panose="02020603050405020304" pitchFamily="18" charset="0"/>
              <a:cs typeface="Times New Roman" panose="02020603050405020304" pitchFamily="18" charset="0"/>
            </a:endParaRPr>
          </a:p>
          <a:p>
            <a:pPr marL="0" marR="0" lvl="0" indent="0" fontAlgn="base">
              <a:spcAft>
                <a:spcPts val="1000"/>
              </a:spcAft>
              <a:buClr>
                <a:schemeClr val="tx1"/>
              </a:buClr>
              <a:buSzPct val="100000"/>
              <a:tabLst/>
            </a:pP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ví</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dụ</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private String title;)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và</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phương</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thức</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ví</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dụ</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public String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getTitle</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để</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truy</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cập</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dữ</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liệu</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p>
          <a:p>
            <a:pPr marL="0" marR="0" lvl="0" indent="0" fontAlgn="base">
              <a:spcAft>
                <a:spcPts val="1000"/>
              </a:spcAft>
              <a:buClr>
                <a:schemeClr val="tx1"/>
              </a:buClr>
              <a:buSzPct val="100000"/>
              <a:tabLst/>
            </a:pP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đảm</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bảo</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dữ</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liệu</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chỉ</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được</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thay</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đổi</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thông</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qua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các</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phương</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thức</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được</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kiểm</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soát</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p>
          <a:p>
            <a:pPr marL="0" marR="0" lvl="0" indent="0" fontAlgn="base">
              <a:spcAft>
                <a:spcPts val="1000"/>
              </a:spcAft>
              <a:buClr>
                <a:schemeClr val="tx1"/>
              </a:buClr>
              <a:buSzPct val="100000"/>
              <a:tabLst/>
            </a:pPr>
            <a:r>
              <a:rPr kumimoji="0" lang="en-US" altLang="vi-VN" b="1" i="0" u="none" strike="noStrike" normalizeH="0" baseline="0" dirty="0">
                <a:ln>
                  <a:noFill/>
                </a:ln>
                <a:latin typeface="Times New Roman" panose="02020603050405020304" pitchFamily="18" charset="0"/>
                <a:cs typeface="Times New Roman" panose="02020603050405020304" pitchFamily="18" charset="0"/>
              </a:rPr>
              <a:t>Các module </a:t>
            </a:r>
            <a:r>
              <a:rPr kumimoji="0" lang="en-US" altLang="vi-VN" b="1" i="0" u="none" strike="noStrike" normalizeH="0" baseline="0" dirty="0" err="1">
                <a:ln>
                  <a:noFill/>
                </a:ln>
                <a:latin typeface="Times New Roman" panose="02020603050405020304" pitchFamily="18" charset="0"/>
                <a:cs typeface="Times New Roman" panose="02020603050405020304" pitchFamily="18" charset="0"/>
              </a:rPr>
              <a:t>trong</a:t>
            </a:r>
            <a:r>
              <a:rPr kumimoji="0" lang="en-US" altLang="vi-VN" b="1" i="0" u="none" strike="noStrike" normalizeH="0" baseline="0" dirty="0">
                <a:ln>
                  <a:noFill/>
                </a:ln>
                <a:latin typeface="Times New Roman" panose="02020603050405020304" pitchFamily="18" charset="0"/>
                <a:cs typeface="Times New Roman" panose="02020603050405020304" pitchFamily="18" charset="0"/>
              </a:rPr>
              <a:t> Backend:</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Các module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xử</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lý</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logic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nghiệp</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vụ</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ví</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dụ</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Recommendation Engine, </a:t>
            </a:r>
          </a:p>
          <a:p>
            <a:pPr marL="0" marR="0" lvl="0" indent="0" fontAlgn="base">
              <a:spcAft>
                <a:spcPts val="1000"/>
              </a:spcAft>
              <a:buClr>
                <a:schemeClr val="tx1"/>
              </a:buClr>
              <a:buSzPct val="100000"/>
              <a:tabLst/>
            </a:pP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 Message Queue)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cũng</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được</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thiết</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kế</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với</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các</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interface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rõ</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ràng</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và</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các</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chi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tiết</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triển</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khai</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nội</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bộ</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được</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ẩn</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r>
              <a:rPr kumimoji="0" lang="en-US" altLang="vi-VN" b="0" i="0" u="none" strike="noStrike" normalizeH="0" baseline="0" dirty="0" err="1">
                <a:ln>
                  <a:noFill/>
                </a:ln>
                <a:latin typeface="Times New Roman" panose="02020603050405020304" pitchFamily="18" charset="0"/>
                <a:cs typeface="Times New Roman" panose="02020603050405020304" pitchFamily="18" charset="0"/>
              </a:rPr>
              <a:t>đi</a:t>
            </a:r>
            <a:r>
              <a:rPr kumimoji="0" lang="en-US" altLang="vi-VN" b="0" i="0" u="none" strike="noStrike" normalizeH="0" baseline="0" dirty="0">
                <a:ln>
                  <a:noFill/>
                </a:ln>
                <a:latin typeface="Times New Roman" panose="02020603050405020304" pitchFamily="18" charset="0"/>
                <a:cs typeface="Times New Roman" panose="02020603050405020304" pitchFamily="18" charset="0"/>
              </a:rPr>
              <a:t>. </a:t>
            </a:r>
          </a:p>
        </p:txBody>
      </p:sp>
      <p:sp>
        <p:nvSpPr>
          <p:cNvPr id="5" name="Content Placeholder 2">
            <a:extLst>
              <a:ext uri="{FF2B5EF4-FFF2-40B4-BE49-F238E27FC236}">
                <a16:creationId xmlns:a16="http://schemas.microsoft.com/office/drawing/2014/main" id="{668A815B-05D0-5C30-6209-793ADFEBE2AF}"/>
              </a:ext>
            </a:extLst>
          </p:cNvPr>
          <p:cNvSpPr txBox="1">
            <a:spLocks/>
          </p:cNvSpPr>
          <p:nvPr/>
        </p:nvSpPr>
        <p:spPr>
          <a:xfrm>
            <a:off x="602227" y="2166647"/>
            <a:ext cx="10131425" cy="3649133"/>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endParaRPr lang="vi-VN" dirty="0">
              <a:latin typeface="+mj-lt"/>
            </a:endParaRPr>
          </a:p>
        </p:txBody>
      </p:sp>
    </p:spTree>
    <p:extLst>
      <p:ext uri="{BB962C8B-B14F-4D97-AF65-F5344CB8AC3E}">
        <p14:creationId xmlns:p14="http://schemas.microsoft.com/office/powerpoint/2010/main" val="3599566179"/>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031BD-89BC-3140-9399-464F131770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8B918-4C73-4F4A-F797-3279AAC1D6C7}"/>
              </a:ext>
            </a:extLst>
          </p:cNvPr>
          <p:cNvSpPr>
            <a:spLocks noGrp="1"/>
          </p:cNvSpPr>
          <p:nvPr>
            <p:ph type="title"/>
          </p:nvPr>
        </p:nvSpPr>
        <p:spPr>
          <a:xfrm>
            <a:off x="486876" y="2032000"/>
            <a:ext cx="4513792" cy="2819398"/>
          </a:xfrm>
        </p:spPr>
        <p:txBody>
          <a:bodyPr vert="horz" lIns="91440" tIns="45720" rIns="91440" bIns="45720" rtlCol="0" anchor="b">
            <a:normAutofit fontScale="90000"/>
          </a:bodyPr>
          <a:lstStyle/>
          <a:p>
            <a:pPr algn="r">
              <a:lnSpc>
                <a:spcPct val="90000"/>
              </a:lnSpc>
            </a:pPr>
            <a:r>
              <a:rPr lang="en-US" sz="4800" dirty="0">
                <a:solidFill>
                  <a:srgbClr val="FFFFFF"/>
                </a:solidFill>
                <a:latin typeface="Times New Roman" panose="02020603050405020304" pitchFamily="18" charset="0"/>
                <a:cs typeface="Times New Roman" panose="02020603050405020304" pitchFamily="18" charset="0"/>
              </a:rPr>
              <a:t>MÔ HÌNH THEO NGUYÊN TẮC OOP VÀ MVVM ARCHITECTURE</a:t>
            </a:r>
          </a:p>
        </p:txBody>
      </p:sp>
      <p:sp>
        <p:nvSpPr>
          <p:cNvPr id="5" name="Content Placeholder 2">
            <a:extLst>
              <a:ext uri="{FF2B5EF4-FFF2-40B4-BE49-F238E27FC236}">
                <a16:creationId xmlns:a16="http://schemas.microsoft.com/office/drawing/2014/main" id="{1D68D76B-98D4-69E3-ED7B-C83D9DCC0BC6}"/>
              </a:ext>
            </a:extLst>
          </p:cNvPr>
          <p:cNvSpPr txBox="1">
            <a:spLocks/>
          </p:cNvSpPr>
          <p:nvPr/>
        </p:nvSpPr>
        <p:spPr>
          <a:xfrm>
            <a:off x="486876" y="4851399"/>
            <a:ext cx="4513792" cy="914401"/>
          </a:xfrm>
          <a:prstGeom prst="rect">
            <a:avLst/>
          </a:prstGeom>
        </p:spPr>
        <p:txBody>
          <a:bodyPr vert="horz" lIns="91440" tIns="45720" rIns="91440" bIns="45720" rtlCol="0" anchor="t">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r">
              <a:buNone/>
            </a:pPr>
            <a:r>
              <a:rPr lang="en-US" b="1" cap="all" dirty="0">
                <a:solidFill>
                  <a:srgbClr val="FFFFFF"/>
                </a:solidFill>
                <a:latin typeface="Times New Roman" panose="02020603050405020304" pitchFamily="18" charset="0"/>
                <a:cs typeface="Times New Roman" panose="02020603050405020304" pitchFamily="18" charset="0"/>
              </a:rPr>
              <a:t>2. </a:t>
            </a:r>
            <a:r>
              <a:rPr lang="en-US" b="1" cap="all" dirty="0" err="1">
                <a:solidFill>
                  <a:srgbClr val="FFFFFF"/>
                </a:solidFill>
                <a:latin typeface="Times New Roman" panose="02020603050405020304" pitchFamily="18" charset="0"/>
                <a:cs typeface="Times New Roman" panose="02020603050405020304" pitchFamily="18" charset="0"/>
              </a:rPr>
              <a:t>Tính</a:t>
            </a:r>
            <a:r>
              <a:rPr lang="en-US" b="1" cap="all" dirty="0">
                <a:solidFill>
                  <a:srgbClr val="FFFFFF"/>
                </a:solidFill>
                <a:latin typeface="Times New Roman" panose="02020603050405020304" pitchFamily="18" charset="0"/>
                <a:cs typeface="Times New Roman" panose="02020603050405020304" pitchFamily="18" charset="0"/>
              </a:rPr>
              <a:t> </a:t>
            </a:r>
            <a:r>
              <a:rPr lang="en-US" b="1" cap="all" dirty="0" err="1">
                <a:solidFill>
                  <a:srgbClr val="FFFFFF"/>
                </a:solidFill>
                <a:latin typeface="Times New Roman" panose="02020603050405020304" pitchFamily="18" charset="0"/>
                <a:cs typeface="Times New Roman" panose="02020603050405020304" pitchFamily="18" charset="0"/>
              </a:rPr>
              <a:t>kế</a:t>
            </a:r>
            <a:r>
              <a:rPr lang="en-US" b="1" cap="all" dirty="0">
                <a:solidFill>
                  <a:srgbClr val="FFFFFF"/>
                </a:solidFill>
                <a:latin typeface="Times New Roman" panose="02020603050405020304" pitchFamily="18" charset="0"/>
                <a:cs typeface="Times New Roman" panose="02020603050405020304" pitchFamily="18" charset="0"/>
              </a:rPr>
              <a:t> </a:t>
            </a:r>
            <a:r>
              <a:rPr lang="en-US" b="1" cap="all" dirty="0" err="1">
                <a:solidFill>
                  <a:srgbClr val="FFFFFF"/>
                </a:solidFill>
                <a:latin typeface="Times New Roman" panose="02020603050405020304" pitchFamily="18" charset="0"/>
                <a:cs typeface="Times New Roman" panose="02020603050405020304" pitchFamily="18" charset="0"/>
              </a:rPr>
              <a:t>thừa</a:t>
            </a:r>
            <a:r>
              <a:rPr lang="en-US" b="1" cap="all" dirty="0">
                <a:solidFill>
                  <a:srgbClr val="FFFFFF"/>
                </a:solidFill>
                <a:latin typeface="Times New Roman" panose="02020603050405020304" pitchFamily="18" charset="0"/>
                <a:cs typeface="Times New Roman" panose="02020603050405020304" pitchFamily="18" charset="0"/>
              </a:rPr>
              <a:t> (Inheritance)</a:t>
            </a:r>
          </a:p>
        </p:txBody>
      </p:sp>
      <p:pic>
        <p:nvPicPr>
          <p:cNvPr id="3074" name="Picture 2" descr="Java - Type of Inheritance with example">
            <a:extLst>
              <a:ext uri="{FF2B5EF4-FFF2-40B4-BE49-F238E27FC236}">
                <a16:creationId xmlns:a16="http://schemas.microsoft.com/office/drawing/2014/main" id="{4DA73AE1-81BC-91EA-05C8-E09CDC4473D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664679" y="2598282"/>
            <a:ext cx="5124328" cy="2882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023081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D0D90-3574-E75D-049E-40C7BD312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DF1737-017A-C975-3FF4-252961F507F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MÔ HÌNH THEO NGUYÊN TẮC OOP VÀ MVVM ARCHITECTURE</a:t>
            </a:r>
          </a:p>
        </p:txBody>
      </p:sp>
      <p:sp>
        <p:nvSpPr>
          <p:cNvPr id="5" name="Content Placeholder 2">
            <a:extLst>
              <a:ext uri="{FF2B5EF4-FFF2-40B4-BE49-F238E27FC236}">
                <a16:creationId xmlns:a16="http://schemas.microsoft.com/office/drawing/2014/main" id="{0569EC2D-02F2-CD2C-73B7-89BB52BF0FA6}"/>
              </a:ext>
            </a:extLst>
          </p:cNvPr>
          <p:cNvSpPr txBox="1">
            <a:spLocks/>
          </p:cNvSpPr>
          <p:nvPr/>
        </p:nvSpPr>
        <p:spPr>
          <a:xfrm>
            <a:off x="494072" y="681976"/>
            <a:ext cx="11570109" cy="3649133"/>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vi-VN" b="1" dirty="0">
                <a:latin typeface="+mj-lt"/>
              </a:rPr>
              <a:t>2. Tính kế thừa (Inheritance)</a:t>
            </a:r>
          </a:p>
          <a:p>
            <a:pPr marL="0" indent="0">
              <a:buNone/>
            </a:pPr>
            <a:r>
              <a:rPr lang="vi-VN" b="1" dirty="0">
                <a:latin typeface="+mj-lt"/>
              </a:rPr>
              <a:t>Mục tiêu:</a:t>
            </a:r>
            <a:r>
              <a:rPr lang="vi-VN" dirty="0">
                <a:latin typeface="+mj-lt"/>
              </a:rPr>
              <a:t> Tái sử dụng mã, thiết lập mối quan hệ "is-a" (là một loại của), và xây dựng hệ thống phân cấp các lớp.</a:t>
            </a:r>
          </a:p>
        </p:txBody>
      </p:sp>
      <p:sp>
        <p:nvSpPr>
          <p:cNvPr id="4" name="Rectangle 2">
            <a:extLst>
              <a:ext uri="{FF2B5EF4-FFF2-40B4-BE49-F238E27FC236}">
                <a16:creationId xmlns:a16="http://schemas.microsoft.com/office/drawing/2014/main" id="{C2C2A1FC-84FA-9287-7F19-75FC66E81E36}"/>
              </a:ext>
            </a:extLst>
          </p:cNvPr>
          <p:cNvSpPr>
            <a:spLocks noChangeArrowheads="1"/>
          </p:cNvSpPr>
          <p:nvPr/>
        </p:nvSpPr>
        <p:spPr bwMode="auto">
          <a:xfrm>
            <a:off x="685801" y="2820774"/>
            <a:ext cx="9593524"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sz="2000" b="1" i="0" u="none" strike="noStrike" cap="none" normalizeH="0" baseline="0" dirty="0">
                <a:ln>
                  <a:noFill/>
                </a:ln>
                <a:solidFill>
                  <a:schemeClr val="tx1"/>
                </a:solidFill>
                <a:effectLst/>
                <a:latin typeface="+mj-lt"/>
              </a:rPr>
              <a:t>Đặc tả trong Spiketune:</a:t>
            </a:r>
            <a:r>
              <a:rPr kumimoji="0" lang="vi-VN" altLang="vi-VN" sz="2000" b="0" i="0" u="none" strike="noStrike" cap="none" normalizeH="0" baseline="0" dirty="0">
                <a:ln>
                  <a:noFill/>
                </a:ln>
                <a:solidFill>
                  <a:schemeClr val="tx1"/>
                </a:solidFill>
                <a:effectLst/>
                <a:latin typeface="+mj-lt"/>
              </a:rPr>
              <a:t> </a:t>
            </a:r>
          </a:p>
          <a:p>
            <a:pPr marL="0" marR="0" lvl="0" indent="0" algn="l" defTabSz="914400" rtl="0" eaLnBrk="0" fontAlgn="base" latinLnBrk="0" hangingPunct="0">
              <a:lnSpc>
                <a:spcPct val="100000"/>
              </a:lnSpc>
              <a:spcBef>
                <a:spcPct val="0"/>
              </a:spcBef>
              <a:spcAft>
                <a:spcPct val="0"/>
              </a:spcAft>
              <a:buClrTx/>
              <a:buSzTx/>
              <a:tabLst/>
            </a:pPr>
            <a:r>
              <a:rPr kumimoji="0" lang="vi-VN" altLang="vi-VN" sz="2000" b="1" i="0" u="none" strike="noStrike" cap="none" normalizeH="0" baseline="0" dirty="0">
                <a:ln>
                  <a:noFill/>
                </a:ln>
                <a:solidFill>
                  <a:schemeClr val="tx1"/>
                </a:solidFill>
                <a:effectLst/>
                <a:latin typeface="+mj-lt"/>
              </a:rPr>
              <a:t>Quản lý Nội dung Media:</a:t>
            </a:r>
            <a:r>
              <a:rPr kumimoji="0" lang="vi-VN" altLang="vi-VN" sz="2000" b="0" i="0" u="none" strike="noStrike" cap="none" normalizeH="0" baseline="0" dirty="0">
                <a:ln>
                  <a:noFill/>
                </a:ln>
                <a:solidFill>
                  <a:schemeClr val="tx1"/>
                </a:solidFill>
                <a:effectLst/>
                <a:latin typeface="+mj-lt"/>
              </a:rPr>
              <a:t> Có thể có một lớp cơ sở trừu tượng MediaContent hoặc </a:t>
            </a:r>
            <a:endParaRPr kumimoji="0" lang="en-US" altLang="vi-VN" sz="2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2000" b="0" i="0" u="none" strike="noStrike" cap="none" normalizeH="0" baseline="0" dirty="0">
                <a:ln>
                  <a:noFill/>
                </a:ln>
                <a:solidFill>
                  <a:schemeClr val="tx1"/>
                </a:solidFill>
                <a:effectLst/>
                <a:latin typeface="+mj-lt"/>
              </a:rPr>
              <a:t>AudioContent với các thuộc tính chung như title, artist, duration, genre, coverArtUrl.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sz="2000" b="0" i="0" u="none" strike="noStrike" cap="none" normalizeH="0" baseline="0" dirty="0">
                <a:ln>
                  <a:noFill/>
                </a:ln>
                <a:solidFill>
                  <a:schemeClr val="tx1"/>
                </a:solidFill>
                <a:effectLst/>
                <a:latin typeface="+mj-lt"/>
              </a:rPr>
              <a:t>Các lớp con cụ thể như Song, Podcast, Audiobook sẽ kế thừa từ MediaContent, </a:t>
            </a:r>
            <a:endParaRPr kumimoji="0" lang="en-US" altLang="vi-VN" sz="2000"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tabLst/>
            </a:pPr>
            <a:r>
              <a:rPr kumimoji="0" lang="vi-VN" altLang="vi-VN" sz="2000" b="0" i="0" u="none" strike="noStrike" cap="none" normalizeH="0" baseline="0" dirty="0">
                <a:ln>
                  <a:noFill/>
                </a:ln>
                <a:solidFill>
                  <a:schemeClr val="tx1"/>
                </a:solidFill>
                <a:effectLst/>
                <a:latin typeface="+mj-lt"/>
              </a:rPr>
              <a:t>và mỗi lớp con có thể thêm các thuộc tính và phương thức đặc trưng của riêng nó </a:t>
            </a:r>
            <a:endParaRPr kumimoji="0" lang="en-US" altLang="vi-VN" sz="2000"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tabLst/>
            </a:pPr>
            <a:r>
              <a:rPr kumimoji="0" lang="vi-VN" altLang="vi-VN" sz="2000" b="0" i="0" u="none" strike="noStrike" cap="none" normalizeH="0" baseline="0" dirty="0">
                <a:ln>
                  <a:noFill/>
                </a:ln>
                <a:solidFill>
                  <a:schemeClr val="tx1"/>
                </a:solidFill>
                <a:effectLst/>
                <a:latin typeface="+mj-lt"/>
              </a:rPr>
              <a:t>(ví dụ: Song có album, Podcast có episodeNumber). </a:t>
            </a:r>
          </a:p>
          <a:p>
            <a:pPr marL="0" marR="0" lvl="0" indent="0" algn="l" defTabSz="914400" rtl="0" eaLnBrk="0" fontAlgn="base" latinLnBrk="0" hangingPunct="0">
              <a:lnSpc>
                <a:spcPct val="100000"/>
              </a:lnSpc>
              <a:spcBef>
                <a:spcPct val="0"/>
              </a:spcBef>
              <a:spcAft>
                <a:spcPct val="0"/>
              </a:spcAft>
              <a:buClrTx/>
              <a:buSzTx/>
              <a:tabLst/>
            </a:pPr>
            <a:r>
              <a:rPr kumimoji="0" lang="vi-VN" altLang="vi-VN" sz="2000" b="1" i="0" u="none" strike="noStrike" cap="none" normalizeH="0" baseline="0" dirty="0">
                <a:ln>
                  <a:noFill/>
                </a:ln>
                <a:solidFill>
                  <a:schemeClr val="tx1"/>
                </a:solidFill>
                <a:effectLst/>
                <a:latin typeface="+mj-lt"/>
              </a:rPr>
              <a:t>Quản lý Người dùng/Vai trò:</a:t>
            </a:r>
            <a:r>
              <a:rPr kumimoji="0" lang="vi-VN" altLang="vi-VN" sz="2000" b="0" i="0" u="none" strike="noStrike" cap="none" normalizeH="0" baseline="0" dirty="0">
                <a:ln>
                  <a:noFill/>
                </a:ln>
                <a:solidFill>
                  <a:schemeClr val="tx1"/>
                </a:solidFill>
                <a:effectLst/>
                <a:latin typeface="+mj-lt"/>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sz="2000" b="0" i="0" u="none" strike="noStrike" cap="none" normalizeH="0" baseline="0" dirty="0">
                <a:ln>
                  <a:noFill/>
                </a:ln>
                <a:solidFill>
                  <a:schemeClr val="tx1"/>
                </a:solidFill>
                <a:effectLst/>
                <a:latin typeface="+mj-lt"/>
              </a:rPr>
              <a:t>Lớp cơ sở User với các thuộc tính chung (userId, username, email).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sz="2000" b="0" i="0" u="none" strike="noStrike" cap="none" normalizeH="0" baseline="0" dirty="0">
                <a:ln>
                  <a:noFill/>
                </a:ln>
                <a:solidFill>
                  <a:schemeClr val="tx1"/>
                </a:solidFill>
                <a:effectLst/>
                <a:latin typeface="+mj-lt"/>
              </a:rPr>
              <a:t>Các lớp con như PremiumUser, ArtistUser, AdminUser có thể kế thừa từ User và thêm</a:t>
            </a:r>
            <a:endParaRPr kumimoji="0" lang="en-US" altLang="vi-VN" sz="2000"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tabLst/>
            </a:pPr>
            <a:r>
              <a:rPr kumimoji="0" lang="vi-VN" altLang="vi-VN" sz="2000" b="0" i="0" u="none" strike="noStrike" cap="none" normalizeH="0" baseline="0" dirty="0">
                <a:ln>
                  <a:noFill/>
                </a:ln>
                <a:solidFill>
                  <a:schemeClr val="tx1"/>
                </a:solidFill>
                <a:effectLst/>
                <a:latin typeface="+mj-lt"/>
              </a:rPr>
              <a:t> các quyền, tính năng đặc biệt.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sz="20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111171942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95EA9-36FD-E72E-58E4-F0E04522C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C158CD-29C9-501B-D508-6D1F5F154FB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MÔ HÌNH THEO NGUYÊN TẮC OOP VÀ MVVM ARCHITECTURE</a:t>
            </a:r>
          </a:p>
        </p:txBody>
      </p:sp>
      <p:sp>
        <p:nvSpPr>
          <p:cNvPr id="5" name="Content Placeholder 2">
            <a:extLst>
              <a:ext uri="{FF2B5EF4-FFF2-40B4-BE49-F238E27FC236}">
                <a16:creationId xmlns:a16="http://schemas.microsoft.com/office/drawing/2014/main" id="{F5098A21-81F4-A0F7-6F6C-077F1B2EDBB9}"/>
              </a:ext>
            </a:extLst>
          </p:cNvPr>
          <p:cNvSpPr txBox="1">
            <a:spLocks/>
          </p:cNvSpPr>
          <p:nvPr/>
        </p:nvSpPr>
        <p:spPr>
          <a:xfrm>
            <a:off x="602227" y="2166647"/>
            <a:ext cx="10131425" cy="3649133"/>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endParaRPr lang="vi-VN" dirty="0">
              <a:latin typeface="+mj-lt"/>
            </a:endParaRPr>
          </a:p>
        </p:txBody>
      </p:sp>
      <p:sp>
        <p:nvSpPr>
          <p:cNvPr id="6" name="TextBox 5">
            <a:extLst>
              <a:ext uri="{FF2B5EF4-FFF2-40B4-BE49-F238E27FC236}">
                <a16:creationId xmlns:a16="http://schemas.microsoft.com/office/drawing/2014/main" id="{1DF12739-7FA7-5B7D-B6A7-C31F889A9B15}"/>
              </a:ext>
            </a:extLst>
          </p:cNvPr>
          <p:cNvSpPr txBox="1"/>
          <p:nvPr/>
        </p:nvSpPr>
        <p:spPr>
          <a:xfrm>
            <a:off x="462116" y="2065867"/>
            <a:ext cx="11493910" cy="923330"/>
          </a:xfrm>
          <a:prstGeom prst="rect">
            <a:avLst/>
          </a:prstGeom>
          <a:noFill/>
        </p:spPr>
        <p:txBody>
          <a:bodyPr wrap="square">
            <a:spAutoFit/>
          </a:bodyPr>
          <a:lstStyle/>
          <a:p>
            <a:r>
              <a:rPr lang="vi-VN" b="1" dirty="0">
                <a:latin typeface="+mj-lt"/>
              </a:rPr>
              <a:t>3. Tính đa hình (Polymorphism)</a:t>
            </a:r>
          </a:p>
          <a:p>
            <a:r>
              <a:rPr lang="vi-VN" b="1" dirty="0">
                <a:latin typeface="+mj-lt"/>
              </a:rPr>
              <a:t>Mục tiêu:</a:t>
            </a:r>
            <a:r>
              <a:rPr lang="vi-VN" dirty="0">
                <a:latin typeface="+mj-lt"/>
              </a:rPr>
              <a:t> Cho phép các đối tượng thuộc các lớp khác nhau (nhưng có cùng lớp cha hoặc cùng triển khai một giao diện) được xử lý theo cùng một cách thông qua một giao diện chung.</a:t>
            </a:r>
          </a:p>
        </p:txBody>
      </p:sp>
      <p:sp>
        <p:nvSpPr>
          <p:cNvPr id="4" name="Rectangle 2">
            <a:extLst>
              <a:ext uri="{FF2B5EF4-FFF2-40B4-BE49-F238E27FC236}">
                <a16:creationId xmlns:a16="http://schemas.microsoft.com/office/drawing/2014/main" id="{A9B4B984-991B-66F6-0125-CF48264D33F8}"/>
              </a:ext>
            </a:extLst>
          </p:cNvPr>
          <p:cNvSpPr>
            <a:spLocks noChangeArrowheads="1"/>
          </p:cNvSpPr>
          <p:nvPr/>
        </p:nvSpPr>
        <p:spPr bwMode="auto">
          <a:xfrm>
            <a:off x="462116" y="3109079"/>
            <a:ext cx="1153392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b="1" i="0" u="none" strike="noStrike" cap="none" normalizeH="0" baseline="0" dirty="0">
                <a:ln>
                  <a:noFill/>
                </a:ln>
                <a:solidFill>
                  <a:schemeClr val="tx1"/>
                </a:solidFill>
                <a:effectLst/>
                <a:latin typeface="+mj-lt"/>
              </a:rPr>
              <a:t>Đặc tả trong Spiketune:</a:t>
            </a:r>
            <a:r>
              <a:rPr kumimoji="0" lang="vi-VN" altLang="vi-VN" b="0" i="0" u="none" strike="noStrike" cap="none" normalizeH="0" baseline="0" dirty="0">
                <a:ln>
                  <a:noFill/>
                </a:ln>
                <a:solidFill>
                  <a:schemeClr val="tx1"/>
                </a:solidFill>
                <a:effectLst/>
                <a:latin typeface="+mj-l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b="1" i="0" u="none" strike="noStrike" cap="none" normalizeH="0" baseline="0" dirty="0">
                <a:ln>
                  <a:noFill/>
                </a:ln>
                <a:solidFill>
                  <a:schemeClr val="tx1"/>
                </a:solidFill>
                <a:effectLst/>
                <a:latin typeface="+mj-lt"/>
              </a:rPr>
              <a:t>Giao diện IPlayable:</a:t>
            </a:r>
            <a:r>
              <a:rPr kumimoji="0" lang="vi-VN" altLang="vi-VN" b="0" i="0" u="none" strike="noStrike" cap="none" normalizeH="0" baseline="0" dirty="0">
                <a:ln>
                  <a:noFill/>
                </a:ln>
                <a:solidFill>
                  <a:schemeClr val="tx1"/>
                </a:solidFill>
                <a:effectLst/>
                <a:latin typeface="+mj-lt"/>
              </a:rPr>
              <a:t> Một giao diện (interface) IPlayable có thể được định nghĩa với phương thức play(), pause(), skip().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0" i="0" u="none" strike="noStrike" cap="none" normalizeH="0" baseline="0" dirty="0">
                <a:ln>
                  <a:noFill/>
                </a:ln>
                <a:solidFill>
                  <a:schemeClr val="tx1"/>
                </a:solidFill>
                <a:effectLst/>
                <a:latin typeface="+mj-lt"/>
              </a:rPr>
              <a:t>Các lớp Song, Podcast, Audiobook sẽ </a:t>
            </a:r>
            <a:r>
              <a:rPr kumimoji="0" lang="vi-VN" altLang="vi-VN" b="1" i="0" u="none" strike="noStrike" cap="none" normalizeH="0" baseline="0" dirty="0">
                <a:ln>
                  <a:noFill/>
                </a:ln>
                <a:solidFill>
                  <a:schemeClr val="tx1"/>
                </a:solidFill>
                <a:effectLst/>
                <a:latin typeface="+mj-lt"/>
              </a:rPr>
              <a:t>triển khai</a:t>
            </a:r>
            <a:r>
              <a:rPr kumimoji="0" lang="vi-VN" altLang="vi-VN" b="0" i="0" u="none" strike="noStrike" cap="none" normalizeH="0" baseline="0" dirty="0">
                <a:ln>
                  <a:noFill/>
                </a:ln>
                <a:solidFill>
                  <a:schemeClr val="tx1"/>
                </a:solidFill>
                <a:effectLst/>
                <a:latin typeface="+mj-lt"/>
              </a:rPr>
              <a:t> giao diện IPlayable.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0" i="0" u="none" strike="noStrike" cap="none" normalizeH="0" baseline="0" dirty="0">
                <a:ln>
                  <a:noFill/>
                </a:ln>
                <a:solidFill>
                  <a:schemeClr val="tx1"/>
                </a:solidFill>
                <a:effectLst/>
                <a:latin typeface="+mj-lt"/>
              </a:rPr>
              <a:t>Hệ thống phát nhạc (ví dụ: PlaybackService) có thể chấp nhận bất kỳ đối tượng nào triển khai </a:t>
            </a:r>
            <a:endParaRPr kumimoji="0" lang="en-US" altLang="vi-VN"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0" i="0" u="none" strike="noStrike" cap="none" normalizeH="0" baseline="0" dirty="0">
                <a:ln>
                  <a:noFill/>
                </a:ln>
                <a:solidFill>
                  <a:schemeClr val="tx1"/>
                </a:solidFill>
                <a:effectLst/>
                <a:latin typeface="+mj-lt"/>
              </a:rPr>
              <a:t>IPlayable và gọi phương thức play() của nó mà không cần biết chính xác đó là bài hát, podcast hay audiobook. </a:t>
            </a:r>
            <a:endParaRPr kumimoji="0" lang="en-US" altLang="vi-VN"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0" i="0" u="none" strike="noStrike" cap="none" normalizeH="0" baseline="0" dirty="0">
                <a:ln>
                  <a:noFill/>
                </a:ln>
                <a:solidFill>
                  <a:schemeClr val="tx1"/>
                </a:solidFill>
                <a:effectLst/>
                <a:latin typeface="+mj-lt"/>
              </a:rPr>
              <a:t>Điều này làm cho PlaybackService rất linh hoạt và dễ dàng mở rộng để hỗ trợ các loại nội dung mới trong tương lai.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b="1" i="0" u="none" strike="noStrike" cap="none" normalizeH="0" baseline="0" dirty="0">
                <a:ln>
                  <a:noFill/>
                </a:ln>
                <a:solidFill>
                  <a:schemeClr val="tx1"/>
                </a:solidFill>
                <a:effectLst/>
                <a:latin typeface="+mj-lt"/>
              </a:rPr>
              <a:t>Xử lý thanh toán:</a:t>
            </a:r>
            <a:r>
              <a:rPr kumimoji="0" lang="vi-VN" altLang="vi-VN" b="0" i="0" u="none" strike="noStrike" cap="none" normalizeH="0" baseline="0" dirty="0">
                <a:ln>
                  <a:noFill/>
                </a:ln>
                <a:solidFill>
                  <a:schemeClr val="tx1"/>
                </a:solidFill>
                <a:effectLst/>
                <a:latin typeface="+mj-lt"/>
              </a:rPr>
              <a:t> Có thể có giao diện IPaymentGateway với các phương thức như processPayment(), refund().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0" i="0" u="none" strike="noStrike" cap="none" normalizeH="0" baseline="0" dirty="0">
                <a:ln>
                  <a:noFill/>
                </a:ln>
                <a:solidFill>
                  <a:schemeClr val="tx1"/>
                </a:solidFill>
                <a:effectLst/>
                <a:latin typeface="+mj-lt"/>
              </a:rPr>
              <a:t>Các lớp triển khai cụ thể như StripePaymentGateway, PayPalPaymentGateway sẽ triển khai IPaymentGateway.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0" i="0" u="none" strike="noStrike" cap="none" normalizeH="0" baseline="0" dirty="0">
                <a:ln>
                  <a:noFill/>
                </a:ln>
                <a:solidFill>
                  <a:schemeClr val="tx1"/>
                </a:solidFill>
                <a:effectLst/>
                <a:latin typeface="+mj-lt"/>
              </a:rPr>
              <a:t>PaymentService có thể sử dụng đa hình để gọi processPayment() trên bất kỳ cổng thanh toán nào mà không cần</a:t>
            </a:r>
            <a:endParaRPr kumimoji="0" lang="en-US" altLang="vi-VN"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tabLst/>
            </a:pPr>
            <a:r>
              <a:rPr kumimoji="0" lang="vi-VN" altLang="vi-VN" b="0" i="0" u="none" strike="noStrike" cap="none" normalizeH="0" baseline="0" dirty="0">
                <a:ln>
                  <a:noFill/>
                </a:ln>
                <a:solidFill>
                  <a:schemeClr val="tx1"/>
                </a:solidFill>
                <a:effectLst/>
                <a:latin typeface="+mj-lt"/>
              </a:rPr>
              <a:t> biết chi tiết triển khai cụ thể của từng cổng.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4033475863"/>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A0B41-694E-DD4D-3954-23093C03E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0C496-1689-E4FC-9721-588DD8388A0D}"/>
              </a:ext>
            </a:extLst>
          </p:cNvPr>
          <p:cNvSpPr>
            <a:spLocks noGrp="1"/>
          </p:cNvSpPr>
          <p:nvPr>
            <p:ph type="title"/>
          </p:nvPr>
        </p:nvSpPr>
        <p:spPr>
          <a:xfrm>
            <a:off x="825909" y="808055"/>
            <a:ext cx="3979205" cy="1453363"/>
          </a:xfrm>
        </p:spPr>
        <p:txBody>
          <a:bodyPr vert="horz" lIns="91440" tIns="45720" rIns="91440" bIns="45720" rtlCol="0" anchor="ctr">
            <a:normAutofit fontScale="90000"/>
          </a:bodyPr>
          <a:lstStyle/>
          <a:p>
            <a:pPr>
              <a:lnSpc>
                <a:spcPct val="90000"/>
              </a:lnSpc>
            </a:pPr>
            <a:r>
              <a:rPr lang="en-US" sz="3100" dirty="0">
                <a:latin typeface="Times New Roman" panose="02020603050405020304" pitchFamily="18" charset="0"/>
                <a:cs typeface="Times New Roman" panose="02020603050405020304" pitchFamily="18" charset="0"/>
              </a:rPr>
              <a:t>MÔ HÌNH THEO NGUYÊN TẮC OOP VÀ MVVM ARCHITECTURE</a:t>
            </a:r>
          </a:p>
        </p:txBody>
      </p:sp>
      <p:sp>
        <p:nvSpPr>
          <p:cNvPr id="6" name="TextBox 5">
            <a:extLst>
              <a:ext uri="{FF2B5EF4-FFF2-40B4-BE49-F238E27FC236}">
                <a16:creationId xmlns:a16="http://schemas.microsoft.com/office/drawing/2014/main" id="{69EF0B8B-58C4-5FD8-4C48-406098F7D0AF}"/>
              </a:ext>
            </a:extLst>
          </p:cNvPr>
          <p:cNvSpPr txBox="1"/>
          <p:nvPr/>
        </p:nvSpPr>
        <p:spPr>
          <a:xfrm>
            <a:off x="802178" y="2261420"/>
            <a:ext cx="4002936" cy="3637935"/>
          </a:xfrm>
          <a:prstGeom prst="rect">
            <a:avLst/>
          </a:prstGeom>
        </p:spPr>
        <p:txBody>
          <a:bodyPr vert="horz" lIns="91440" tIns="45720" rIns="91440" bIns="45720" rtlCol="0" anchor="ctr">
            <a:normAutofit/>
          </a:bodyPr>
          <a:lstStyle/>
          <a:p>
            <a:pPr>
              <a:spcAft>
                <a:spcPts val="1000"/>
              </a:spcAft>
              <a:buClr>
                <a:schemeClr val="tx1"/>
              </a:buClr>
              <a:buSzPct val="100000"/>
            </a:pPr>
            <a:r>
              <a:rPr lang="en-US" b="1" dirty="0">
                <a:latin typeface="Times New Roman" panose="02020603050405020304" pitchFamily="18" charset="0"/>
                <a:cs typeface="Times New Roman" panose="02020603050405020304" pitchFamily="18" charset="0"/>
              </a:rPr>
              <a:t>3. </a:t>
            </a:r>
            <a:r>
              <a:rPr lang="en-US" b="1" dirty="0" err="1">
                <a:latin typeface="Times New Roman" panose="02020603050405020304" pitchFamily="18" charset="0"/>
                <a:cs typeface="Times New Roman" panose="02020603050405020304" pitchFamily="18" charset="0"/>
              </a:rPr>
              <a:t>Tính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hình</a:t>
            </a:r>
            <a:r>
              <a:rPr lang="en-US" b="1" dirty="0">
                <a:latin typeface="Times New Roman" panose="02020603050405020304" pitchFamily="18" charset="0"/>
                <a:cs typeface="Times New Roman" panose="02020603050405020304" pitchFamily="18" charset="0"/>
              </a:rPr>
              <a:t> (Polymorphism)</a:t>
            </a:r>
          </a:p>
          <a:p>
            <a:pPr>
              <a:spcAft>
                <a:spcPts val="1000"/>
              </a:spcAft>
              <a:buClr>
                <a:schemeClr val="tx1"/>
              </a:buClr>
              <a:buSzPct val="100000"/>
              <a:buFont typeface="Arial"/>
              <a:buChar char="•"/>
            </a:pPr>
            <a:r>
              <a:rPr lang="en-US" b="1" dirty="0" err="1">
                <a:latin typeface="Times New Roman" panose="02020603050405020304" pitchFamily="18" charset="0"/>
                <a:cs typeface="Times New Roman" panose="02020603050405020304" pitchFamily="18" charset="0"/>
              </a:rPr>
              <a:t>Mục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tiêu</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Cho </a:t>
            </a:r>
            <a:r>
              <a:rPr lang="en-US" dirty="0" err="1">
                <a:latin typeface="Times New Roman" panose="02020603050405020304" pitchFamily="18" charset="0"/>
                <a:cs typeface="Times New Roman" panose="02020603050405020304" pitchFamily="18" charset="0"/>
              </a:rPr>
              <a:t>phép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tượng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thuộc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lớp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lớp</a:t>
            </a:r>
            <a:r>
              <a:rPr lang="en-US" dirty="0">
                <a:latin typeface="Times New Roman" panose="02020603050405020304" pitchFamily="18" charset="0"/>
                <a:cs typeface="Times New Roman" panose="02020603050405020304" pitchFamily="18" charset="0"/>
              </a:rPr>
              <a:t> cha </a:t>
            </a:r>
            <a:r>
              <a:rPr lang="en-US" dirty="0" err="1">
                <a:latin typeface="Times New Roman" panose="02020603050405020304" pitchFamily="18" charset="0"/>
                <a:cs typeface="Times New Roman" panose="02020603050405020304" pitchFamily="18" charset="0"/>
              </a:rPr>
              <a:t>hoặc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qua </a:t>
            </a: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chung</a:t>
            </a:r>
            <a:r>
              <a:rPr lang="en-US" dirty="0">
                <a:latin typeface="Times New Roman" panose="02020603050405020304" pitchFamily="18" charset="0"/>
                <a:cs typeface="Times New Roman" panose="02020603050405020304" pitchFamily="18" charset="0"/>
              </a:rPr>
              <a:t>.</a:t>
            </a:r>
          </a:p>
        </p:txBody>
      </p:sp>
      <p:pic>
        <p:nvPicPr>
          <p:cNvPr id="4098" name="Picture 2" descr="Understanding Polymorphism in Object-Oriented Programming (OOP)">
            <a:extLst>
              <a:ext uri="{FF2B5EF4-FFF2-40B4-BE49-F238E27FC236}">
                <a16:creationId xmlns:a16="http://schemas.microsoft.com/office/drawing/2014/main" id="{F10E4B6D-6A5A-6662-2F6D-57E9C822D91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89752" y="1633499"/>
            <a:ext cx="6095593" cy="3428771"/>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9C5D610C-AB36-9F8A-55A0-57F1097DD6DA}"/>
              </a:ext>
            </a:extLst>
          </p:cNvPr>
          <p:cNvSpPr txBox="1">
            <a:spLocks/>
          </p:cNvSpPr>
          <p:nvPr/>
        </p:nvSpPr>
        <p:spPr>
          <a:xfrm>
            <a:off x="602227" y="2166647"/>
            <a:ext cx="10131425" cy="3649133"/>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endParaRPr lang="vi-VN" dirty="0">
              <a:latin typeface="+mj-lt"/>
            </a:endParaRPr>
          </a:p>
        </p:txBody>
      </p:sp>
    </p:spTree>
    <p:extLst>
      <p:ext uri="{BB962C8B-B14F-4D97-AF65-F5344CB8AC3E}">
        <p14:creationId xmlns:p14="http://schemas.microsoft.com/office/powerpoint/2010/main" val="278623724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73D97-2978-F549-0DB6-2E57CE2004F3}"/>
              </a:ext>
            </a:extLst>
          </p:cNvPr>
          <p:cNvSpPr>
            <a:spLocks noGrp="1"/>
          </p:cNvSpPr>
          <p:nvPr>
            <p:ph type="title"/>
          </p:nvPr>
        </p:nvSpPr>
        <p:spPr>
          <a:xfrm>
            <a:off x="7865806" y="643463"/>
            <a:ext cx="3706762" cy="1608124"/>
          </a:xfrm>
        </p:spPr>
        <p:txBody>
          <a:bodyPr>
            <a:normAutofit/>
          </a:bodyPr>
          <a:lstStyle/>
          <a:p>
            <a:pPr>
              <a:lnSpc>
                <a:spcPct val="90000"/>
              </a:lnSpc>
            </a:pPr>
            <a:r>
              <a:rPr lang="en-US" sz="3100" cap="none">
                <a:latin typeface="Times New Roman" panose="02020603050405020304" pitchFamily="18" charset="0"/>
                <a:cs typeface="Times New Roman" panose="02020603050405020304" pitchFamily="18" charset="0"/>
              </a:rPr>
              <a:t>II. </a:t>
            </a:r>
            <a:r>
              <a:rPr lang="en-US" sz="3100" cap="none" err="1">
                <a:latin typeface="Times New Roman" panose="02020603050405020304" pitchFamily="18" charset="0"/>
                <a:cs typeface="Times New Roman" panose="02020603050405020304" pitchFamily="18" charset="0"/>
              </a:rPr>
              <a:t>Đặc</a:t>
            </a:r>
            <a:r>
              <a:rPr lang="en-US" sz="3100" cap="none">
                <a:latin typeface="Times New Roman" panose="02020603050405020304" pitchFamily="18" charset="0"/>
                <a:cs typeface="Times New Roman" panose="02020603050405020304" pitchFamily="18" charset="0"/>
              </a:rPr>
              <a:t> </a:t>
            </a:r>
            <a:r>
              <a:rPr lang="en-US" sz="3100" cap="none" err="1">
                <a:latin typeface="Times New Roman" panose="02020603050405020304" pitchFamily="18" charset="0"/>
                <a:cs typeface="Times New Roman" panose="02020603050405020304" pitchFamily="18" charset="0"/>
              </a:rPr>
              <a:t>tả</a:t>
            </a:r>
            <a:r>
              <a:rPr lang="en-US" sz="3100" cap="none">
                <a:latin typeface="Times New Roman" panose="02020603050405020304" pitchFamily="18" charset="0"/>
                <a:cs typeface="Times New Roman" panose="02020603050405020304" pitchFamily="18" charset="0"/>
              </a:rPr>
              <a:t> </a:t>
            </a:r>
            <a:r>
              <a:rPr lang="en-US" sz="3100" cap="none" err="1">
                <a:latin typeface="Times New Roman" panose="02020603050405020304" pitchFamily="18" charset="0"/>
                <a:cs typeface="Times New Roman" panose="02020603050405020304" pitchFamily="18" charset="0"/>
              </a:rPr>
              <a:t>về</a:t>
            </a:r>
            <a:r>
              <a:rPr lang="en-US" sz="3100" cap="none">
                <a:latin typeface="Times New Roman" panose="02020603050405020304" pitchFamily="18" charset="0"/>
                <a:cs typeface="Times New Roman" panose="02020603050405020304" pitchFamily="18" charset="0"/>
              </a:rPr>
              <a:t> </a:t>
            </a:r>
            <a:r>
              <a:rPr lang="en-US" sz="3100" cap="none" err="1">
                <a:latin typeface="Times New Roman" panose="02020603050405020304" pitchFamily="18" charset="0"/>
                <a:cs typeface="Times New Roman" panose="02020603050405020304" pitchFamily="18" charset="0"/>
              </a:rPr>
              <a:t>kiến</a:t>
            </a:r>
            <a:r>
              <a:rPr lang="en-US" sz="3100" cap="none">
                <a:latin typeface="Times New Roman" panose="02020603050405020304" pitchFamily="18" charset="0"/>
                <a:cs typeface="Times New Roman" panose="02020603050405020304" pitchFamily="18" charset="0"/>
              </a:rPr>
              <a:t> </a:t>
            </a:r>
            <a:r>
              <a:rPr lang="en-US" sz="3100" cap="none" err="1">
                <a:latin typeface="Times New Roman" panose="02020603050405020304" pitchFamily="18" charset="0"/>
                <a:cs typeface="Times New Roman" panose="02020603050405020304" pitchFamily="18" charset="0"/>
              </a:rPr>
              <a:t>trúc</a:t>
            </a:r>
            <a:r>
              <a:rPr lang="en-US" sz="3100" cap="none">
                <a:latin typeface="Times New Roman" panose="02020603050405020304" pitchFamily="18" charset="0"/>
                <a:cs typeface="Times New Roman" panose="02020603050405020304" pitchFamily="18" charset="0"/>
              </a:rPr>
              <a:t> MVVM ( Model-View-</a:t>
            </a:r>
            <a:r>
              <a:rPr lang="en-US" sz="3100" cap="none" err="1">
                <a:latin typeface="Times New Roman" panose="02020603050405020304" pitchFamily="18" charset="0"/>
                <a:cs typeface="Times New Roman" panose="02020603050405020304" pitchFamily="18" charset="0"/>
              </a:rPr>
              <a:t>ViewModel</a:t>
            </a:r>
            <a:r>
              <a:rPr lang="en-US" sz="3100" cap="none">
                <a:latin typeface="Times New Roman" panose="02020603050405020304" pitchFamily="18" charset="0"/>
                <a:cs typeface="Times New Roman" panose="02020603050405020304" pitchFamily="18" charset="0"/>
              </a:rPr>
              <a:t>)</a:t>
            </a:r>
            <a:endParaRPr lang="vi-VN" sz="3100" cap="none">
              <a:latin typeface="Times New Roman" panose="02020603050405020304" pitchFamily="18" charset="0"/>
              <a:cs typeface="Times New Roman" panose="02020603050405020304" pitchFamily="18" charset="0"/>
            </a:endParaRPr>
          </a:p>
        </p:txBody>
      </p:sp>
      <p:pic>
        <p:nvPicPr>
          <p:cNvPr id="5122" name="Picture 2" descr="MVVM Architecture | Learn the Component of MVVM Architecture">
            <a:extLst>
              <a:ext uri="{FF2B5EF4-FFF2-40B4-BE49-F238E27FC236}">
                <a16:creationId xmlns:a16="http://schemas.microsoft.com/office/drawing/2014/main" id="{C257175C-8AD7-7DED-F798-C59FD26EB9F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4" y="1476368"/>
            <a:ext cx="6897878" cy="3914545"/>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ED69F5F-FC51-5451-D3E0-F9F790B4F4C5}"/>
              </a:ext>
            </a:extLst>
          </p:cNvPr>
          <p:cNvSpPr>
            <a:spLocks noGrp="1"/>
          </p:cNvSpPr>
          <p:nvPr>
            <p:ph idx="1"/>
          </p:nvPr>
        </p:nvSpPr>
        <p:spPr>
          <a:xfrm>
            <a:off x="7865806" y="2251587"/>
            <a:ext cx="3706762" cy="3972232"/>
          </a:xfrm>
        </p:spPr>
        <p:txBody>
          <a:bodyPr>
            <a:normAutofit/>
          </a:bodyPr>
          <a:lstStyle/>
          <a:p>
            <a:r>
              <a:rPr lang="vi-VN" dirty="0">
                <a:latin typeface="+mj-lt"/>
              </a:rPr>
              <a:t>Kiến trúc MVVM là nền tảng cho việc phát triển giao diện người dùng (UI) trên thiết bị di động của Spiketune, đảm bảo sự tách biệt rõ ràng giữa UI, logic nghiệp vụ và dữ liệu, giúp ứng dụng dễ dàng bảo trì, kiểm thử và mở rộng.</a:t>
            </a:r>
          </a:p>
        </p:txBody>
      </p:sp>
    </p:spTree>
    <p:extLst>
      <p:ext uri="{BB962C8B-B14F-4D97-AF65-F5344CB8AC3E}">
        <p14:creationId xmlns:p14="http://schemas.microsoft.com/office/powerpoint/2010/main" val="2222125574"/>
      </p:ext>
    </p:extLst>
  </p:cSld>
  <p:clrMapOvr>
    <a:masterClrMapping/>
  </p:clrMapOvr>
  <p:transition spd="slow">
    <p:comb/>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7FE9A-343C-5278-D1A5-79D7158C1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02D463-00D3-ECA0-E883-E80A9B21D3D2}"/>
              </a:ext>
            </a:extLst>
          </p:cNvPr>
          <p:cNvSpPr>
            <a:spLocks noGrp="1"/>
          </p:cNvSpPr>
          <p:nvPr>
            <p:ph type="title"/>
          </p:nvPr>
        </p:nvSpPr>
        <p:spPr/>
        <p:txBody>
          <a:bodyPr>
            <a:normAutofit/>
          </a:bodyPr>
          <a:lstStyle/>
          <a:p>
            <a:r>
              <a:rPr lang="en-US" cap="none" dirty="0">
                <a:latin typeface="Times New Roman" panose="02020603050405020304" pitchFamily="18" charset="0"/>
                <a:cs typeface="Times New Roman" panose="02020603050405020304" pitchFamily="18" charset="0"/>
              </a:rPr>
              <a:t>II. </a:t>
            </a:r>
            <a:r>
              <a:rPr lang="en-US" cap="none" dirty="0" err="1">
                <a:latin typeface="Times New Roman" panose="02020603050405020304" pitchFamily="18" charset="0"/>
                <a:cs typeface="Times New Roman" panose="02020603050405020304" pitchFamily="18" charset="0"/>
              </a:rPr>
              <a:t>Đặc</a:t>
            </a:r>
            <a:r>
              <a:rPr lang="en-US" cap="none" dirty="0">
                <a:latin typeface="Times New Roman" panose="02020603050405020304" pitchFamily="18" charset="0"/>
                <a:cs typeface="Times New Roman" panose="02020603050405020304" pitchFamily="18" charset="0"/>
              </a:rPr>
              <a:t> </a:t>
            </a:r>
            <a:r>
              <a:rPr lang="en-US" cap="none" dirty="0" err="1">
                <a:latin typeface="Times New Roman" panose="02020603050405020304" pitchFamily="18" charset="0"/>
                <a:cs typeface="Times New Roman" panose="02020603050405020304" pitchFamily="18" charset="0"/>
              </a:rPr>
              <a:t>tả</a:t>
            </a:r>
            <a:r>
              <a:rPr lang="en-US" cap="none" dirty="0">
                <a:latin typeface="Times New Roman" panose="02020603050405020304" pitchFamily="18" charset="0"/>
                <a:cs typeface="Times New Roman" panose="02020603050405020304" pitchFamily="18" charset="0"/>
              </a:rPr>
              <a:t> </a:t>
            </a:r>
            <a:r>
              <a:rPr lang="en-US" cap="none" dirty="0" err="1">
                <a:latin typeface="Times New Roman" panose="02020603050405020304" pitchFamily="18" charset="0"/>
                <a:cs typeface="Times New Roman" panose="02020603050405020304" pitchFamily="18" charset="0"/>
              </a:rPr>
              <a:t>về</a:t>
            </a:r>
            <a:r>
              <a:rPr lang="en-US" cap="none" dirty="0">
                <a:latin typeface="Times New Roman" panose="02020603050405020304" pitchFamily="18" charset="0"/>
                <a:cs typeface="Times New Roman" panose="02020603050405020304" pitchFamily="18" charset="0"/>
              </a:rPr>
              <a:t> </a:t>
            </a:r>
            <a:r>
              <a:rPr lang="en-US" cap="none" dirty="0" err="1">
                <a:latin typeface="Times New Roman" panose="02020603050405020304" pitchFamily="18" charset="0"/>
                <a:cs typeface="Times New Roman" panose="02020603050405020304" pitchFamily="18" charset="0"/>
              </a:rPr>
              <a:t>kiến</a:t>
            </a:r>
            <a:r>
              <a:rPr lang="en-US" cap="none" dirty="0">
                <a:latin typeface="Times New Roman" panose="02020603050405020304" pitchFamily="18" charset="0"/>
                <a:cs typeface="Times New Roman" panose="02020603050405020304" pitchFamily="18" charset="0"/>
              </a:rPr>
              <a:t> </a:t>
            </a:r>
            <a:r>
              <a:rPr lang="en-US" cap="none" dirty="0" err="1">
                <a:latin typeface="Times New Roman" panose="02020603050405020304" pitchFamily="18" charset="0"/>
                <a:cs typeface="Times New Roman" panose="02020603050405020304" pitchFamily="18" charset="0"/>
              </a:rPr>
              <a:t>trúc</a:t>
            </a:r>
            <a:r>
              <a:rPr lang="en-US" cap="none" dirty="0">
                <a:latin typeface="Times New Roman" panose="02020603050405020304" pitchFamily="18" charset="0"/>
                <a:cs typeface="Times New Roman" panose="02020603050405020304" pitchFamily="18" charset="0"/>
              </a:rPr>
              <a:t> MVVM ( Model-View-</a:t>
            </a:r>
            <a:r>
              <a:rPr lang="en-US" cap="none" dirty="0" err="1">
                <a:latin typeface="Times New Roman" panose="02020603050405020304" pitchFamily="18" charset="0"/>
                <a:cs typeface="Times New Roman" panose="02020603050405020304" pitchFamily="18" charset="0"/>
              </a:rPr>
              <a:t>ViewModel</a:t>
            </a:r>
            <a:r>
              <a:rPr lang="en-US" cap="none" dirty="0">
                <a:latin typeface="Times New Roman" panose="02020603050405020304" pitchFamily="18" charset="0"/>
                <a:cs typeface="Times New Roman" panose="02020603050405020304" pitchFamily="18" charset="0"/>
              </a:rPr>
              <a:t>)</a:t>
            </a:r>
            <a:endParaRPr lang="vi-VN"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7C1216-2BDA-BA7E-F627-B411E106339F}"/>
              </a:ext>
            </a:extLst>
          </p:cNvPr>
          <p:cNvSpPr>
            <a:spLocks noGrp="1"/>
          </p:cNvSpPr>
          <p:nvPr>
            <p:ph idx="1"/>
          </p:nvPr>
        </p:nvSpPr>
        <p:spPr>
          <a:xfrm>
            <a:off x="400666" y="500079"/>
            <a:ext cx="10131425" cy="3649133"/>
          </a:xfrm>
        </p:spPr>
        <p:txBody>
          <a:bodyPr/>
          <a:lstStyle/>
          <a:p>
            <a:r>
              <a:rPr lang="vi-VN" dirty="0">
                <a:latin typeface="+mj-lt"/>
              </a:rPr>
              <a:t>Kiến trúc MVVM là nền tảng cho việc phát triển giao diện người dùng (UI) trên thiết bị di động của Spiketune, đảm bảo sự tách biệt rõ ràng giữa UI, logic nghiệp vụ và dữ liệu, giúp ứng dụng dễ dàng bảo trì, kiểm thử và mở rộng.</a:t>
            </a:r>
          </a:p>
        </p:txBody>
      </p:sp>
      <p:sp>
        <p:nvSpPr>
          <p:cNvPr id="6" name="Rectangle 2">
            <a:extLst>
              <a:ext uri="{FF2B5EF4-FFF2-40B4-BE49-F238E27FC236}">
                <a16:creationId xmlns:a16="http://schemas.microsoft.com/office/drawing/2014/main" id="{8516AA57-09EB-EDA3-24C1-A9414B699431}"/>
              </a:ext>
            </a:extLst>
          </p:cNvPr>
          <p:cNvSpPr>
            <a:spLocks noChangeArrowheads="1"/>
          </p:cNvSpPr>
          <p:nvPr/>
        </p:nvSpPr>
        <p:spPr bwMode="auto">
          <a:xfrm>
            <a:off x="472894" y="2823666"/>
            <a:ext cx="11719106"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b="1" i="0" u="none" strike="noStrike" cap="none" normalizeH="0" baseline="0" dirty="0">
                <a:ln>
                  <a:noFill/>
                </a:ln>
                <a:solidFill>
                  <a:schemeClr val="tx1"/>
                </a:solidFill>
                <a:effectLst/>
                <a:latin typeface="+mj-lt"/>
              </a:rPr>
              <a:t>1. View (Giao diện người dùng)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b="1" i="0" u="none" strike="noStrike" cap="none" normalizeH="0" baseline="0" dirty="0">
                <a:ln>
                  <a:noFill/>
                </a:ln>
                <a:solidFill>
                  <a:schemeClr val="tx1"/>
                </a:solidFill>
                <a:effectLst/>
                <a:latin typeface="+mj-lt"/>
              </a:rPr>
              <a:t>Mục tiêu:</a:t>
            </a:r>
            <a:r>
              <a:rPr kumimoji="0" lang="vi-VN" altLang="vi-VN" b="0" i="0" u="none" strike="noStrike" cap="none" normalizeH="0" baseline="0" dirty="0">
                <a:ln>
                  <a:noFill/>
                </a:ln>
                <a:solidFill>
                  <a:schemeClr val="tx1"/>
                </a:solidFill>
                <a:effectLst/>
                <a:latin typeface="+mj-lt"/>
              </a:rPr>
              <a:t> Hiển thị dữ liệu cho người dùng và gửi các hành động của người dùng tới ViewModel. View không chứa </a:t>
            </a:r>
            <a:endParaRPr kumimoji="0" lang="en-US" altLang="vi-VN"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vi-VN" altLang="vi-VN" b="0" i="0" u="none" strike="noStrike" cap="none" normalizeH="0" baseline="0" dirty="0">
                <a:ln>
                  <a:noFill/>
                </a:ln>
                <a:solidFill>
                  <a:schemeClr val="tx1"/>
                </a:solidFill>
                <a:effectLst/>
                <a:latin typeface="+mj-lt"/>
              </a:rPr>
              <a:t>logic nghiệp vụ phức tạp.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b="1" i="0" u="none" strike="noStrike" cap="none" normalizeH="0" baseline="0" dirty="0">
                <a:ln>
                  <a:noFill/>
                </a:ln>
                <a:solidFill>
                  <a:schemeClr val="tx1"/>
                </a:solidFill>
                <a:effectLst/>
                <a:latin typeface="+mj-lt"/>
              </a:rPr>
              <a:t>Đặc tả trong Spiketune:</a:t>
            </a:r>
            <a:r>
              <a:rPr kumimoji="0" lang="vi-VN" altLang="vi-VN" b="0" i="0" u="none" strike="noStrike" cap="none" normalizeH="0" baseline="0" dirty="0">
                <a:ln>
                  <a:noFill/>
                </a:ln>
                <a:solidFill>
                  <a:schemeClr val="tx1"/>
                </a:solidFill>
                <a:effectLst/>
                <a:latin typeface="+mj-lt"/>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1" i="0" u="none" strike="noStrike" cap="none" normalizeH="0" baseline="0" dirty="0">
                <a:ln>
                  <a:noFill/>
                </a:ln>
                <a:solidFill>
                  <a:schemeClr val="tx1"/>
                </a:solidFill>
                <a:effectLst/>
                <a:latin typeface="+mj-lt"/>
              </a:rPr>
              <a:t>Các Activity/Fragment (Android):</a:t>
            </a:r>
            <a:r>
              <a:rPr kumimoji="0" lang="vi-VN" altLang="vi-VN" b="0" i="0" u="none" strike="noStrike" cap="none" normalizeH="0" baseline="0" dirty="0">
                <a:ln>
                  <a:noFill/>
                </a:ln>
                <a:solidFill>
                  <a:schemeClr val="tx1"/>
                </a:solidFill>
                <a:effectLst/>
                <a:latin typeface="+mj-lt"/>
              </a:rPr>
              <a:t> LoginActivity, RegisterActivity, màn hình chính, màn hình phát nhạc, v.v., </a:t>
            </a:r>
            <a:endParaRPr kumimoji="0" lang="en-US" altLang="vi-VN"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tabLst/>
            </a:pPr>
            <a:r>
              <a:rPr kumimoji="0" lang="vi-VN" altLang="vi-VN" b="0" i="0" u="none" strike="noStrike" cap="none" normalizeH="0" baseline="0" dirty="0">
                <a:ln>
                  <a:noFill/>
                </a:ln>
                <a:solidFill>
                  <a:schemeClr val="tx1"/>
                </a:solidFill>
                <a:effectLst/>
                <a:latin typeface="+mj-lt"/>
              </a:rPr>
              <a:t>sẽ là các View.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1" i="0" u="none" strike="noStrike" cap="none" normalizeH="0" baseline="0" dirty="0">
                <a:ln>
                  <a:noFill/>
                </a:ln>
                <a:solidFill>
                  <a:schemeClr val="tx1"/>
                </a:solidFill>
                <a:effectLst/>
                <a:latin typeface="+mj-lt"/>
              </a:rPr>
              <a:t>Các thành phần UI:</a:t>
            </a:r>
            <a:r>
              <a:rPr kumimoji="0" lang="vi-VN" altLang="vi-VN" b="0" i="0" u="none" strike="noStrike" cap="none" normalizeH="0" baseline="0" dirty="0">
                <a:ln>
                  <a:noFill/>
                </a:ln>
                <a:solidFill>
                  <a:schemeClr val="tx1"/>
                </a:solidFill>
                <a:effectLst/>
                <a:latin typeface="+mj-lt"/>
              </a:rPr>
              <a:t> ImageView (logo), TextView (nhãn, tiêu đề), EditText (trường nhập liệu), Button (nút bấm) </a:t>
            </a:r>
            <a:endParaRPr kumimoji="0" lang="en-US" altLang="vi-VN"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tabLst/>
            </a:pPr>
            <a:r>
              <a:rPr kumimoji="0" lang="vi-VN" altLang="vi-VN" b="0" i="0" u="none" strike="noStrike" cap="none" normalizeH="0" baseline="0" dirty="0">
                <a:ln>
                  <a:noFill/>
                </a:ln>
                <a:solidFill>
                  <a:schemeClr val="tx1"/>
                </a:solidFill>
                <a:effectLst/>
                <a:latin typeface="+mj-lt"/>
              </a:rPr>
              <a:t>như đã mô tả trong bản thiết kế giao diện ban đầu.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1" i="0" u="none" strike="noStrike" cap="none" normalizeH="0" baseline="0" dirty="0">
                <a:ln>
                  <a:noFill/>
                </a:ln>
                <a:solidFill>
                  <a:schemeClr val="tx1"/>
                </a:solidFill>
                <a:effectLst/>
                <a:latin typeface="+mj-lt"/>
              </a:rPr>
              <a:t>Data Binding (Liên kết dữ liệu):</a:t>
            </a:r>
            <a:r>
              <a:rPr kumimoji="0" lang="vi-VN" altLang="vi-VN" b="0" i="0" u="none" strike="noStrike" cap="none" normalizeH="0" baseline="0" dirty="0">
                <a:ln>
                  <a:noFill/>
                </a:ln>
                <a:solidFill>
                  <a:schemeClr val="tx1"/>
                </a:solidFill>
                <a:effectLst/>
                <a:latin typeface="+mj-lt"/>
              </a:rPr>
              <a:t> View sẽ sử dụng cơ chế Data Binding (hoặc LiveData/Flow trong Kotlin) để </a:t>
            </a:r>
            <a:endParaRPr kumimoji="0" lang="en-US" altLang="vi-VN"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tabLst/>
            </a:pPr>
            <a:r>
              <a:rPr kumimoji="0" lang="vi-VN" altLang="vi-VN" b="0" i="0" u="none" strike="noStrike" cap="none" normalizeH="0" baseline="0" dirty="0">
                <a:ln>
                  <a:noFill/>
                </a:ln>
                <a:solidFill>
                  <a:schemeClr val="tx1"/>
                </a:solidFill>
                <a:effectLst/>
                <a:latin typeface="+mj-lt"/>
              </a:rPr>
              <a:t>trực tiếp quan sát và cập nhật khi dữ liệu trong ViewModel thay đổi.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1" i="0" u="none" strike="noStrike" cap="none" normalizeH="0" baseline="0" dirty="0">
                <a:ln>
                  <a:noFill/>
                </a:ln>
                <a:solidFill>
                  <a:schemeClr val="tx1"/>
                </a:solidFill>
                <a:effectLst/>
                <a:latin typeface="+mj-lt"/>
              </a:rPr>
              <a:t>Không chứa Business Logic:</a:t>
            </a:r>
            <a:r>
              <a:rPr kumimoji="0" lang="vi-VN" altLang="vi-VN" b="0" i="0" u="none" strike="noStrike" cap="none" normalizeH="0" baseline="0" dirty="0">
                <a:ln>
                  <a:noFill/>
                </a:ln>
                <a:solidFill>
                  <a:schemeClr val="tx1"/>
                </a:solidFill>
                <a:effectLst/>
                <a:latin typeface="+mj-lt"/>
              </a:rPr>
              <a:t> View chỉ có nhiệm vụ hiển thị và truyền sự kiện (clicks, input changes) tới ViewModel. </a:t>
            </a:r>
            <a:endParaRPr kumimoji="0" lang="en-US" altLang="vi-VN"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tabLst/>
            </a:pPr>
            <a:r>
              <a:rPr kumimoji="0" lang="vi-VN" altLang="vi-VN" b="0" i="0" u="none" strike="noStrike" cap="none" normalizeH="0" baseline="0" dirty="0">
                <a:ln>
                  <a:noFill/>
                </a:ln>
                <a:solidFill>
                  <a:schemeClr val="tx1"/>
                </a:solidFill>
                <a:effectLst/>
                <a:latin typeface="+mj-lt"/>
              </a:rPr>
              <a:t>Nó không chứa code để xác thực người dùng, gọi API, hoặc xử lý dữ liệu.</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42568648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88BC3-9875-DDAF-4337-0D360B1F0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9A782-99E2-C416-A949-B3B5A836E9F8}"/>
              </a:ext>
            </a:extLst>
          </p:cNvPr>
          <p:cNvSpPr>
            <a:spLocks noGrp="1"/>
          </p:cNvSpPr>
          <p:nvPr>
            <p:ph type="title"/>
          </p:nvPr>
        </p:nvSpPr>
        <p:spPr>
          <a:xfrm>
            <a:off x="113045" y="-251209"/>
            <a:ext cx="12990005" cy="1456267"/>
          </a:xfrm>
        </p:spPr>
        <p:txBody>
          <a:bodyPr>
            <a:normAutofit/>
          </a:bodyPr>
          <a:lstStyle/>
          <a:p>
            <a:r>
              <a:rPr lang="en-US" cap="none" dirty="0">
                <a:latin typeface="Times New Roman" panose="02020603050405020304" pitchFamily="18" charset="0"/>
                <a:cs typeface="Times New Roman" panose="02020603050405020304" pitchFamily="18" charset="0"/>
              </a:rPr>
              <a:t>II. </a:t>
            </a:r>
            <a:r>
              <a:rPr lang="en-US" cap="none" dirty="0" err="1">
                <a:latin typeface="Times New Roman" panose="02020603050405020304" pitchFamily="18" charset="0"/>
                <a:cs typeface="Times New Roman" panose="02020603050405020304" pitchFamily="18" charset="0"/>
              </a:rPr>
              <a:t>Đặc</a:t>
            </a:r>
            <a:r>
              <a:rPr lang="en-US" cap="none" dirty="0">
                <a:latin typeface="Times New Roman" panose="02020603050405020304" pitchFamily="18" charset="0"/>
                <a:cs typeface="Times New Roman" panose="02020603050405020304" pitchFamily="18" charset="0"/>
              </a:rPr>
              <a:t> </a:t>
            </a:r>
            <a:r>
              <a:rPr lang="en-US" cap="none" dirty="0" err="1">
                <a:latin typeface="Times New Roman" panose="02020603050405020304" pitchFamily="18" charset="0"/>
                <a:cs typeface="Times New Roman" panose="02020603050405020304" pitchFamily="18" charset="0"/>
              </a:rPr>
              <a:t>tả</a:t>
            </a:r>
            <a:r>
              <a:rPr lang="en-US" cap="none" dirty="0">
                <a:latin typeface="Times New Roman" panose="02020603050405020304" pitchFamily="18" charset="0"/>
                <a:cs typeface="Times New Roman" panose="02020603050405020304" pitchFamily="18" charset="0"/>
              </a:rPr>
              <a:t> </a:t>
            </a:r>
            <a:r>
              <a:rPr lang="en-US" cap="none" dirty="0" err="1">
                <a:latin typeface="Times New Roman" panose="02020603050405020304" pitchFamily="18" charset="0"/>
                <a:cs typeface="Times New Roman" panose="02020603050405020304" pitchFamily="18" charset="0"/>
              </a:rPr>
              <a:t>về</a:t>
            </a:r>
            <a:r>
              <a:rPr lang="en-US" cap="none" dirty="0">
                <a:latin typeface="Times New Roman" panose="02020603050405020304" pitchFamily="18" charset="0"/>
                <a:cs typeface="Times New Roman" panose="02020603050405020304" pitchFamily="18" charset="0"/>
              </a:rPr>
              <a:t> </a:t>
            </a:r>
            <a:r>
              <a:rPr lang="en-US" cap="none" dirty="0" err="1">
                <a:latin typeface="Times New Roman" panose="02020603050405020304" pitchFamily="18" charset="0"/>
                <a:cs typeface="Times New Roman" panose="02020603050405020304" pitchFamily="18" charset="0"/>
              </a:rPr>
              <a:t>kiến</a:t>
            </a:r>
            <a:r>
              <a:rPr lang="en-US" cap="none" dirty="0">
                <a:latin typeface="Times New Roman" panose="02020603050405020304" pitchFamily="18" charset="0"/>
                <a:cs typeface="Times New Roman" panose="02020603050405020304" pitchFamily="18" charset="0"/>
              </a:rPr>
              <a:t> </a:t>
            </a:r>
            <a:r>
              <a:rPr lang="en-US" cap="none" dirty="0" err="1">
                <a:latin typeface="Times New Roman" panose="02020603050405020304" pitchFamily="18" charset="0"/>
                <a:cs typeface="Times New Roman" panose="02020603050405020304" pitchFamily="18" charset="0"/>
              </a:rPr>
              <a:t>trúc</a:t>
            </a:r>
            <a:r>
              <a:rPr lang="en-US" cap="none" dirty="0">
                <a:latin typeface="Times New Roman" panose="02020603050405020304" pitchFamily="18" charset="0"/>
                <a:cs typeface="Times New Roman" panose="02020603050405020304" pitchFamily="18" charset="0"/>
              </a:rPr>
              <a:t> MVVM ( Model-View-</a:t>
            </a:r>
            <a:r>
              <a:rPr lang="en-US" cap="none" dirty="0" err="1">
                <a:latin typeface="Times New Roman" panose="02020603050405020304" pitchFamily="18" charset="0"/>
                <a:cs typeface="Times New Roman" panose="02020603050405020304" pitchFamily="18" charset="0"/>
              </a:rPr>
              <a:t>ViewModel</a:t>
            </a:r>
            <a:r>
              <a:rPr lang="en-US" cap="none" dirty="0">
                <a:latin typeface="Times New Roman" panose="02020603050405020304" pitchFamily="18" charset="0"/>
                <a:cs typeface="Times New Roman" panose="02020603050405020304" pitchFamily="18" charset="0"/>
              </a:rPr>
              <a:t>)</a:t>
            </a:r>
            <a:endParaRPr lang="vi-VN" cap="none" dirty="0">
              <a:latin typeface="Times New Roman" panose="02020603050405020304" pitchFamily="18" charset="0"/>
              <a:cs typeface="Times New Roman" panose="02020603050405020304" pitchFamily="18" charset="0"/>
            </a:endParaRPr>
          </a:p>
        </p:txBody>
      </p:sp>
      <p:sp>
        <p:nvSpPr>
          <p:cNvPr id="10" name="Rectangle 4">
            <a:extLst>
              <a:ext uri="{FF2B5EF4-FFF2-40B4-BE49-F238E27FC236}">
                <a16:creationId xmlns:a16="http://schemas.microsoft.com/office/drawing/2014/main" id="{4F217204-F020-1B12-2779-20176CAF76DD}"/>
              </a:ext>
            </a:extLst>
          </p:cNvPr>
          <p:cNvSpPr>
            <a:spLocks noChangeArrowheads="1"/>
          </p:cNvSpPr>
          <p:nvPr/>
        </p:nvSpPr>
        <p:spPr bwMode="auto">
          <a:xfrm>
            <a:off x="871721" y="939341"/>
            <a:ext cx="1094665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b="1" i="0" u="none" strike="noStrike" cap="none" normalizeH="0" baseline="0" dirty="0">
                <a:ln>
                  <a:noFill/>
                </a:ln>
                <a:solidFill>
                  <a:schemeClr val="tx1"/>
                </a:solidFill>
                <a:effectLst/>
                <a:latin typeface="+mj-lt"/>
              </a:rPr>
              <a:t>2. ViewModel (Lớp trình quản lý giao diện)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b="1" i="0" u="none" strike="noStrike" cap="none" normalizeH="0" baseline="0" dirty="0">
                <a:ln>
                  <a:noFill/>
                </a:ln>
                <a:solidFill>
                  <a:schemeClr val="tx1"/>
                </a:solidFill>
                <a:effectLst/>
                <a:latin typeface="+mj-lt"/>
              </a:rPr>
              <a:t>Mục tiêu:</a:t>
            </a:r>
            <a:r>
              <a:rPr kumimoji="0" lang="vi-VN" altLang="vi-VN" b="0" i="0" u="none" strike="noStrike" cap="none" normalizeH="0" baseline="0" dirty="0">
                <a:ln>
                  <a:noFill/>
                </a:ln>
                <a:solidFill>
                  <a:schemeClr val="tx1"/>
                </a:solidFill>
                <a:effectLst/>
                <a:latin typeface="+mj-lt"/>
              </a:rPr>
              <a:t> Hoạt động như một cầu nối giữa Model và View. Nó chứa logic để chuẩn </a:t>
            </a:r>
            <a:endParaRPr kumimoji="0" lang="en-US" altLang="vi-VN"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vi-VN" altLang="vi-VN" b="0" i="0" u="none" strike="noStrike" cap="none" normalizeH="0" baseline="0" dirty="0">
                <a:ln>
                  <a:noFill/>
                </a:ln>
                <a:solidFill>
                  <a:schemeClr val="tx1"/>
                </a:solidFill>
                <a:effectLst/>
                <a:latin typeface="+mj-lt"/>
              </a:rPr>
              <a:t>bị dữ liệu từ Model cho View hiển thị, và xử lý các hành động từ View (thường bằng </a:t>
            </a:r>
            <a:endParaRPr lang="en-US" altLang="vi-VN" dirty="0">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vi-VN" altLang="vi-VN" b="0" i="0" u="none" strike="noStrike" cap="none" normalizeH="0" baseline="0" dirty="0">
                <a:ln>
                  <a:noFill/>
                </a:ln>
                <a:solidFill>
                  <a:schemeClr val="tx1"/>
                </a:solidFill>
                <a:effectLst/>
                <a:latin typeface="+mj-lt"/>
              </a:rPr>
              <a:t>cách tương tác với Model). ViewModel độc lập với vòng đời của View.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b="1" i="0" u="none" strike="noStrike" cap="none" normalizeH="0" baseline="0" dirty="0">
                <a:ln>
                  <a:noFill/>
                </a:ln>
                <a:solidFill>
                  <a:schemeClr val="tx1"/>
                </a:solidFill>
                <a:effectLst/>
                <a:latin typeface="+mj-lt"/>
              </a:rPr>
              <a:t>Đặc tả trong Spiketune:</a:t>
            </a:r>
            <a:r>
              <a:rPr kumimoji="0" lang="vi-VN" altLang="vi-VN" b="0" i="0" u="none" strike="noStrike" cap="none" normalizeH="0" baseline="0" dirty="0">
                <a:ln>
                  <a:noFill/>
                </a:ln>
                <a:solidFill>
                  <a:schemeClr val="tx1"/>
                </a:solidFill>
                <a:effectLst/>
                <a:latin typeface="+mj-lt"/>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1" i="0" u="none" strike="noStrike" cap="none" normalizeH="0" baseline="0" dirty="0">
                <a:ln>
                  <a:noFill/>
                </a:ln>
                <a:solidFill>
                  <a:schemeClr val="tx1"/>
                </a:solidFill>
                <a:effectLst/>
                <a:latin typeface="+mj-lt"/>
              </a:rPr>
              <a:t>Tương ứng với mỗi View:</a:t>
            </a:r>
            <a:r>
              <a:rPr kumimoji="0" lang="vi-VN" altLang="vi-VN" b="0" i="0" u="none" strike="noStrike" cap="none" normalizeH="0" baseline="0" dirty="0">
                <a:ln>
                  <a:noFill/>
                </a:ln>
                <a:solidFill>
                  <a:schemeClr val="tx1"/>
                </a:solidFill>
                <a:effectLst/>
                <a:latin typeface="+mj-lt"/>
              </a:rPr>
              <a:t> Mỗi View phức tạp (ví dụ: LoginActivity, </a:t>
            </a:r>
            <a:endParaRPr kumimoji="0" lang="en-US" altLang="vi-VN"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tabLst/>
            </a:pPr>
            <a:r>
              <a:rPr kumimoji="0" lang="vi-VN" altLang="vi-VN" b="0" i="0" u="none" strike="noStrike" cap="none" normalizeH="0" baseline="0" dirty="0">
                <a:ln>
                  <a:noFill/>
                </a:ln>
                <a:solidFill>
                  <a:schemeClr val="tx1"/>
                </a:solidFill>
                <a:effectLst/>
                <a:latin typeface="+mj-lt"/>
              </a:rPr>
              <a:t>MusicPlayerFragment) sẽ có một ViewModel tương ứng (ví dụ: LoginViewModel, </a:t>
            </a:r>
            <a:endParaRPr lang="en-US" altLang="vi-VN" dirty="0">
              <a:latin typeface="+mj-lt"/>
            </a:endParaRPr>
          </a:p>
          <a:p>
            <a:pPr marL="457200" marR="0" lvl="1" indent="0" algn="l" defTabSz="914400" rtl="0" eaLnBrk="0" fontAlgn="base" latinLnBrk="0" hangingPunct="0">
              <a:lnSpc>
                <a:spcPct val="100000"/>
              </a:lnSpc>
              <a:spcBef>
                <a:spcPct val="0"/>
              </a:spcBef>
              <a:spcAft>
                <a:spcPct val="0"/>
              </a:spcAft>
              <a:buClrTx/>
              <a:buSzTx/>
              <a:tabLst/>
            </a:pPr>
            <a:r>
              <a:rPr kumimoji="0" lang="vi-VN" altLang="vi-VN" b="0" i="0" u="none" strike="noStrike" cap="none" normalizeH="0" baseline="0" dirty="0">
                <a:ln>
                  <a:noFill/>
                </a:ln>
                <a:solidFill>
                  <a:schemeClr val="tx1"/>
                </a:solidFill>
                <a:effectLst/>
                <a:latin typeface="+mj-lt"/>
              </a:rPr>
              <a:t>MusicPlayerViewModel).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1" i="0" u="none" strike="noStrike" cap="none" normalizeH="0" baseline="0" dirty="0">
                <a:ln>
                  <a:noFill/>
                </a:ln>
                <a:solidFill>
                  <a:schemeClr val="tx1"/>
                </a:solidFill>
                <a:effectLst/>
                <a:latin typeface="+mj-lt"/>
              </a:rPr>
              <a:t>Chứa UI State và Logic:</a:t>
            </a:r>
            <a:r>
              <a:rPr kumimoji="0" lang="vi-VN" altLang="vi-VN" b="0" i="0" u="none" strike="noStrike" cap="none" normalizeH="0" baseline="0" dirty="0">
                <a:ln>
                  <a:noFill/>
                </a:ln>
                <a:solidFill>
                  <a:schemeClr val="tx1"/>
                </a:solidFill>
                <a:effectLst/>
                <a:latin typeface="+mj-lt"/>
              </a:rPr>
              <a:t> </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vi-VN" altLang="vi-VN" b="0" i="0" u="none" strike="noStrike" cap="none" normalizeH="0" baseline="0" dirty="0">
                <a:ln>
                  <a:noFill/>
                </a:ln>
                <a:solidFill>
                  <a:schemeClr val="tx1"/>
                </a:solidFill>
                <a:effectLst/>
                <a:latin typeface="+mj-lt"/>
              </a:rPr>
              <a:t>LoginViewModel: Chứa các MutableLiveData hoặc StateFlow cho username, </a:t>
            </a:r>
            <a:endParaRPr kumimoji="0" lang="en-US" altLang="vi-VN" b="0" i="0" u="none" strike="noStrike" cap="none" normalizeH="0" baseline="0" dirty="0">
              <a:ln>
                <a:noFill/>
              </a:ln>
              <a:solidFill>
                <a:schemeClr val="tx1"/>
              </a:solidFill>
              <a:effectLst/>
              <a:latin typeface="+mj-lt"/>
            </a:endParaRPr>
          </a:p>
          <a:p>
            <a:pPr marL="914400" marR="0" lvl="2" indent="0" algn="l" defTabSz="914400" rtl="0" eaLnBrk="0" fontAlgn="base" latinLnBrk="0" hangingPunct="0">
              <a:lnSpc>
                <a:spcPct val="100000"/>
              </a:lnSpc>
              <a:spcBef>
                <a:spcPct val="0"/>
              </a:spcBef>
              <a:spcAft>
                <a:spcPct val="0"/>
              </a:spcAft>
              <a:buClrTx/>
              <a:buSzTx/>
              <a:tabLst/>
            </a:pPr>
            <a:r>
              <a:rPr kumimoji="0" lang="vi-VN" altLang="vi-VN" b="0" i="0" u="none" strike="noStrike" cap="none" normalizeH="0" baseline="0" dirty="0">
                <a:ln>
                  <a:noFill/>
                </a:ln>
                <a:solidFill>
                  <a:schemeClr val="tx1"/>
                </a:solidFill>
                <a:effectLst/>
                <a:latin typeface="+mj-lt"/>
              </a:rPr>
              <a:t>password, isLoading, errorMessage. Nó sẽ có phương thức login() để gọi tới </a:t>
            </a:r>
            <a:endParaRPr kumimoji="0" lang="en-US" altLang="vi-VN" b="0" i="0" u="none" strike="noStrike" cap="none" normalizeH="0" baseline="0" dirty="0">
              <a:ln>
                <a:noFill/>
              </a:ln>
              <a:solidFill>
                <a:schemeClr val="tx1"/>
              </a:solidFill>
              <a:effectLst/>
              <a:latin typeface="+mj-lt"/>
            </a:endParaRPr>
          </a:p>
          <a:p>
            <a:pPr marL="914400" marR="0" lvl="2" indent="0" algn="l" defTabSz="914400" rtl="0" eaLnBrk="0" fontAlgn="base" latinLnBrk="0" hangingPunct="0">
              <a:lnSpc>
                <a:spcPct val="100000"/>
              </a:lnSpc>
              <a:spcBef>
                <a:spcPct val="0"/>
              </a:spcBef>
              <a:spcAft>
                <a:spcPct val="0"/>
              </a:spcAft>
              <a:buClrTx/>
              <a:buSzTx/>
              <a:tabLst/>
            </a:pPr>
            <a:r>
              <a:rPr kumimoji="0" lang="vi-VN" altLang="vi-VN" b="0" i="0" u="none" strike="noStrike" cap="none" normalizeH="0" baseline="0" dirty="0">
                <a:ln>
                  <a:noFill/>
                </a:ln>
                <a:solidFill>
                  <a:schemeClr val="tx1"/>
                </a:solidFill>
                <a:effectLst/>
                <a:latin typeface="+mj-lt"/>
              </a:rPr>
              <a:t>UserRepository (Model) và cập nhật trạng thái UI. </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vi-VN" altLang="vi-VN" b="0" i="0" u="none" strike="noStrike" cap="none" normalizeH="0" baseline="0" dirty="0">
                <a:ln>
                  <a:noFill/>
                </a:ln>
                <a:solidFill>
                  <a:schemeClr val="tx1"/>
                </a:solidFill>
                <a:effectLst/>
                <a:latin typeface="+mj-lt"/>
              </a:rPr>
              <a:t>MusicPlayerViewModel: Chứa MutableLiveData cho currentSong, isPlaying, </a:t>
            </a:r>
            <a:endParaRPr lang="en-US" altLang="vi-VN" dirty="0">
              <a:latin typeface="+mj-lt"/>
            </a:endParaRPr>
          </a:p>
          <a:p>
            <a:pPr marL="914400" marR="0" lvl="2" indent="0" algn="l" defTabSz="914400" rtl="0" eaLnBrk="0" fontAlgn="base" latinLnBrk="0" hangingPunct="0">
              <a:lnSpc>
                <a:spcPct val="100000"/>
              </a:lnSpc>
              <a:spcBef>
                <a:spcPct val="0"/>
              </a:spcBef>
              <a:spcAft>
                <a:spcPct val="0"/>
              </a:spcAft>
              <a:buClrTx/>
              <a:buSzTx/>
              <a:tabLst/>
            </a:pPr>
            <a:r>
              <a:rPr kumimoji="0" lang="vi-VN" altLang="vi-VN" b="0" i="0" u="none" strike="noStrike" cap="none" normalizeH="0" baseline="0" dirty="0">
                <a:ln>
                  <a:noFill/>
                </a:ln>
                <a:solidFill>
                  <a:schemeClr val="tx1"/>
                </a:solidFill>
                <a:effectLst/>
                <a:latin typeface="+mj-lt"/>
              </a:rPr>
              <a:t>playbackProgress. Nó sẽ có các phương thức play(), pause(), skip() để tương tác </a:t>
            </a:r>
            <a:endParaRPr kumimoji="0" lang="en-US" altLang="vi-VN" b="0" i="0" u="none" strike="noStrike" cap="none" normalizeH="0" baseline="0" dirty="0">
              <a:ln>
                <a:noFill/>
              </a:ln>
              <a:solidFill>
                <a:schemeClr val="tx1"/>
              </a:solidFill>
              <a:effectLst/>
              <a:latin typeface="+mj-lt"/>
            </a:endParaRPr>
          </a:p>
          <a:p>
            <a:pPr marL="914400" marR="0" lvl="2" indent="0" algn="l" defTabSz="914400" rtl="0" eaLnBrk="0" fontAlgn="base" latinLnBrk="0" hangingPunct="0">
              <a:lnSpc>
                <a:spcPct val="100000"/>
              </a:lnSpc>
              <a:spcBef>
                <a:spcPct val="0"/>
              </a:spcBef>
              <a:spcAft>
                <a:spcPct val="0"/>
              </a:spcAft>
              <a:buClrTx/>
              <a:buSzTx/>
              <a:tabLst/>
            </a:pPr>
            <a:r>
              <a:rPr kumimoji="0" lang="vi-VN" altLang="vi-VN" b="0" i="0" u="none" strike="noStrike" cap="none" normalizeH="0" baseline="0" dirty="0">
                <a:ln>
                  <a:noFill/>
                </a:ln>
                <a:solidFill>
                  <a:schemeClr val="tx1"/>
                </a:solidFill>
                <a:effectLst/>
                <a:latin typeface="+mj-lt"/>
              </a:rPr>
              <a:t>với MusicRepository hoặc PlaybackService.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1" i="0" u="none" strike="noStrike" cap="none" normalizeH="0" baseline="0" dirty="0">
                <a:ln>
                  <a:noFill/>
                </a:ln>
                <a:solidFill>
                  <a:schemeClr val="tx1"/>
                </a:solidFill>
                <a:effectLst/>
                <a:latin typeface="+mj-lt"/>
              </a:rPr>
              <a:t>Không giữ tham chiếu View:</a:t>
            </a:r>
            <a:r>
              <a:rPr kumimoji="0" lang="vi-VN" altLang="vi-VN" b="0" i="0" u="none" strike="noStrike" cap="none" normalizeH="0" baseline="0" dirty="0">
                <a:ln>
                  <a:noFill/>
                </a:ln>
                <a:solidFill>
                  <a:schemeClr val="tx1"/>
                </a:solidFill>
                <a:effectLst/>
                <a:latin typeface="+mj-lt"/>
              </a:rPr>
              <a:t> ViewModel không bao giờ giữ tham chiếu đến View, </a:t>
            </a:r>
            <a:endParaRPr kumimoji="0" lang="en-US" altLang="vi-VN"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tabLst/>
            </a:pPr>
            <a:r>
              <a:rPr kumimoji="0" lang="vi-VN" altLang="vi-VN" b="0" i="0" u="none" strike="noStrike" cap="none" normalizeH="0" baseline="0" dirty="0">
                <a:ln>
                  <a:noFill/>
                </a:ln>
                <a:solidFill>
                  <a:schemeClr val="tx1"/>
                </a:solidFill>
                <a:effectLst/>
                <a:latin typeface="+mj-lt"/>
              </a:rPr>
              <a:t>giúp tránh rò rỉ bộ nhớ.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b="1" i="0" u="none" strike="noStrike" cap="none" normalizeH="0" baseline="0" dirty="0">
                <a:ln>
                  <a:noFill/>
                </a:ln>
                <a:solidFill>
                  <a:schemeClr val="tx1"/>
                </a:solidFill>
                <a:effectLst/>
                <a:latin typeface="+mj-lt"/>
              </a:rPr>
              <a:t>Sử dụng Coroutines/RxJava:</a:t>
            </a:r>
            <a:r>
              <a:rPr kumimoji="0" lang="vi-VN" altLang="vi-VN" b="0" i="0" u="none" strike="noStrike" cap="none" normalizeH="0" baseline="0" dirty="0">
                <a:ln>
                  <a:noFill/>
                </a:ln>
                <a:solidFill>
                  <a:schemeClr val="tx1"/>
                </a:solidFill>
                <a:effectLst/>
                <a:latin typeface="+mj-lt"/>
              </a:rPr>
              <a:t> ViewModel sẽ sử dụng các cơ chế bất đồng bộ để thực </a:t>
            </a:r>
            <a:endParaRPr kumimoji="0" lang="en-US" altLang="vi-VN"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tabLst/>
            </a:pPr>
            <a:r>
              <a:rPr kumimoji="0" lang="vi-VN" altLang="vi-VN" b="0" i="0" u="none" strike="noStrike" cap="none" normalizeH="0" baseline="0" dirty="0">
                <a:ln>
                  <a:noFill/>
                </a:ln>
                <a:solidFill>
                  <a:schemeClr val="tx1"/>
                </a:solidFill>
                <a:effectLst/>
                <a:latin typeface="+mj-lt"/>
              </a:rPr>
              <a:t>hiện các tác vụ dài (ví dụ: gọi API mạng) mà không làm đóng băng UI.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825745234"/>
      </p:ext>
    </p:extLst>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A811D-CC8A-43B8-8355-A762039DA5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1F78E0-27C0-5E9A-1383-6ED3C65A6680}"/>
              </a:ext>
            </a:extLst>
          </p:cNvPr>
          <p:cNvSpPr>
            <a:spLocks noGrp="1"/>
          </p:cNvSpPr>
          <p:nvPr>
            <p:ph type="title"/>
          </p:nvPr>
        </p:nvSpPr>
        <p:spPr>
          <a:xfrm>
            <a:off x="113045" y="-251209"/>
            <a:ext cx="12990005" cy="1456267"/>
          </a:xfrm>
        </p:spPr>
        <p:txBody>
          <a:bodyPr>
            <a:normAutofit/>
          </a:bodyPr>
          <a:lstStyle/>
          <a:p>
            <a:r>
              <a:rPr lang="en-US" cap="none" dirty="0">
                <a:latin typeface="Times New Roman" panose="02020603050405020304" pitchFamily="18" charset="0"/>
                <a:cs typeface="Times New Roman" panose="02020603050405020304" pitchFamily="18" charset="0"/>
              </a:rPr>
              <a:t>II. </a:t>
            </a:r>
            <a:r>
              <a:rPr lang="en-US" cap="none" dirty="0" err="1">
                <a:latin typeface="Times New Roman" panose="02020603050405020304" pitchFamily="18" charset="0"/>
                <a:cs typeface="Times New Roman" panose="02020603050405020304" pitchFamily="18" charset="0"/>
              </a:rPr>
              <a:t>Đặc</a:t>
            </a:r>
            <a:r>
              <a:rPr lang="en-US" cap="none" dirty="0">
                <a:latin typeface="Times New Roman" panose="02020603050405020304" pitchFamily="18" charset="0"/>
                <a:cs typeface="Times New Roman" panose="02020603050405020304" pitchFamily="18" charset="0"/>
              </a:rPr>
              <a:t> </a:t>
            </a:r>
            <a:r>
              <a:rPr lang="en-US" cap="none" dirty="0" err="1">
                <a:latin typeface="Times New Roman" panose="02020603050405020304" pitchFamily="18" charset="0"/>
                <a:cs typeface="Times New Roman" panose="02020603050405020304" pitchFamily="18" charset="0"/>
              </a:rPr>
              <a:t>tả</a:t>
            </a:r>
            <a:r>
              <a:rPr lang="en-US" cap="none" dirty="0">
                <a:latin typeface="Times New Roman" panose="02020603050405020304" pitchFamily="18" charset="0"/>
                <a:cs typeface="Times New Roman" panose="02020603050405020304" pitchFamily="18" charset="0"/>
              </a:rPr>
              <a:t> </a:t>
            </a:r>
            <a:r>
              <a:rPr lang="en-US" cap="none" dirty="0" err="1">
                <a:latin typeface="Times New Roman" panose="02020603050405020304" pitchFamily="18" charset="0"/>
                <a:cs typeface="Times New Roman" panose="02020603050405020304" pitchFamily="18" charset="0"/>
              </a:rPr>
              <a:t>về</a:t>
            </a:r>
            <a:r>
              <a:rPr lang="en-US" cap="none" dirty="0">
                <a:latin typeface="Times New Roman" panose="02020603050405020304" pitchFamily="18" charset="0"/>
                <a:cs typeface="Times New Roman" panose="02020603050405020304" pitchFamily="18" charset="0"/>
              </a:rPr>
              <a:t> </a:t>
            </a:r>
            <a:r>
              <a:rPr lang="en-US" cap="none" dirty="0" err="1">
                <a:latin typeface="Times New Roman" panose="02020603050405020304" pitchFamily="18" charset="0"/>
                <a:cs typeface="Times New Roman" panose="02020603050405020304" pitchFamily="18" charset="0"/>
              </a:rPr>
              <a:t>kiến</a:t>
            </a:r>
            <a:r>
              <a:rPr lang="en-US" cap="none" dirty="0">
                <a:latin typeface="Times New Roman" panose="02020603050405020304" pitchFamily="18" charset="0"/>
                <a:cs typeface="Times New Roman" panose="02020603050405020304" pitchFamily="18" charset="0"/>
              </a:rPr>
              <a:t> </a:t>
            </a:r>
            <a:r>
              <a:rPr lang="en-US" cap="none" dirty="0" err="1">
                <a:latin typeface="Times New Roman" panose="02020603050405020304" pitchFamily="18" charset="0"/>
                <a:cs typeface="Times New Roman" panose="02020603050405020304" pitchFamily="18" charset="0"/>
              </a:rPr>
              <a:t>trúc</a:t>
            </a:r>
            <a:r>
              <a:rPr lang="en-US" cap="none" dirty="0">
                <a:latin typeface="Times New Roman" panose="02020603050405020304" pitchFamily="18" charset="0"/>
                <a:cs typeface="Times New Roman" panose="02020603050405020304" pitchFamily="18" charset="0"/>
              </a:rPr>
              <a:t> MVVM ( Model-View-</a:t>
            </a:r>
            <a:r>
              <a:rPr lang="en-US" cap="none" dirty="0" err="1">
                <a:latin typeface="Times New Roman" panose="02020603050405020304" pitchFamily="18" charset="0"/>
                <a:cs typeface="Times New Roman" panose="02020603050405020304" pitchFamily="18" charset="0"/>
              </a:rPr>
              <a:t>ViewModel</a:t>
            </a:r>
            <a:r>
              <a:rPr lang="en-US" cap="none" dirty="0">
                <a:latin typeface="Times New Roman" panose="02020603050405020304" pitchFamily="18" charset="0"/>
                <a:cs typeface="Times New Roman" panose="02020603050405020304" pitchFamily="18" charset="0"/>
              </a:rPr>
              <a:t>)</a:t>
            </a:r>
            <a:endParaRPr lang="vi-VN" cap="none"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CB93CE6F-758E-42B1-C88C-7FA9B506FC0D}"/>
              </a:ext>
            </a:extLst>
          </p:cNvPr>
          <p:cNvSpPr>
            <a:spLocks noChangeArrowheads="1"/>
          </p:cNvSpPr>
          <p:nvPr/>
        </p:nvSpPr>
        <p:spPr bwMode="auto">
          <a:xfrm>
            <a:off x="359493" y="945580"/>
            <a:ext cx="11473013"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sz="2000" b="1" i="0" u="none" strike="noStrike" cap="none" normalizeH="0" baseline="0" dirty="0">
                <a:ln>
                  <a:noFill/>
                </a:ln>
                <a:solidFill>
                  <a:schemeClr val="tx1"/>
                </a:solidFill>
                <a:effectLst/>
                <a:latin typeface="+mj-lt"/>
              </a:rPr>
              <a:t>3. Model (Dữ liệu và Logic nghiệp vụ cốt lõi)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2000" b="1" i="0" u="none" strike="noStrike" cap="none" normalizeH="0" baseline="0" dirty="0">
                <a:ln>
                  <a:noFill/>
                </a:ln>
                <a:solidFill>
                  <a:schemeClr val="tx1"/>
                </a:solidFill>
                <a:effectLst/>
                <a:latin typeface="+mj-lt"/>
              </a:rPr>
              <a:t>Mục tiêu:</a:t>
            </a:r>
            <a:r>
              <a:rPr kumimoji="0" lang="vi-VN" altLang="vi-VN" sz="2000" b="0" i="0" u="none" strike="noStrike" cap="none" normalizeH="0" baseline="0" dirty="0">
                <a:ln>
                  <a:noFill/>
                </a:ln>
                <a:solidFill>
                  <a:schemeClr val="tx1"/>
                </a:solidFill>
                <a:effectLst/>
                <a:latin typeface="+mj-lt"/>
              </a:rPr>
              <a:t> Chịu trách nhiệm về dữ liệu của ứng dụng và logic nghiệp vụ cốt lõi. Nó độc lập với UI.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2000" b="1" i="0" u="none" strike="noStrike" cap="none" normalizeH="0" baseline="0" dirty="0">
                <a:ln>
                  <a:noFill/>
                </a:ln>
                <a:solidFill>
                  <a:schemeClr val="tx1"/>
                </a:solidFill>
                <a:effectLst/>
                <a:latin typeface="+mj-lt"/>
              </a:rPr>
              <a:t>Đặc tả trong Spiketune:</a:t>
            </a:r>
            <a:r>
              <a:rPr kumimoji="0" lang="vi-VN" altLang="vi-VN" sz="2000" b="0" i="0" u="none" strike="noStrike" cap="none" normalizeH="0" baseline="0" dirty="0">
                <a:ln>
                  <a:noFill/>
                </a:ln>
                <a:solidFill>
                  <a:schemeClr val="tx1"/>
                </a:solidFill>
                <a:effectLst/>
                <a:latin typeface="+mj-lt"/>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sz="2000" b="1" i="0" u="none" strike="noStrike" cap="none" normalizeH="0" baseline="0" dirty="0">
                <a:ln>
                  <a:noFill/>
                </a:ln>
                <a:solidFill>
                  <a:schemeClr val="tx1"/>
                </a:solidFill>
                <a:effectLst/>
                <a:latin typeface="+mj-lt"/>
              </a:rPr>
              <a:t>Data Models:</a:t>
            </a:r>
            <a:r>
              <a:rPr kumimoji="0" lang="vi-VN" altLang="vi-VN" sz="2000" b="0" i="0" u="none" strike="noStrike" cap="none" normalizeH="0" baseline="0" dirty="0">
                <a:ln>
                  <a:noFill/>
                </a:ln>
                <a:solidFill>
                  <a:schemeClr val="tx1"/>
                </a:solidFill>
                <a:effectLst/>
                <a:latin typeface="+mj-lt"/>
              </a:rPr>
              <a:t> Các lớp dữ liệu POJO/Kotlin Data Class như User, Song, Playlist, Album, Artist </a:t>
            </a:r>
            <a:endParaRPr kumimoji="0" lang="en-US" altLang="vi-VN" sz="2000"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tabLst/>
            </a:pPr>
            <a:r>
              <a:rPr kumimoji="0" lang="vi-VN" altLang="vi-VN" sz="2000" b="0" i="0" u="none" strike="noStrike" cap="none" normalizeH="0" baseline="0" dirty="0">
                <a:ln>
                  <a:noFill/>
                </a:ln>
                <a:solidFill>
                  <a:schemeClr val="tx1"/>
                </a:solidFill>
                <a:effectLst/>
                <a:latin typeface="+mj-lt"/>
              </a:rPr>
              <a:t>(như đã thấy trong Data Model của User Library).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sz="2000" b="1" i="0" u="none" strike="noStrike" cap="none" normalizeH="0" baseline="0" dirty="0">
                <a:ln>
                  <a:noFill/>
                </a:ln>
                <a:solidFill>
                  <a:schemeClr val="tx1"/>
                </a:solidFill>
                <a:effectLst/>
                <a:latin typeface="+mj-lt"/>
              </a:rPr>
              <a:t>Repositories:</a:t>
            </a:r>
            <a:r>
              <a:rPr kumimoji="0" lang="vi-VN" altLang="vi-VN" sz="2000" b="0" i="0" u="none" strike="noStrike" cap="none" normalizeH="0" baseline="0" dirty="0">
                <a:ln>
                  <a:noFill/>
                </a:ln>
                <a:solidFill>
                  <a:schemeClr val="tx1"/>
                </a:solidFill>
                <a:effectLst/>
                <a:latin typeface="+mj-lt"/>
              </a:rPr>
              <a:t> </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vi-VN" altLang="vi-VN" sz="2000" b="0" i="0" u="none" strike="noStrike" cap="none" normalizeH="0" baseline="0" dirty="0">
                <a:ln>
                  <a:noFill/>
                </a:ln>
                <a:solidFill>
                  <a:schemeClr val="tx1"/>
                </a:solidFill>
                <a:effectLst/>
                <a:latin typeface="+mj-lt"/>
              </a:rPr>
              <a:t>UserRepository: Chứa logic để quản lý dữ liệu người dùng (lấy từ cơ sở dữ liệu UserDB, </a:t>
            </a:r>
            <a:endParaRPr kumimoji="0" lang="en-US" altLang="vi-VN" sz="2000" b="0" i="0" u="none" strike="noStrike" cap="none" normalizeH="0" baseline="0" dirty="0">
              <a:ln>
                <a:noFill/>
              </a:ln>
              <a:solidFill>
                <a:schemeClr val="tx1"/>
              </a:solidFill>
              <a:effectLst/>
              <a:latin typeface="+mj-lt"/>
            </a:endParaRPr>
          </a:p>
          <a:p>
            <a:pPr marL="914400" marR="0" lvl="2" indent="0" algn="l" defTabSz="914400" rtl="0" eaLnBrk="0" fontAlgn="base" latinLnBrk="0" hangingPunct="0">
              <a:lnSpc>
                <a:spcPct val="100000"/>
              </a:lnSpc>
              <a:spcBef>
                <a:spcPct val="0"/>
              </a:spcBef>
              <a:spcAft>
                <a:spcPct val="0"/>
              </a:spcAft>
              <a:buClrTx/>
              <a:buSzTx/>
              <a:tabLst/>
            </a:pPr>
            <a:r>
              <a:rPr kumimoji="0" lang="vi-VN" altLang="vi-VN" sz="2000" b="0" i="0" u="none" strike="noStrike" cap="none" normalizeH="0" baseline="0" dirty="0">
                <a:ln>
                  <a:noFill/>
                </a:ln>
                <a:solidFill>
                  <a:schemeClr val="tx1"/>
                </a:solidFill>
                <a:effectLst/>
                <a:latin typeface="+mj-lt"/>
              </a:rPr>
              <a:t>API của AuthService). </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vi-VN" altLang="vi-VN" sz="2000" b="0" i="0" u="none" strike="noStrike" cap="none" normalizeH="0" baseline="0" dirty="0">
                <a:ln>
                  <a:noFill/>
                </a:ln>
                <a:solidFill>
                  <a:schemeClr val="tx1"/>
                </a:solidFill>
                <a:effectLst/>
                <a:latin typeface="+mj-lt"/>
              </a:rPr>
              <a:t>MusicRepository: Chứa logic để truy xuất thông tin bài hát/album/nghệ sĩ (từ MetadataDB, </a:t>
            </a:r>
            <a:endParaRPr kumimoji="0" lang="en-US" altLang="vi-VN" sz="2000" b="0" i="0" u="none" strike="noStrike" cap="none" normalizeH="0" baseline="0" dirty="0">
              <a:ln>
                <a:noFill/>
              </a:ln>
              <a:solidFill>
                <a:schemeClr val="tx1"/>
              </a:solidFill>
              <a:effectLst/>
              <a:latin typeface="+mj-lt"/>
            </a:endParaRPr>
          </a:p>
          <a:p>
            <a:pPr marL="914400" marR="0" lvl="2" indent="0" algn="l" defTabSz="914400" rtl="0" eaLnBrk="0" fontAlgn="base" latinLnBrk="0" hangingPunct="0">
              <a:lnSpc>
                <a:spcPct val="100000"/>
              </a:lnSpc>
              <a:spcBef>
                <a:spcPct val="0"/>
              </a:spcBef>
              <a:spcAft>
                <a:spcPct val="0"/>
              </a:spcAft>
              <a:buClrTx/>
              <a:buSzTx/>
              <a:tabLst/>
            </a:pPr>
            <a:r>
              <a:rPr kumimoji="0" lang="vi-VN" altLang="vi-VN" sz="2000" b="0" i="0" u="none" strike="noStrike" cap="none" normalizeH="0" baseline="0" dirty="0">
                <a:ln>
                  <a:noFill/>
                </a:ln>
                <a:solidFill>
                  <a:schemeClr val="tx1"/>
                </a:solidFill>
                <a:effectLst/>
                <a:latin typeface="+mj-lt"/>
              </a:rPr>
              <a:t>SearchService). </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vi-VN" altLang="vi-VN" sz="2000" b="0" i="0" u="none" strike="noStrike" cap="none" normalizeH="0" baseline="0" dirty="0">
                <a:ln>
                  <a:noFill/>
                </a:ln>
                <a:solidFill>
                  <a:schemeClr val="tx1"/>
                </a:solidFill>
                <a:effectLst/>
                <a:latin typeface="+mj-lt"/>
              </a:rPr>
              <a:t>PlaylistRepository: Quản lý dữ liệu playlist (từ PlaylistDB, PlaylistService).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sz="2000" b="1" i="0" u="none" strike="noStrike" cap="none" normalizeH="0" baseline="0" dirty="0">
                <a:ln>
                  <a:noFill/>
                </a:ln>
                <a:solidFill>
                  <a:schemeClr val="tx1"/>
                </a:solidFill>
                <a:effectLst/>
                <a:latin typeface="+mj-lt"/>
              </a:rPr>
              <a:t>Business Logic:</a:t>
            </a:r>
            <a:r>
              <a:rPr kumimoji="0" lang="vi-VN" altLang="vi-VN" sz="2000" b="0" i="0" u="none" strike="noStrike" cap="none" normalizeH="0" baseline="0" dirty="0">
                <a:ln>
                  <a:noFill/>
                </a:ln>
                <a:solidFill>
                  <a:schemeClr val="tx1"/>
                </a:solidFill>
                <a:effectLst/>
                <a:latin typeface="+mj-lt"/>
              </a:rPr>
              <a:t> Model (hoặc các lớp Service/Use Case trong lớp Domain nếu áp dụng Clean </a:t>
            </a:r>
            <a:endParaRPr kumimoji="0" lang="en-US" altLang="vi-VN" sz="2000"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tabLst/>
            </a:pPr>
            <a:r>
              <a:rPr kumimoji="0" lang="vi-VN" altLang="vi-VN" sz="2000" b="0" i="0" u="none" strike="noStrike" cap="none" normalizeH="0" baseline="0" dirty="0">
                <a:ln>
                  <a:noFill/>
                </a:ln>
                <a:solidFill>
                  <a:schemeClr val="tx1"/>
                </a:solidFill>
                <a:effectLst/>
                <a:latin typeface="+mj-lt"/>
              </a:rPr>
              <a:t>Architecture) sẽ chứa các quy tắc nghiệp vụ (ví dụ: logic tính phí bản quyền, quy tắc xác thực tài khoản).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vi-VN" altLang="vi-VN" sz="2000" b="1" i="0" u="none" strike="noStrike" cap="none" normalizeH="0" baseline="0" dirty="0">
                <a:ln>
                  <a:noFill/>
                </a:ln>
                <a:solidFill>
                  <a:schemeClr val="tx1"/>
                </a:solidFill>
                <a:effectLst/>
                <a:latin typeface="+mj-lt"/>
              </a:rPr>
              <a:t>Độc lập với UI:</a:t>
            </a:r>
            <a:r>
              <a:rPr kumimoji="0" lang="vi-VN" altLang="vi-VN" sz="2000" b="0" i="0" u="none" strike="noStrike" cap="none" normalizeH="0" baseline="0" dirty="0">
                <a:ln>
                  <a:noFill/>
                </a:ln>
                <a:solidFill>
                  <a:schemeClr val="tx1"/>
                </a:solidFill>
                <a:effectLst/>
                <a:latin typeface="+mj-lt"/>
              </a:rPr>
              <a:t> Model không biết về View hay ViewModel. Nó chỉ cung cấp dữ liệu và </a:t>
            </a:r>
            <a:endParaRPr kumimoji="0" lang="en-US" altLang="vi-VN" sz="2000"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tabLst/>
            </a:pPr>
            <a:r>
              <a:rPr kumimoji="0" lang="vi-VN" altLang="vi-VN" sz="2000" b="0" i="0" u="none" strike="noStrike" cap="none" normalizeH="0" baseline="0" dirty="0">
                <a:ln>
                  <a:noFill/>
                </a:ln>
                <a:solidFill>
                  <a:schemeClr val="tx1"/>
                </a:solidFill>
                <a:effectLst/>
                <a:latin typeface="+mj-lt"/>
              </a:rPr>
              <a:t>các thao tác trên dữ liệu đó.</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sz="20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13591032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4A501-E917-5A02-58D8-8354AB691A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23282-4C4C-2773-00A8-1205AF4D658C}"/>
              </a:ext>
            </a:extLst>
          </p:cNvPr>
          <p:cNvSpPr>
            <a:spLocks noGrp="1"/>
          </p:cNvSpPr>
          <p:nvPr>
            <p:ph type="title"/>
          </p:nvPr>
        </p:nvSpPr>
        <p:spPr>
          <a:xfrm>
            <a:off x="7865806" y="643463"/>
            <a:ext cx="3706762" cy="1608124"/>
          </a:xfrm>
        </p:spPr>
        <p:txBody>
          <a:bodyPr vert="horz" lIns="91440" tIns="45720" rIns="91440" bIns="45720" rtlCol="0" anchor="ctr">
            <a:normAutofit fontScale="90000"/>
          </a:bodyPr>
          <a:lstStyle/>
          <a:p>
            <a:pPr>
              <a:lnSpc>
                <a:spcPct val="90000"/>
              </a:lnSpc>
            </a:pPr>
            <a:r>
              <a:rPr lang="en-US" sz="2800" dirty="0">
                <a:latin typeface="Times New Roman" panose="02020603050405020304" pitchFamily="18" charset="0"/>
                <a:cs typeface="Times New Roman" panose="02020603050405020304" pitchFamily="18" charset="0"/>
              </a:rPr>
              <a:t>II. </a:t>
            </a:r>
            <a:r>
              <a:rPr lang="en-US" sz="2800" dirty="0" err="1">
                <a:latin typeface="Times New Roman" panose="02020603050405020304" pitchFamily="18" charset="0"/>
                <a:cs typeface="Times New Roman" panose="02020603050405020304" pitchFamily="18" charset="0"/>
              </a:rPr>
              <a:t>Đặc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tả</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về</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kiến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trúc</a:t>
            </a:r>
            <a:r>
              <a:rPr lang="en-US" sz="2800" dirty="0">
                <a:latin typeface="Times New Roman" panose="02020603050405020304" pitchFamily="18" charset="0"/>
                <a:cs typeface="Times New Roman" panose="02020603050405020304" pitchFamily="18" charset="0"/>
              </a:rPr>
              <a:t> MVVM ( Model-View-</a:t>
            </a:r>
            <a:r>
              <a:rPr lang="en-US" sz="2800" dirty="0" err="1">
                <a:latin typeface="Times New Roman" panose="02020603050405020304" pitchFamily="18" charset="0"/>
                <a:cs typeface="Times New Roman" panose="02020603050405020304" pitchFamily="18" charset="0"/>
              </a:rPr>
              <a:t>ViewModel</a:t>
            </a:r>
            <a:r>
              <a:rPr lang="en-US" sz="2800" dirty="0">
                <a:latin typeface="Times New Roman" panose="02020603050405020304" pitchFamily="18" charset="0"/>
                <a:cs typeface="Times New Roman" panose="02020603050405020304" pitchFamily="18" charset="0"/>
              </a:rPr>
              <a:t>)</a:t>
            </a:r>
          </a:p>
        </p:txBody>
      </p:sp>
      <p:pic>
        <p:nvPicPr>
          <p:cNvPr id="6146" name="Picture 2" descr="MVC MVP và MVVM là gì? So sánh ưu và nhược điểm 3 mô hình">
            <a:extLst>
              <a:ext uri="{FF2B5EF4-FFF2-40B4-BE49-F238E27FC236}">
                <a16:creationId xmlns:a16="http://schemas.microsoft.com/office/drawing/2014/main" id="{28319738-1020-872A-2C20-DF5CDFD77B6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4" y="1631570"/>
            <a:ext cx="6897878" cy="3604141"/>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2FE6D142-BA00-FB72-9895-D8B92CBE9971}"/>
              </a:ext>
            </a:extLst>
          </p:cNvPr>
          <p:cNvSpPr>
            <a:spLocks noChangeArrowheads="1"/>
          </p:cNvSpPr>
          <p:nvPr/>
        </p:nvSpPr>
        <p:spPr bwMode="auto">
          <a:xfrm>
            <a:off x="7865806" y="2251587"/>
            <a:ext cx="3706762" cy="397223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a:lnSpc>
                <a:spcPct val="90000"/>
              </a:lnSpc>
              <a:spcAft>
                <a:spcPts val="1000"/>
              </a:spcAft>
              <a:buClr>
                <a:schemeClr val="tx1"/>
              </a:buClr>
              <a:buSzPct val="100000"/>
            </a:pPr>
            <a:r>
              <a:rPr lang="en-US" sz="1400" b="1" dirty="0" err="1">
                <a:latin typeface="Times New Roman" panose="02020603050405020304" pitchFamily="18" charset="0"/>
                <a:cs typeface="Times New Roman" panose="02020603050405020304" pitchFamily="18" charset="0"/>
              </a:rPr>
              <a:t>Kết</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luận</a:t>
            </a:r>
            <a:r>
              <a:rPr lang="en-US" sz="1400" b="1" dirty="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342900" indent="-342900">
              <a:lnSpc>
                <a:spcPct val="90000"/>
              </a:lnSpc>
              <a:spcAft>
                <a:spcPts val="1000"/>
              </a:spcAft>
              <a:buClr>
                <a:schemeClr val="tx1"/>
              </a:buClr>
              <a:buSzPct val="100000"/>
              <a:buFont typeface="+mj-lt"/>
              <a:buAutoNum type="arabicPeriod"/>
            </a:pP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Sự</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kết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hợp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giữa</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OOP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và</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MVVM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tạo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ra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một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khung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sườn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mạnh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mẽ</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Spiketune</a:t>
            </a:r>
            <a:r>
              <a:rPr lang="en-US" sz="1400" dirty="0">
                <a:latin typeface="Times New Roman" panose="02020603050405020304" pitchFamily="18" charset="0"/>
                <a:cs typeface="Times New Roman" panose="02020603050405020304" pitchFamily="18" charset="0"/>
              </a:rPr>
              <a:t>. </a:t>
            </a:r>
          </a:p>
          <a:p>
            <a:pPr marL="342900" indent="-342900">
              <a:lnSpc>
                <a:spcPct val="90000"/>
              </a:lnSpc>
              <a:spcAft>
                <a:spcPts val="1000"/>
              </a:spcAft>
              <a:buClr>
                <a:schemeClr val="tx1"/>
              </a:buClr>
              <a:buSzPct val="100000"/>
              <a:buFont typeface="+mj-lt"/>
              <a:buAutoNum type="arabicPeriod"/>
            </a:pPr>
            <a:r>
              <a:rPr lang="en-US" sz="1400" b="1" dirty="0">
                <a:latin typeface="Times New Roman" panose="02020603050405020304" pitchFamily="18" charset="0"/>
                <a:cs typeface="Times New Roman" panose="02020603050405020304" pitchFamily="18" charset="0"/>
              </a:rPr>
              <a:t>OOP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cung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cấp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cấu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trúc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các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thành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phần</a:t>
            </a:r>
            <a:r>
              <a:rPr lang="en-US" sz="1400" dirty="0">
                <a:latin typeface="Times New Roman" panose="02020603050405020304" pitchFamily="18" charset="0"/>
                <a:cs typeface="Times New Roman" panose="02020603050405020304" pitchFamily="18" charset="0"/>
              </a:rPr>
              <a:t> backend (Microservices) </a:t>
            </a:r>
            <a:r>
              <a:rPr lang="en-US" sz="1400" dirty="0" err="1">
                <a:latin typeface="Times New Roman" panose="02020603050405020304" pitchFamily="18" charset="0"/>
                <a:cs typeface="Times New Roman" panose="02020603050405020304" pitchFamily="18" charset="0"/>
              </a:rPr>
              <a:t>và</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các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lớp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dữ</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liệu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đảm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bảo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chúng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dễ</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bảo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trì</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và</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mở</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rộng</a:t>
            </a:r>
            <a:r>
              <a:rPr lang="en-US" sz="1400" dirty="0">
                <a:latin typeface="Times New Roman" panose="02020603050405020304" pitchFamily="18" charset="0"/>
                <a:cs typeface="Times New Roman" panose="02020603050405020304" pitchFamily="18" charset="0"/>
              </a:rPr>
              <a:t>. </a:t>
            </a:r>
          </a:p>
          <a:p>
            <a:pPr marL="342900" indent="-342900">
              <a:lnSpc>
                <a:spcPct val="90000"/>
              </a:lnSpc>
              <a:spcAft>
                <a:spcPts val="1000"/>
              </a:spcAft>
              <a:buClr>
                <a:schemeClr val="tx1"/>
              </a:buClr>
              <a:buSzPct val="100000"/>
              <a:buFont typeface="+mj-lt"/>
              <a:buAutoNum type="arabicPeriod"/>
            </a:pPr>
            <a:r>
              <a:rPr lang="en-US" sz="1400" dirty="0">
                <a:latin typeface="Times New Roman" panose="02020603050405020304" pitchFamily="18" charset="0"/>
                <a:cs typeface="Times New Roman" panose="02020603050405020304" pitchFamily="18" charset="0"/>
              </a:rPr>
              <a:t>	Trong </a:t>
            </a:r>
            <a:r>
              <a:rPr lang="en-US" sz="1400" dirty="0" err="1">
                <a:latin typeface="Times New Roman" panose="02020603050405020304" pitchFamily="18" charset="0"/>
                <a:cs typeface="Times New Roman" panose="02020603050405020304" pitchFamily="18" charset="0"/>
              </a:rPr>
              <a:t>khi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đó</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MVVM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tập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trung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vào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việc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tổ</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chức</a:t>
            </a:r>
            <a:r>
              <a:rPr lang="en-US" sz="1400" dirty="0">
                <a:latin typeface="Times New Roman" panose="02020603050405020304" pitchFamily="18" charset="0"/>
                <a:cs typeface="Times New Roman" panose="02020603050405020304" pitchFamily="18" charset="0"/>
              </a:rPr>
              <a:t> code </a:t>
            </a:r>
            <a:r>
              <a:rPr lang="en-US" sz="1400" dirty="0" err="1">
                <a:latin typeface="Times New Roman" panose="02020603050405020304" pitchFamily="18" charset="0"/>
                <a:cs typeface="Times New Roman" panose="02020603050405020304" pitchFamily="18" charset="0"/>
              </a:rPr>
              <a:t>phía</a:t>
            </a:r>
            <a:r>
              <a:rPr lang="en-US" sz="1400" dirty="0">
                <a:latin typeface="Times New Roman" panose="02020603050405020304" pitchFamily="18" charset="0"/>
                <a:cs typeface="Times New Roman" panose="02020603050405020304" pitchFamily="18" charset="0"/>
              </a:rPr>
              <a:t> frontend, </a:t>
            </a:r>
            <a:r>
              <a:rPr lang="en-US" sz="1400" dirty="0" err="1">
                <a:latin typeface="Times New Roman" panose="02020603050405020304" pitchFamily="18" charset="0"/>
                <a:cs typeface="Times New Roman" panose="02020603050405020304" pitchFamily="18" charset="0"/>
              </a:rPr>
              <a:t>giúp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quản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lý</a:t>
            </a:r>
            <a:r>
              <a:rPr lang="en-US" sz="1400" dirty="0">
                <a:latin typeface="Times New Roman" panose="02020603050405020304" pitchFamily="18" charset="0"/>
                <a:cs typeface="Times New Roman" panose="02020603050405020304" pitchFamily="18" charset="0"/>
              </a:rPr>
              <a:t> UI </a:t>
            </a:r>
          </a:p>
          <a:p>
            <a:pPr marL="342900" indent="-342900">
              <a:lnSpc>
                <a:spcPct val="90000"/>
              </a:lnSpc>
              <a:spcAft>
                <a:spcPts val="1000"/>
              </a:spcAft>
              <a:buClr>
                <a:schemeClr val="tx1"/>
              </a:buClr>
              <a:buSzPct val="100000"/>
              <a:buFont typeface="+mj-lt"/>
              <a:buAutoNum type="arabicPeriod"/>
            </a:pPr>
            <a:r>
              <a:rPr lang="en-US" sz="1400" dirty="0" err="1">
                <a:latin typeface="Times New Roman" panose="02020603050405020304" pitchFamily="18" charset="0"/>
                <a:cs typeface="Times New Roman" panose="02020603050405020304" pitchFamily="18" charset="0"/>
              </a:rPr>
              <a:t>phức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tạp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và</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tương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tác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backend </a:t>
            </a:r>
            <a:r>
              <a:rPr lang="en-US" sz="1400" dirty="0" err="1">
                <a:latin typeface="Times New Roman" panose="02020603050405020304" pitchFamily="18" charset="0"/>
                <a:cs typeface="Times New Roman" panose="02020603050405020304" pitchFamily="18" charset="0"/>
              </a:rPr>
              <a:t>một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cách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hiệu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quả</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dễ</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kiểm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thử</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và</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phát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triển</a:t>
            </a:r>
            <a:r>
              <a:rPr lang="en-US" sz="1400" dirty="0">
                <a:latin typeface="Times New Roman" panose="02020603050405020304" pitchFamily="18" charset="0"/>
                <a:cs typeface="Times New Roman" panose="02020603050405020304" pitchFamily="18" charset="0"/>
              </a:rPr>
              <a:t> song </a:t>
            </a:r>
            <a:r>
              <a:rPr lang="en-US" sz="1400" dirty="0" err="1">
                <a:latin typeface="Times New Roman" panose="02020603050405020304" pitchFamily="18" charset="0"/>
                <a:cs typeface="Times New Roman" panose="02020603050405020304" pitchFamily="18" charset="0"/>
              </a:rPr>
              <a:t>song</a:t>
            </a:r>
            <a:r>
              <a:rPr lang="en-US" sz="1400" dirty="0">
                <a:latin typeface="Times New Roman" panose="02020603050405020304" pitchFamily="18" charset="0"/>
                <a:cs typeface="Times New Roman" panose="02020603050405020304" pitchFamily="18" charset="0"/>
              </a:rPr>
              <a:t>. </a:t>
            </a:r>
          </a:p>
          <a:p>
            <a:pPr marL="342900" indent="-342900">
              <a:lnSpc>
                <a:spcPct val="90000"/>
              </a:lnSpc>
              <a:spcAft>
                <a:spcPts val="1000"/>
              </a:spcAft>
              <a:buClr>
                <a:schemeClr val="tx1"/>
              </a:buClr>
              <a:buSzPct val="100000"/>
              <a:buFont typeface="+mj-lt"/>
              <a:buAutoNum type="arabicPeriod"/>
            </a:pPr>
            <a:r>
              <a:rPr lang="en-US" sz="1400" dirty="0" err="1">
                <a:latin typeface="Times New Roman" panose="02020603050405020304" pitchFamily="18" charset="0"/>
                <a:cs typeface="Times New Roman" panose="02020603050405020304" pitchFamily="18" charset="0"/>
              </a:rPr>
              <a:t>Đây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là</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những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lựa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chọn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kiến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trúc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và</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lập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trình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rất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hợp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lý</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một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ứng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dụng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quy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mô</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lớn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như</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Spiketune</a:t>
            </a:r>
            <a:r>
              <a:rPr lang="en-US" sz="1400" dirty="0">
                <a:latin typeface="Times New Roman" panose="02020603050405020304" pitchFamily="18" charset="0"/>
                <a:cs typeface="Times New Roman" panose="02020603050405020304" pitchFamily="18" charset="0"/>
              </a:rPr>
              <a:t>.</a:t>
            </a:r>
          </a:p>
          <a:p>
            <a:pPr marL="0" marR="0" lvl="0" indent="0" fontAlgn="base">
              <a:lnSpc>
                <a:spcPct val="90000"/>
              </a:lnSpc>
              <a:spcAft>
                <a:spcPts val="1000"/>
              </a:spcAft>
              <a:buClr>
                <a:schemeClr val="tx1"/>
              </a:buClr>
              <a:buSzPct val="100000"/>
              <a:tabLst/>
            </a:pPr>
            <a:endParaRPr kumimoji="0" lang="en-US" altLang="vi-VN" sz="1400" b="0" i="0" u="none" strike="noStrike" normalizeH="0" baseline="0" dirty="0">
              <a:ln>
                <a:noFill/>
              </a:l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911199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17094-2A72-2069-0D3E-15FA0A9FDCC2}"/>
              </a:ext>
            </a:extLst>
          </p:cNvPr>
          <p:cNvSpPr>
            <a:spLocks noGrp="1"/>
          </p:cNvSpPr>
          <p:nvPr>
            <p:ph type="title"/>
          </p:nvPr>
        </p:nvSpPr>
        <p:spPr>
          <a:xfrm>
            <a:off x="685801" y="609600"/>
            <a:ext cx="8782049" cy="1456267"/>
          </a:xfrm>
        </p:spPr>
        <p:txBody>
          <a:bodyPr/>
          <a:lstStyle/>
          <a:p>
            <a:r>
              <a:rPr lang="en-US" dirty="0" err="1">
                <a:latin typeface="Times New Roman" panose="02020603050405020304" pitchFamily="18" charset="0"/>
                <a:cs typeface="Times New Roman" panose="02020603050405020304" pitchFamily="18" charset="0"/>
              </a:rPr>
              <a:t>Dự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app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tương</a:t>
            </a:r>
            <a:r>
              <a:rPr lang="en-US" dirty="0">
                <a:latin typeface="Times New Roman" panose="02020603050405020304" pitchFamily="18" charset="0"/>
                <a:cs typeface="Times New Roman" panose="02020603050405020304" pitchFamily="18" charset="0"/>
              </a:rPr>
              <a:t> lai:</a:t>
            </a:r>
          </a:p>
        </p:txBody>
      </p:sp>
      <p:sp>
        <p:nvSpPr>
          <p:cNvPr id="71" name="TextBox 70">
            <a:extLst>
              <a:ext uri="{FF2B5EF4-FFF2-40B4-BE49-F238E27FC236}">
                <a16:creationId xmlns:a16="http://schemas.microsoft.com/office/drawing/2014/main" id="{8E694F93-CB07-828E-653F-BB1AE1B87FBF}"/>
              </a:ext>
            </a:extLst>
          </p:cNvPr>
          <p:cNvSpPr txBox="1"/>
          <p:nvPr/>
        </p:nvSpPr>
        <p:spPr>
          <a:xfrm>
            <a:off x="722671" y="2598804"/>
            <a:ext cx="11307097" cy="923330"/>
          </a:xfrm>
          <a:prstGeom prst="rect">
            <a:avLst/>
          </a:prstGeom>
          <a:noFill/>
        </p:spPr>
        <p:txBody>
          <a:bodyPr wrap="square">
            <a:spAutoFit/>
          </a:bodyPr>
          <a:lstStyle/>
          <a:p>
            <a:pPr>
              <a:buNone/>
            </a:pPr>
            <a:r>
              <a:rPr lang="vi-VN" b="1" dirty="0">
                <a:latin typeface="+mj-lt"/>
              </a:rPr>
              <a:t>Kế hoạch Phát triển Ứng dụng: Sau Ra Mắt</a:t>
            </a:r>
          </a:p>
          <a:p>
            <a:r>
              <a:rPr lang="en-US" dirty="0">
                <a:latin typeface="+mj-lt"/>
              </a:rPr>
              <a:t>		</a:t>
            </a:r>
            <a:r>
              <a:rPr lang="vi-VN" dirty="0">
                <a:latin typeface="+mj-lt"/>
              </a:rPr>
              <a:t>Sau khi ứng dụng hoạt động, trọng tâm của developer là </a:t>
            </a:r>
            <a:r>
              <a:rPr lang="vi-VN" b="1" dirty="0">
                <a:latin typeface="+mj-lt"/>
              </a:rPr>
              <a:t>duy trì, cải tiến và phát triển bền vững</a:t>
            </a:r>
            <a:r>
              <a:rPr lang="vi-VN" dirty="0">
                <a:latin typeface="+mj-lt"/>
              </a:rPr>
              <a:t>, xoay quanh các điểm chính sau:</a:t>
            </a:r>
          </a:p>
        </p:txBody>
      </p:sp>
      <p:sp>
        <p:nvSpPr>
          <p:cNvPr id="73" name="TextBox 72">
            <a:extLst>
              <a:ext uri="{FF2B5EF4-FFF2-40B4-BE49-F238E27FC236}">
                <a16:creationId xmlns:a16="http://schemas.microsoft.com/office/drawing/2014/main" id="{D1A4D56B-3C93-5D75-5848-F2B33756FE8F}"/>
              </a:ext>
            </a:extLst>
          </p:cNvPr>
          <p:cNvSpPr txBox="1"/>
          <p:nvPr/>
        </p:nvSpPr>
        <p:spPr>
          <a:xfrm>
            <a:off x="722671" y="3575634"/>
            <a:ext cx="10746658" cy="923330"/>
          </a:xfrm>
          <a:prstGeom prst="rect">
            <a:avLst/>
          </a:prstGeom>
          <a:noFill/>
        </p:spPr>
        <p:txBody>
          <a:bodyPr wrap="square">
            <a:spAutoFit/>
          </a:bodyPr>
          <a:lstStyle/>
          <a:p>
            <a:pPr>
              <a:buNone/>
            </a:pPr>
            <a:r>
              <a:rPr lang="vi-VN" b="1" dirty="0">
                <a:latin typeface="+mj-lt"/>
              </a:rPr>
              <a:t>1. Giám sát &amp; Tối ưu:</a:t>
            </a:r>
          </a:p>
          <a:p>
            <a:pPr>
              <a:buFont typeface="Arial" panose="020B0604020202020204" pitchFamily="34" charset="0"/>
              <a:buChar char="•"/>
            </a:pPr>
            <a:r>
              <a:rPr lang="vi-VN" dirty="0">
                <a:latin typeface="+mj-lt"/>
              </a:rPr>
              <a:t>Sử dụng </a:t>
            </a:r>
            <a:r>
              <a:rPr lang="vi-VN" b="1" dirty="0">
                <a:latin typeface="+mj-lt"/>
              </a:rPr>
              <a:t>công cụ phân tích</a:t>
            </a:r>
            <a:r>
              <a:rPr lang="vi-VN" dirty="0">
                <a:latin typeface="+mj-lt"/>
              </a:rPr>
              <a:t> (Firebase, Amplitude) để hiểu </a:t>
            </a:r>
            <a:r>
              <a:rPr lang="vi-VN" b="1" dirty="0">
                <a:latin typeface="+mj-lt"/>
              </a:rPr>
              <a:t>hành vi người dùng</a:t>
            </a:r>
            <a:r>
              <a:rPr lang="vi-VN" dirty="0">
                <a:latin typeface="+mj-lt"/>
              </a:rPr>
              <a:t> và theo dõi lỗi (Crashlytics).</a:t>
            </a:r>
          </a:p>
          <a:p>
            <a:pPr>
              <a:buFont typeface="Arial" panose="020B0604020202020204" pitchFamily="34" charset="0"/>
              <a:buChar char="•"/>
            </a:pPr>
            <a:r>
              <a:rPr lang="vi-VN" dirty="0">
                <a:latin typeface="+mj-lt"/>
              </a:rPr>
              <a:t>Liên tục </a:t>
            </a:r>
            <a:r>
              <a:rPr lang="vi-VN" b="1" dirty="0">
                <a:latin typeface="+mj-lt"/>
              </a:rPr>
              <a:t>cải thiện hiệu suất</a:t>
            </a:r>
            <a:r>
              <a:rPr lang="vi-VN" dirty="0">
                <a:latin typeface="+mj-lt"/>
              </a:rPr>
              <a:t> (tốc độ, ổn định) dựa trên dữ liệu.</a:t>
            </a:r>
          </a:p>
        </p:txBody>
      </p:sp>
      <p:sp>
        <p:nvSpPr>
          <p:cNvPr id="75" name="TextBox 74">
            <a:extLst>
              <a:ext uri="{FF2B5EF4-FFF2-40B4-BE49-F238E27FC236}">
                <a16:creationId xmlns:a16="http://schemas.microsoft.com/office/drawing/2014/main" id="{5B1CE3F7-775E-8043-C99A-0C748FE81ABE}"/>
              </a:ext>
            </a:extLst>
          </p:cNvPr>
          <p:cNvSpPr txBox="1"/>
          <p:nvPr/>
        </p:nvSpPr>
        <p:spPr>
          <a:xfrm>
            <a:off x="685801" y="4498964"/>
            <a:ext cx="10668000" cy="923330"/>
          </a:xfrm>
          <a:prstGeom prst="rect">
            <a:avLst/>
          </a:prstGeom>
          <a:noFill/>
        </p:spPr>
        <p:txBody>
          <a:bodyPr wrap="square">
            <a:spAutoFit/>
          </a:bodyPr>
          <a:lstStyle/>
          <a:p>
            <a:pPr>
              <a:buNone/>
            </a:pPr>
            <a:r>
              <a:rPr lang="vi-VN" b="1" dirty="0">
                <a:latin typeface="+mj-lt"/>
              </a:rPr>
              <a:t>2. Lắng nghe &amp; Cập nhật:</a:t>
            </a:r>
          </a:p>
          <a:p>
            <a:pPr>
              <a:buFont typeface="Arial" panose="020B0604020202020204" pitchFamily="34" charset="0"/>
              <a:buChar char="•"/>
            </a:pPr>
            <a:r>
              <a:rPr lang="vi-VN" b="1" dirty="0">
                <a:latin typeface="+mj-lt"/>
              </a:rPr>
              <a:t>Thu thập phản hồi</a:t>
            </a:r>
            <a:r>
              <a:rPr lang="vi-VN" dirty="0">
                <a:latin typeface="+mj-lt"/>
              </a:rPr>
              <a:t> từ người dùng (đánh giá, kênh hỗ trợ) và </a:t>
            </a:r>
            <a:r>
              <a:rPr lang="vi-VN" b="1" dirty="0">
                <a:latin typeface="+mj-lt"/>
              </a:rPr>
              <a:t>phản hồi lại</a:t>
            </a:r>
            <a:r>
              <a:rPr lang="vi-VN" dirty="0">
                <a:latin typeface="+mj-lt"/>
              </a:rPr>
              <a:t>.</a:t>
            </a:r>
          </a:p>
          <a:p>
            <a:pPr>
              <a:buFont typeface="Arial" panose="020B0604020202020204" pitchFamily="34" charset="0"/>
              <a:buChar char="•"/>
            </a:pPr>
            <a:r>
              <a:rPr lang="vi-VN" b="1" dirty="0">
                <a:latin typeface="+mj-lt"/>
              </a:rPr>
              <a:t>Phát hành các bản cập nhật định kỳ</a:t>
            </a:r>
            <a:r>
              <a:rPr lang="vi-VN" dirty="0">
                <a:latin typeface="+mj-lt"/>
              </a:rPr>
              <a:t> để sửa lỗi, cải thiện tính năng và thêm mới dựa trên phản hồi.</a:t>
            </a:r>
          </a:p>
        </p:txBody>
      </p:sp>
      <p:sp>
        <p:nvSpPr>
          <p:cNvPr id="77" name="TextBox 76">
            <a:extLst>
              <a:ext uri="{FF2B5EF4-FFF2-40B4-BE49-F238E27FC236}">
                <a16:creationId xmlns:a16="http://schemas.microsoft.com/office/drawing/2014/main" id="{4B5A8AEB-599A-39B4-6B31-E618B176FCB7}"/>
              </a:ext>
            </a:extLst>
          </p:cNvPr>
          <p:cNvSpPr txBox="1"/>
          <p:nvPr/>
        </p:nvSpPr>
        <p:spPr>
          <a:xfrm>
            <a:off x="685801" y="5493566"/>
            <a:ext cx="11139948" cy="923330"/>
          </a:xfrm>
          <a:prstGeom prst="rect">
            <a:avLst/>
          </a:prstGeom>
          <a:noFill/>
        </p:spPr>
        <p:txBody>
          <a:bodyPr wrap="square">
            <a:spAutoFit/>
          </a:bodyPr>
          <a:lstStyle/>
          <a:p>
            <a:pPr>
              <a:buNone/>
            </a:pPr>
            <a:r>
              <a:rPr lang="vi-VN" b="1" dirty="0">
                <a:latin typeface="+mj-lt"/>
              </a:rPr>
              <a:t>3. Tăng trưởng &amp; Bảo trì:</a:t>
            </a:r>
          </a:p>
          <a:p>
            <a:pPr>
              <a:buFont typeface="Arial" panose="020B0604020202020204" pitchFamily="34" charset="0"/>
              <a:buChar char="•"/>
            </a:pPr>
            <a:r>
              <a:rPr lang="vi-VN" dirty="0">
                <a:latin typeface="+mj-lt"/>
              </a:rPr>
              <a:t>Liên tục </a:t>
            </a:r>
            <a:r>
              <a:rPr lang="vi-VN" b="1" dirty="0">
                <a:latin typeface="+mj-lt"/>
              </a:rPr>
              <a:t>tối ưu hóa ASO</a:t>
            </a:r>
            <a:r>
              <a:rPr lang="vi-VN" dirty="0">
                <a:latin typeface="+mj-lt"/>
              </a:rPr>
              <a:t> để thu hút người dùng mới.</a:t>
            </a:r>
          </a:p>
          <a:p>
            <a:pPr>
              <a:buFont typeface="Arial" panose="020B0604020202020204" pitchFamily="34" charset="0"/>
              <a:buChar char="•"/>
            </a:pPr>
            <a:r>
              <a:rPr lang="vi-VN" b="1" dirty="0">
                <a:latin typeface="+mj-lt"/>
              </a:rPr>
              <a:t>Nâng cấp công nghệ</a:t>
            </a:r>
            <a:r>
              <a:rPr lang="vi-VN" dirty="0">
                <a:latin typeface="+mj-lt"/>
              </a:rPr>
              <a:t> và đảm bảo </a:t>
            </a:r>
            <a:r>
              <a:rPr lang="vi-VN" b="1" dirty="0">
                <a:latin typeface="+mj-lt"/>
              </a:rPr>
              <a:t>bảo mật</a:t>
            </a:r>
            <a:r>
              <a:rPr lang="vi-VN" dirty="0">
                <a:latin typeface="+mj-lt"/>
              </a:rPr>
              <a:t> hệ thống backend để ứng dụng luôn an toàn và tương thích.</a:t>
            </a:r>
          </a:p>
        </p:txBody>
      </p:sp>
      <p:pic>
        <p:nvPicPr>
          <p:cNvPr id="4" name="Picture 3">
            <a:extLst>
              <a:ext uri="{FF2B5EF4-FFF2-40B4-BE49-F238E27FC236}">
                <a16:creationId xmlns:a16="http://schemas.microsoft.com/office/drawing/2014/main" id="{577C3B79-1678-BD85-7A0A-8F741143A84F}"/>
              </a:ext>
            </a:extLst>
          </p:cNvPr>
          <p:cNvPicPr>
            <a:picLocks noChangeAspect="1"/>
          </p:cNvPicPr>
          <p:nvPr/>
        </p:nvPicPr>
        <p:blipFill>
          <a:blip r:embed="rId2"/>
          <a:stretch>
            <a:fillRect/>
          </a:stretch>
        </p:blipFill>
        <p:spPr>
          <a:xfrm>
            <a:off x="8454975" y="599368"/>
            <a:ext cx="3133265" cy="192816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662504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68CF0-BE43-052E-4A47-7CD8962733B8}"/>
              </a:ext>
            </a:extLst>
          </p:cNvPr>
          <p:cNvSpPr>
            <a:spLocks noGrp="1"/>
          </p:cNvSpPr>
          <p:nvPr>
            <p:ph type="title"/>
          </p:nvPr>
        </p:nvSpPr>
        <p:spPr>
          <a:xfrm>
            <a:off x="577646" y="255639"/>
            <a:ext cx="10131425" cy="1456267"/>
          </a:xfrm>
        </p:spPr>
        <p:txBody>
          <a:bodyPr/>
          <a:lstStyle/>
          <a:p>
            <a:pPr algn="ctr"/>
            <a:r>
              <a:rPr lang="en-US" dirty="0">
                <a:latin typeface="Times New Roman" panose="02020603050405020304" pitchFamily="18" charset="0"/>
                <a:cs typeface="Times New Roman" panose="02020603050405020304" pitchFamily="18" charset="0"/>
              </a:rPr>
              <a:t>Các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Nhóm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mình</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khảo</a:t>
            </a:r>
            <a:r>
              <a:rPr lang="en-US"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CDBCB739-C142-6F60-D01E-D0C6ACC52CF8}"/>
              </a:ext>
            </a:extLst>
          </p:cNvPr>
          <p:cNvSpPr>
            <a:spLocks noGrp="1"/>
          </p:cNvSpPr>
          <p:nvPr>
            <p:ph idx="1"/>
          </p:nvPr>
        </p:nvSpPr>
        <p:spPr>
          <a:xfrm>
            <a:off x="685801" y="2142067"/>
            <a:ext cx="11181734" cy="3649133"/>
          </a:xfrm>
        </p:spPr>
        <p:txBody>
          <a:bodyPr>
            <a:noAutofit/>
          </a:bodyPr>
          <a:lstStyle/>
          <a:p>
            <a:pPr marL="0" indent="0">
              <a:buNone/>
            </a:pPr>
            <a:r>
              <a:rPr lang="vi-VN" sz="1300" dirty="0">
                <a:latin typeface="+mj-lt"/>
              </a:rPr>
              <a:t>[</a:t>
            </a:r>
            <a:r>
              <a:rPr lang="en-US" sz="1300" dirty="0">
                <a:latin typeface="+mj-lt"/>
              </a:rPr>
              <a:t>1</a:t>
            </a:r>
            <a:r>
              <a:rPr lang="vi-VN" sz="1300" dirty="0">
                <a:latin typeface="+mj-lt"/>
              </a:rPr>
              <a:t>] Google. (Không rõ ngày phát hành). </a:t>
            </a:r>
            <a:r>
              <a:rPr lang="vi-VN" sz="1300" i="1" dirty="0">
                <a:latin typeface="+mj-lt"/>
              </a:rPr>
              <a:t>Android Developers: Guides</a:t>
            </a:r>
            <a:r>
              <a:rPr lang="vi-VN" sz="1300" dirty="0">
                <a:latin typeface="+mj-lt"/>
              </a:rPr>
              <a:t>. Android Developers. Truy xuất từ </a:t>
            </a:r>
            <a:r>
              <a:rPr lang="vi-VN" sz="1300" dirty="0">
                <a:latin typeface="+mj-lt"/>
                <a:hlinkClick r:id="rId2"/>
              </a:rPr>
              <a:t>https://developer.android.com/guide</a:t>
            </a:r>
            <a:endParaRPr lang="vi-VN" sz="1300" dirty="0">
              <a:latin typeface="+mj-lt"/>
            </a:endParaRPr>
          </a:p>
          <a:p>
            <a:pPr marL="0" indent="0">
              <a:buNone/>
            </a:pPr>
            <a:r>
              <a:rPr lang="vi-VN" sz="1300" dirty="0">
                <a:latin typeface="+mj-lt"/>
              </a:rPr>
              <a:t>[</a:t>
            </a:r>
            <a:r>
              <a:rPr lang="en-US" sz="1300" dirty="0">
                <a:latin typeface="+mj-lt"/>
              </a:rPr>
              <a:t>2</a:t>
            </a:r>
            <a:r>
              <a:rPr lang="vi-VN" sz="1300" dirty="0">
                <a:latin typeface="+mj-lt"/>
              </a:rPr>
              <a:t>] JetBrains. (Không rõ ngày phát hành). </a:t>
            </a:r>
            <a:r>
              <a:rPr lang="vi-VN" sz="1300" i="1" dirty="0">
                <a:latin typeface="+mj-lt"/>
              </a:rPr>
              <a:t>Kotlin Documentation</a:t>
            </a:r>
            <a:r>
              <a:rPr lang="vi-VN" sz="1300" dirty="0">
                <a:latin typeface="+mj-lt"/>
              </a:rPr>
              <a:t>. Kotlinlang.org. Truy xuất từ </a:t>
            </a:r>
            <a:r>
              <a:rPr lang="vi-VN" sz="1300" dirty="0">
                <a:latin typeface="+mj-lt"/>
                <a:hlinkClick r:id="rId3"/>
              </a:rPr>
              <a:t>https://kotlinlang.org/docs/home.html</a:t>
            </a:r>
            <a:endParaRPr lang="vi-VN" sz="1300" dirty="0">
              <a:latin typeface="+mj-lt"/>
            </a:endParaRPr>
          </a:p>
          <a:p>
            <a:pPr marL="0" indent="0">
              <a:buNone/>
            </a:pPr>
            <a:r>
              <a:rPr lang="vi-VN" sz="1300" dirty="0">
                <a:latin typeface="+mj-lt"/>
              </a:rPr>
              <a:t>[</a:t>
            </a:r>
            <a:r>
              <a:rPr lang="en-US" sz="1300" dirty="0">
                <a:latin typeface="+mj-lt"/>
              </a:rPr>
              <a:t>3</a:t>
            </a:r>
            <a:r>
              <a:rPr lang="vi-VN" sz="1300" dirty="0">
                <a:latin typeface="+mj-lt"/>
              </a:rPr>
              <a:t>] Google. (Không rõ ngày phát hành). </a:t>
            </a:r>
            <a:r>
              <a:rPr lang="vi-VN" sz="1300" i="1" dirty="0">
                <a:latin typeface="+mj-lt"/>
              </a:rPr>
              <a:t>Android Jetpack Compose</a:t>
            </a:r>
            <a:r>
              <a:rPr lang="vi-VN" sz="1300" dirty="0">
                <a:latin typeface="+mj-lt"/>
              </a:rPr>
              <a:t>. Android Developers. Truy xuất từ </a:t>
            </a:r>
            <a:r>
              <a:rPr lang="vi-VN" sz="1300" dirty="0">
                <a:latin typeface="+mj-lt"/>
                <a:hlinkClick r:id="rId4"/>
              </a:rPr>
              <a:t>https://developer.android.com/jetpack/compose</a:t>
            </a:r>
            <a:endParaRPr lang="vi-VN" sz="1300" dirty="0">
              <a:latin typeface="+mj-lt"/>
            </a:endParaRPr>
          </a:p>
          <a:p>
            <a:pPr marL="0" indent="0">
              <a:buNone/>
            </a:pPr>
            <a:r>
              <a:rPr lang="vi-VN" sz="1300" dirty="0">
                <a:latin typeface="+mj-lt"/>
              </a:rPr>
              <a:t>[</a:t>
            </a:r>
            <a:r>
              <a:rPr lang="en-US" sz="1300" dirty="0">
                <a:latin typeface="+mj-lt"/>
              </a:rPr>
              <a:t>4</a:t>
            </a:r>
            <a:r>
              <a:rPr lang="vi-VN" sz="1300" dirty="0">
                <a:latin typeface="+mj-lt"/>
              </a:rPr>
              <a:t>] Microsoft. (Ngày 10 tháng 8 năm 2021). </a:t>
            </a:r>
            <a:r>
              <a:rPr lang="vi-VN" sz="1300" i="1" dirty="0">
                <a:latin typeface="+mj-lt"/>
              </a:rPr>
              <a:t>The MVVM (Model-View-ViewModel) Pattern</a:t>
            </a:r>
            <a:r>
              <a:rPr lang="vi-VN" sz="1300" dirty="0">
                <a:latin typeface="+mj-lt"/>
              </a:rPr>
              <a:t>. Microsoft Learn. Truy xuất từ </a:t>
            </a:r>
            <a:r>
              <a:rPr lang="vi-VN" sz="1300" dirty="0">
                <a:latin typeface="+mj-lt"/>
                <a:hlinkClick r:id="rId5"/>
              </a:rPr>
              <a:t>https://learn.microsoft.com/en-us/dotnet/architecture/maui/mvvm</a:t>
            </a:r>
            <a:endParaRPr lang="vi-VN" sz="1300" dirty="0">
              <a:latin typeface="+mj-lt"/>
            </a:endParaRPr>
          </a:p>
          <a:p>
            <a:pPr marL="0" indent="0">
              <a:buNone/>
            </a:pPr>
            <a:r>
              <a:rPr lang="vi-VN" sz="1300" dirty="0">
                <a:latin typeface="+mj-lt"/>
              </a:rPr>
              <a:t>[</a:t>
            </a:r>
            <a:r>
              <a:rPr lang="en-US" sz="1300" dirty="0">
                <a:latin typeface="+mj-lt"/>
              </a:rPr>
              <a:t>5</a:t>
            </a:r>
            <a:r>
              <a:rPr lang="vi-VN" sz="1300" dirty="0">
                <a:latin typeface="+mj-lt"/>
              </a:rPr>
              <a:t>] Refactoring.Guru. (Không rõ ngày phát hành). </a:t>
            </a:r>
            <a:r>
              <a:rPr lang="vi-VN" sz="1300" i="1" dirty="0">
                <a:latin typeface="+mj-lt"/>
              </a:rPr>
              <a:t>Design Patterns</a:t>
            </a:r>
            <a:r>
              <a:rPr lang="vi-VN" sz="1300" dirty="0">
                <a:latin typeface="+mj-lt"/>
              </a:rPr>
              <a:t>. Refactoring.Guru. Truy xuất từ </a:t>
            </a:r>
            <a:r>
              <a:rPr lang="vi-VN" sz="1300" dirty="0">
                <a:latin typeface="+mj-lt"/>
                <a:hlinkClick r:id="rId6"/>
              </a:rPr>
              <a:t>https://refactoring.guru/design-patterns/java</a:t>
            </a:r>
            <a:endParaRPr lang="vi-VN" sz="1300" dirty="0">
              <a:latin typeface="+mj-lt"/>
            </a:endParaRPr>
          </a:p>
          <a:p>
            <a:pPr marL="0" indent="0">
              <a:buNone/>
            </a:pPr>
            <a:r>
              <a:rPr lang="vi-VN" sz="1300" dirty="0">
                <a:latin typeface="+mj-lt"/>
              </a:rPr>
              <a:t>[</a:t>
            </a:r>
            <a:r>
              <a:rPr lang="en-US" sz="1300" dirty="0">
                <a:latin typeface="+mj-lt"/>
              </a:rPr>
              <a:t>6</a:t>
            </a:r>
            <a:r>
              <a:rPr lang="vi-VN" sz="1300" dirty="0">
                <a:latin typeface="+mj-lt"/>
              </a:rPr>
              <a:t>] Haulmont. (Ngày 16 tháng 1 năm 2023). </a:t>
            </a:r>
            <a:r>
              <a:rPr lang="vi-VN" sz="1300" i="1" dirty="0">
                <a:latin typeface="+mj-lt"/>
              </a:rPr>
              <a:t>What is Object-Oriented Programming? Basic OOP Concepts in Java</a:t>
            </a:r>
            <a:r>
              <a:rPr lang="vi-VN" sz="1300" dirty="0">
                <a:latin typeface="+mj-lt"/>
              </a:rPr>
              <a:t>. Medium. Truy xuất từ </a:t>
            </a:r>
            <a:r>
              <a:rPr lang="vi-VN" sz="1300" dirty="0">
                <a:latin typeface="+mj-lt"/>
                <a:hlinkClick r:id="rId7"/>
              </a:rPr>
              <a:t>https://medium.com/haulmont/what-is-object-oriented-programming-basic-oop-concepts-in-java-5a7a726857ea</a:t>
            </a:r>
            <a:endParaRPr lang="vi-VN" sz="1300" dirty="0">
              <a:latin typeface="+mj-lt"/>
            </a:endParaRPr>
          </a:p>
          <a:p>
            <a:pPr marL="0" indent="0">
              <a:buNone/>
            </a:pPr>
            <a:r>
              <a:rPr lang="vi-VN" sz="1300" dirty="0">
                <a:latin typeface="+mj-lt"/>
              </a:rPr>
              <a:t>[</a:t>
            </a:r>
            <a:r>
              <a:rPr lang="en-US" sz="1300" dirty="0">
                <a:latin typeface="+mj-lt"/>
              </a:rPr>
              <a:t>7</a:t>
            </a:r>
            <a:r>
              <a:rPr lang="vi-VN" sz="1300" dirty="0">
                <a:latin typeface="+mj-lt"/>
              </a:rPr>
              <a:t>] Droidcon. (Ngày 1 tháng 3 năm 2023). </a:t>
            </a:r>
            <a:r>
              <a:rPr lang="vi-VN" sz="1300" i="1" dirty="0">
                <a:latin typeface="+mj-lt"/>
              </a:rPr>
              <a:t>Clean Architecture on Android with Kotlin</a:t>
            </a:r>
            <a:r>
              <a:rPr lang="vi-VN" sz="1300" dirty="0">
                <a:latin typeface="+mj-lt"/>
              </a:rPr>
              <a:t>. Droidcon.com. Truy xuất từ </a:t>
            </a:r>
            <a:r>
              <a:rPr lang="vi-VN" sz="1300" dirty="0">
                <a:latin typeface="+mj-lt"/>
                <a:hlinkClick r:id="rId8"/>
              </a:rPr>
              <a:t>https://www.droidcon.com/2023/03/01/clean-architecture-on-android-with-kotlin/</a:t>
            </a:r>
            <a:endParaRPr lang="vi-VN" sz="1300" dirty="0">
              <a:latin typeface="+mj-lt"/>
            </a:endParaRPr>
          </a:p>
          <a:p>
            <a:pPr marL="0" indent="0">
              <a:buNone/>
            </a:pPr>
            <a:r>
              <a:rPr lang="vi-VN" sz="1300" dirty="0">
                <a:latin typeface="+mj-lt"/>
              </a:rPr>
              <a:t>[</a:t>
            </a:r>
            <a:r>
              <a:rPr lang="en-US" sz="1300" dirty="0">
                <a:latin typeface="+mj-lt"/>
              </a:rPr>
              <a:t>8</a:t>
            </a:r>
            <a:r>
              <a:rPr lang="vi-VN" sz="1300" dirty="0">
                <a:latin typeface="+mj-lt"/>
              </a:rPr>
              <a:t>] OpenAI. (2025). </a:t>
            </a:r>
            <a:r>
              <a:rPr lang="vi-VN" sz="1300" i="1" dirty="0">
                <a:latin typeface="+mj-lt"/>
              </a:rPr>
              <a:t>ChatGPT</a:t>
            </a:r>
            <a:r>
              <a:rPr lang="vi-VN" sz="1300" dirty="0">
                <a:latin typeface="+mj-lt"/>
              </a:rPr>
              <a:t> (Phiên bản GPT-4o). [Mô hình ngôn ngữ lớn]. Truy xuất từ </a:t>
            </a:r>
            <a:r>
              <a:rPr lang="vi-VN" sz="1300" dirty="0">
                <a:latin typeface="+mj-lt"/>
                <a:hlinkClick r:id="rId9"/>
              </a:rPr>
              <a:t>https://openai.com/chatgpt</a:t>
            </a:r>
            <a:r>
              <a:rPr lang="vi-VN" sz="1300" dirty="0">
                <a:latin typeface="+mj-lt"/>
              </a:rPr>
              <a:t> (Ngày truy cập: 19 tháng 6, 2025).</a:t>
            </a:r>
          </a:p>
          <a:p>
            <a:pPr marL="0" indent="0">
              <a:buNone/>
            </a:pPr>
            <a:r>
              <a:rPr lang="vi-VN" sz="1300" dirty="0">
                <a:latin typeface="+mj-lt"/>
              </a:rPr>
              <a:t>[</a:t>
            </a:r>
            <a:r>
              <a:rPr lang="en-US" sz="1300" dirty="0">
                <a:latin typeface="+mj-lt"/>
              </a:rPr>
              <a:t>9</a:t>
            </a:r>
            <a:r>
              <a:rPr lang="vi-VN" sz="1300" dirty="0">
                <a:latin typeface="+mj-lt"/>
              </a:rPr>
              <a:t>] Google. (2025). </a:t>
            </a:r>
            <a:r>
              <a:rPr lang="vi-VN" sz="1300" i="1" dirty="0">
                <a:latin typeface="+mj-lt"/>
              </a:rPr>
              <a:t>Gemini</a:t>
            </a:r>
            <a:r>
              <a:rPr lang="vi-VN" sz="1300" dirty="0">
                <a:latin typeface="+mj-lt"/>
              </a:rPr>
              <a:t> (Phiên bản 1.5 Pro). [Mô hình ngôn ngữ lớn]. Truy xuất từ </a:t>
            </a:r>
            <a:r>
              <a:rPr lang="vi-VN" sz="1300" dirty="0">
                <a:latin typeface="+mj-lt"/>
                <a:hlinkClick r:id="rId10"/>
              </a:rPr>
              <a:t>https://gemini.google.com/</a:t>
            </a:r>
            <a:r>
              <a:rPr lang="vi-VN" sz="1300" dirty="0">
                <a:latin typeface="+mj-lt"/>
              </a:rPr>
              <a:t> (Ngày truy cập: 19 tháng 6, 2025).</a:t>
            </a:r>
          </a:p>
          <a:p>
            <a:pPr marL="0" indent="0">
              <a:buNone/>
            </a:pPr>
            <a:endParaRPr lang="en-US" sz="1300" dirty="0">
              <a:latin typeface="+mj-lt"/>
            </a:endParaRPr>
          </a:p>
        </p:txBody>
      </p:sp>
    </p:spTree>
    <p:extLst>
      <p:ext uri="{BB962C8B-B14F-4D97-AF65-F5344CB8AC3E}">
        <p14:creationId xmlns:p14="http://schemas.microsoft.com/office/powerpoint/2010/main" val="13318379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D2EA0F-CEA1-8582-3EF9-A85DC9A2A22E}"/>
              </a:ext>
            </a:extLst>
          </p:cNvPr>
          <p:cNvSpPr txBox="1"/>
          <p:nvPr/>
        </p:nvSpPr>
        <p:spPr>
          <a:xfrm>
            <a:off x="2996201" y="1748135"/>
            <a:ext cx="7164372" cy="923330"/>
          </a:xfrm>
          <a:prstGeom prst="rect">
            <a:avLst/>
          </a:prstGeom>
          <a:noFill/>
        </p:spPr>
        <p:txBody>
          <a:bodyPr wrap="square" rtlCol="0">
            <a:spAutoFit/>
          </a:bodyPr>
          <a:lstStyle/>
          <a:p>
            <a:r>
              <a:rPr lang="en-US" sz="5400" dirty="0" err="1">
                <a:latin typeface="Times New Roman" panose="02020603050405020304" pitchFamily="18" charset="0"/>
                <a:cs typeface="Times New Roman" panose="02020603050405020304" pitchFamily="18" charset="0"/>
              </a:rPr>
              <a:t>Phần</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kết</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và</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đặt</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câu</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hỏi</a:t>
            </a:r>
            <a:r>
              <a:rPr lang="en-US" sz="5400" dirty="0">
                <a:latin typeface="Times New Roman" panose="02020603050405020304" pitchFamily="18" charset="0"/>
                <a:cs typeface="Times New Roman" panose="02020603050405020304" pitchFamily="18" charset="0"/>
              </a:rPr>
              <a:t> ?</a:t>
            </a:r>
          </a:p>
        </p:txBody>
      </p:sp>
      <p:sp>
        <p:nvSpPr>
          <p:cNvPr id="6" name="Smiley Face 5">
            <a:extLst>
              <a:ext uri="{FF2B5EF4-FFF2-40B4-BE49-F238E27FC236}">
                <a16:creationId xmlns:a16="http://schemas.microsoft.com/office/drawing/2014/main" id="{F8864857-D0D3-BADF-AE4A-24441EB51982}"/>
              </a:ext>
            </a:extLst>
          </p:cNvPr>
          <p:cNvSpPr/>
          <p:nvPr/>
        </p:nvSpPr>
        <p:spPr>
          <a:xfrm>
            <a:off x="8820444" y="3648173"/>
            <a:ext cx="2680258" cy="2705493"/>
          </a:xfrm>
          <a:prstGeom prst="smileyFac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098" name="Picture 2" descr="Get Free Icons: Question Icon. Emotions 2 Icons. Internet Icons.  Professional Stock Icons and Free Sets - awicons.com">
            <a:extLst>
              <a:ext uri="{FF2B5EF4-FFF2-40B4-BE49-F238E27FC236}">
                <a16:creationId xmlns:a16="http://schemas.microsoft.com/office/drawing/2014/main" id="{E3B22D1B-4E41-2A6A-A2C3-5E5F96064A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90600"/>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29297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50A2D8-1951-BDB9-8206-21EFAE0E7019}"/>
              </a:ext>
            </a:extLst>
          </p:cNvPr>
          <p:cNvSpPr txBox="1"/>
          <p:nvPr/>
        </p:nvSpPr>
        <p:spPr>
          <a:xfrm>
            <a:off x="2061327" y="2010342"/>
            <a:ext cx="8069345" cy="2585323"/>
          </a:xfrm>
          <a:prstGeom prst="rect">
            <a:avLst/>
          </a:prstGeom>
          <a:noFill/>
        </p:spPr>
        <p:txBody>
          <a:bodyPr wrap="square" rtlCol="0">
            <a:spAutoFit/>
          </a:bodyPr>
          <a:lstStyle/>
          <a:p>
            <a:pPr algn="ctr"/>
            <a:r>
              <a:rPr lang="en-US" sz="5400" dirty="0" err="1">
                <a:latin typeface="Times New Roman" panose="02020603050405020304" pitchFamily="18" charset="0"/>
                <a:cs typeface="Times New Roman" panose="02020603050405020304" pitchFamily="18" charset="0"/>
              </a:rPr>
              <a:t>Cảm</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ơn</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thầy</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và</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các</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bạn</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đã</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lắng</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nghe</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bài</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báo</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cáo</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đồ</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án</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của</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nhóm</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mình</a:t>
            </a:r>
            <a:r>
              <a:rPr lang="en-US" sz="5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5047388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156</TotalTime>
  <Words>4027</Words>
  <Application>Microsoft Office PowerPoint</Application>
  <PresentationFormat>Widescreen</PresentationFormat>
  <Paragraphs>220</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Times New Roman</vt:lpstr>
      <vt:lpstr>Wingdings</vt:lpstr>
      <vt:lpstr>Celestial</vt:lpstr>
      <vt:lpstr>Chào mừng thầy và các bạn đến với bài báo cáo đồ án của nhóm mình</vt:lpstr>
      <vt:lpstr>Về thành viên nhóm và vai trò:</vt:lpstr>
      <vt:lpstr>Về thiết kế với thực tế của app:</vt:lpstr>
      <vt:lpstr>Vì sao lại chọn đề tài này:</vt:lpstr>
      <vt:lpstr>Phạm vi của app và mục tiêu:</vt:lpstr>
      <vt:lpstr>Về phương pháp thiết kế:</vt:lpstr>
      <vt:lpstr>So sánh kết quả với Thiết kế ban đầu:</vt:lpstr>
      <vt:lpstr>So sánh kết quả với Thiết kế ban đầu:</vt:lpstr>
      <vt:lpstr>PowerPoint Presentation</vt:lpstr>
      <vt:lpstr>PowerPoint Presentation</vt:lpstr>
      <vt:lpstr>PowerPoint Presentation</vt:lpstr>
      <vt:lpstr>MÔ HÌNH THEO NGUYÊN TẮC OOP VÀ MVVM ARCHITECTURE</vt:lpstr>
      <vt:lpstr>MÔ HÌNH THEO NGUYÊN TẮC OOP VÀ MVVM ARCHITECTURE</vt:lpstr>
      <vt:lpstr>MÔ HÌNH THEO NGUYÊN TẮC OOP VÀ MVVM ARCHITECTURE</vt:lpstr>
      <vt:lpstr>MÔ HÌNH THEO NGUYÊN TẮC OOP VÀ MVVM ARCHITECTURE</vt:lpstr>
      <vt:lpstr>MÔ HÌNH THEO NGUYÊN TẮC OOP VÀ MVVM ARCHITECTURE</vt:lpstr>
      <vt:lpstr>MÔ HÌNH THEO NGUYÊN TẮC OOP VÀ MVVM ARCHITECTURE</vt:lpstr>
      <vt:lpstr>MÔ HÌNH THEO NGUYÊN TẮC OOP VÀ MVVM ARCHITECTURE</vt:lpstr>
      <vt:lpstr>MÔ HÌNH THEO NGUYÊN TẮC OOP VÀ MVVM ARCHITECTURE</vt:lpstr>
      <vt:lpstr>II. Đặc tả về kiến trúc MVVM ( Model-View-ViewModel)</vt:lpstr>
      <vt:lpstr>II. Đặc tả về kiến trúc MVVM ( Model-View-ViewModel)</vt:lpstr>
      <vt:lpstr>II. Đặc tả về kiến trúc MVVM ( Model-View-ViewModel)</vt:lpstr>
      <vt:lpstr>II. Đặc tả về kiến trúc MVVM ( Model-View-ViewModel)</vt:lpstr>
      <vt:lpstr>II. Đặc tả về kiến trúc MVVM ( Model-View-ViewModel)</vt:lpstr>
      <vt:lpstr>Dự định phát triển app trong tương lai:</vt:lpstr>
      <vt:lpstr>Các tài liệu Nhóm mình  dùng để tham khảo:</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Anh Quân Mai</dc:creator>
  <cp:lastModifiedBy>hao tran the</cp:lastModifiedBy>
  <cp:revision>36</cp:revision>
  <dcterms:created xsi:type="dcterms:W3CDTF">2025-06-19T14:30:55Z</dcterms:created>
  <dcterms:modified xsi:type="dcterms:W3CDTF">2025-06-20T16:17:40Z</dcterms:modified>
</cp:coreProperties>
</file>